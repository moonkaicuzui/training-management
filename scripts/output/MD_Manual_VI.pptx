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0AF"/>
        </a:solidFill>
      </p:bgPr>
    </p:bg>
    <p:spTree>
      <p:nvGrpSpPr>
        <p:cNvPr id="1" name=""/>
        <p:cNvGrpSpPr/>
        <p:nvPr/>
      </p:nvGrpSpPr>
      <p:grpSpPr>
        <a:xfrm>
          <a:off x="0" y="0"/>
          <a:ext cx="0" cy="0"/>
          <a:chOff x="0" y="0"/>
          <a:chExt cx="0" cy="0"/>
        </a:xfrm>
      </p:grpSpPr>
      <p:sp>
        <p:nvSpPr>
          <p:cNvPr id="2" name="Text 0"/>
          <p:cNvSpPr/>
          <p:nvPr/>
        </p:nvSpPr>
        <p:spPr>
          <a:xfrm>
            <a:off x="731520" y="1371600"/>
            <a:ext cx="7680960" cy="91440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Kiểm tra máy dò kim loại hàng tuần</a:t>
            </a:r>
            <a:endParaRPr lang="en-US" sz="3600" dirty="0"/>
          </a:p>
        </p:txBody>
      </p:sp>
      <p:sp>
        <p:nvSpPr>
          <p:cNvPr id="3" name="Text 1"/>
          <p:cNvSpPr/>
          <p:nvPr/>
        </p:nvSpPr>
        <p:spPr>
          <a:xfrm>
            <a:off x="731520" y="2286000"/>
            <a:ext cx="7680960" cy="548640"/>
          </a:xfrm>
          <a:prstGeom prst="rect">
            <a:avLst/>
          </a:prstGeom>
          <a:noFill/>
          <a:ln/>
        </p:spPr>
        <p:txBody>
          <a:bodyPr wrap="square" rtlCol="0" anchor="ctr"/>
          <a:lstStyle/>
          <a:p>
            <a:pPr indent="0" marL="0">
              <a:buNone/>
            </a:pPr>
            <a:r>
              <a:rPr lang="en-US" sz="2200" dirty="0">
                <a:solidFill>
                  <a:srgbClr val="DBEAFE"/>
                </a:solidFill>
                <a:latin typeface="Arial" pitchFamily="34" charset="0"/>
                <a:ea typeface="Arial" pitchFamily="34" charset="-122"/>
                <a:cs typeface="Arial" pitchFamily="34" charset="-120"/>
              </a:rPr>
              <a:t>Hướng dẫn sử dụng</a:t>
            </a:r>
            <a:endParaRPr lang="en-US" sz="2200" dirty="0"/>
          </a:p>
        </p:txBody>
      </p:sp>
      <p:sp>
        <p:nvSpPr>
          <p:cNvPr id="4" name="Shape 2"/>
          <p:cNvSpPr/>
          <p:nvPr/>
        </p:nvSpPr>
        <p:spPr>
          <a:xfrm>
            <a:off x="731520" y="3017520"/>
            <a:ext cx="2743200" cy="36576"/>
          </a:xfrm>
          <a:prstGeom prst="rect">
            <a:avLst/>
          </a:prstGeom>
          <a:solidFill>
            <a:srgbClr val="60A5FA"/>
          </a:solidFill>
          <a:ln/>
        </p:spPr>
      </p:sp>
      <p:sp>
        <p:nvSpPr>
          <p:cNvPr id="5" name="Text 3"/>
          <p:cNvSpPr/>
          <p:nvPr/>
        </p:nvSpPr>
        <p:spPr>
          <a:xfrm>
            <a:off x="731520" y="3291840"/>
            <a:ext cx="7680960" cy="365760"/>
          </a:xfrm>
          <a:prstGeom prst="rect">
            <a:avLst/>
          </a:prstGeom>
          <a:noFill/>
          <a:ln/>
        </p:spPr>
        <p:txBody>
          <a:bodyPr wrap="square" rtlCol="0" anchor="ctr"/>
          <a:lstStyle/>
          <a:p>
            <a:pPr indent="0" marL="0">
              <a:buNone/>
            </a:pPr>
            <a:r>
              <a:rPr lang="en-US" sz="1600" dirty="0">
                <a:solidFill>
                  <a:srgbClr val="DBEAFE"/>
                </a:solidFill>
                <a:latin typeface="Arial" pitchFamily="34" charset="0"/>
                <a:ea typeface="Arial" pitchFamily="34" charset="-122"/>
                <a:cs typeface="Arial" pitchFamily="34" charset="-120"/>
              </a:rPr>
              <a:t>Hệ thống Q-TRAIN</a:t>
            </a:r>
            <a:endParaRPr lang="en-US" sz="1600" dirty="0"/>
          </a:p>
        </p:txBody>
      </p:sp>
      <p:sp>
        <p:nvSpPr>
          <p:cNvPr id="6" name="Text 4"/>
          <p:cNvSpPr/>
          <p:nvPr/>
        </p:nvSpPr>
        <p:spPr>
          <a:xfrm>
            <a:off x="731520" y="3749040"/>
            <a:ext cx="7680960" cy="320040"/>
          </a:xfrm>
          <a:prstGeom prst="rect">
            <a:avLst/>
          </a:prstGeom>
          <a:noFill/>
          <a:ln/>
        </p:spPr>
        <p:txBody>
          <a:bodyPr wrap="square" rtlCol="0" anchor="ctr"/>
          <a:lstStyle/>
          <a:p>
            <a:pPr indent="0" marL="0">
              <a:buNone/>
            </a:pPr>
            <a:r>
              <a:rPr lang="en-US" sz="1400" dirty="0">
                <a:solidFill>
                  <a:srgbClr val="DBEAFE"/>
                </a:solidFill>
                <a:latin typeface="Arial" pitchFamily="34" charset="0"/>
                <a:ea typeface="Arial" pitchFamily="34" charset="-122"/>
                <a:cs typeface="Arial" pitchFamily="34" charset="-120"/>
              </a:rPr>
              <a:t>HWK Vietnam - Bộ phận QIP</a:t>
            </a:r>
            <a:endParaRPr lang="en-US" sz="1400" dirty="0"/>
          </a:p>
        </p:txBody>
      </p:sp>
      <p:sp>
        <p:nvSpPr>
          <p:cNvPr id="7" name="Text 5"/>
          <p:cNvSpPr/>
          <p:nvPr/>
        </p:nvSpPr>
        <p:spPr>
          <a:xfrm>
            <a:off x="731520" y="4572000"/>
            <a:ext cx="7680960" cy="274320"/>
          </a:xfrm>
          <a:prstGeom prst="rect">
            <a:avLst/>
          </a:prstGeom>
          <a:noFill/>
          <a:ln/>
        </p:spPr>
        <p:txBody>
          <a:bodyPr wrap="square" rtlCol="0" anchor="ctr"/>
          <a:lstStyle/>
          <a:p>
            <a:pPr indent="0" marL="0">
              <a:buNone/>
            </a:pPr>
            <a:r>
              <a:rPr lang="en-US" sz="1200" dirty="0">
                <a:solidFill>
                  <a:srgbClr val="60A5FA"/>
                </a:solidFill>
                <a:latin typeface="Arial" pitchFamily="34" charset="0"/>
                <a:ea typeface="Arial" pitchFamily="34" charset="-122"/>
                <a:cs typeface="Arial" pitchFamily="34" charset="-120"/>
              </a:rPr>
              <a:t>Tháng 3, 2026  |  v1.0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Mục lục</a:t>
            </a:r>
            <a:endParaRPr lang="en-US" sz="2400" dirty="0"/>
          </a:p>
        </p:txBody>
      </p:sp>
      <p:sp>
        <p:nvSpPr>
          <p:cNvPr id="4" name="Text 2"/>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2 / 16</a:t>
            </a:r>
            <a:endParaRPr lang="en-US" sz="800" dirty="0"/>
          </a:p>
        </p:txBody>
      </p:sp>
      <p:sp>
        <p:nvSpPr>
          <p:cNvPr id="5" name="Text 3"/>
          <p:cNvSpPr/>
          <p:nvPr/>
        </p:nvSpPr>
        <p:spPr>
          <a:xfrm>
            <a:off x="640080" y="1097280"/>
            <a:ext cx="384048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1. Tổng quan hệ thống</a:t>
            </a:r>
            <a:endParaRPr lang="en-US" sz="1100" dirty="0"/>
          </a:p>
        </p:txBody>
      </p:sp>
      <p:sp>
        <p:nvSpPr>
          <p:cNvPr id="6" name="Text 4"/>
          <p:cNvSpPr/>
          <p:nvPr/>
        </p:nvSpPr>
        <p:spPr>
          <a:xfrm>
            <a:off x="640080" y="1435608"/>
            <a:ext cx="384048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2. Đăng nhập &amp; Điều hướng</a:t>
            </a:r>
            <a:endParaRPr lang="en-US" sz="1100" dirty="0"/>
          </a:p>
        </p:txBody>
      </p:sp>
      <p:sp>
        <p:nvSpPr>
          <p:cNvPr id="7" name="Text 5"/>
          <p:cNvSpPr/>
          <p:nvPr/>
        </p:nvSpPr>
        <p:spPr>
          <a:xfrm>
            <a:off x="640080" y="1773936"/>
            <a:ext cx="384048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3. Chế độ nhập nhanh (MỚI!)</a:t>
            </a:r>
            <a:endParaRPr lang="en-US" sz="1100" dirty="0"/>
          </a:p>
        </p:txBody>
      </p:sp>
      <p:sp>
        <p:nvSpPr>
          <p:cNvPr id="8" name="Text 6"/>
          <p:cNvSpPr/>
          <p:nvPr/>
        </p:nvSpPr>
        <p:spPr>
          <a:xfrm>
            <a:off x="640080" y="2112264"/>
            <a:ext cx="384048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4. Nhập nhanh - Từng bước</a:t>
            </a:r>
            <a:endParaRPr lang="en-US" sz="1100" dirty="0"/>
          </a:p>
        </p:txBody>
      </p:sp>
      <p:sp>
        <p:nvSpPr>
          <p:cNvPr id="9" name="Text 7"/>
          <p:cNvSpPr/>
          <p:nvPr/>
        </p:nvSpPr>
        <p:spPr>
          <a:xfrm>
            <a:off x="640080" y="2450592"/>
            <a:ext cx="384048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5. Nhập nhanh - Xử lý FAIL</a:t>
            </a:r>
            <a:endParaRPr lang="en-US" sz="1100" dirty="0"/>
          </a:p>
        </p:txBody>
      </p:sp>
      <p:sp>
        <p:nvSpPr>
          <p:cNvPr id="10" name="Text 8"/>
          <p:cNvSpPr/>
          <p:nvPr/>
        </p:nvSpPr>
        <p:spPr>
          <a:xfrm>
            <a:off x="640080" y="2788920"/>
            <a:ext cx="384048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6. Nhập nhanh - Mẹo nhập liên tục</a:t>
            </a:r>
            <a:endParaRPr lang="en-US" sz="1100" dirty="0"/>
          </a:p>
        </p:txBody>
      </p:sp>
      <p:sp>
        <p:nvSpPr>
          <p:cNvPr id="11" name="Text 9"/>
          <p:cNvSpPr/>
          <p:nvPr/>
        </p:nvSpPr>
        <p:spPr>
          <a:xfrm>
            <a:off x="640080" y="3127248"/>
            <a:ext cx="384048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7. Chế độ nhập chi tiết (4 bước)</a:t>
            </a:r>
            <a:endParaRPr lang="en-US" sz="1100" dirty="0"/>
          </a:p>
        </p:txBody>
      </p:sp>
      <p:sp>
        <p:nvSpPr>
          <p:cNvPr id="12" name="Text 10"/>
          <p:cNvSpPr/>
          <p:nvPr/>
        </p:nvSpPr>
        <p:spPr>
          <a:xfrm>
            <a:off x="640080" y="3465576"/>
            <a:ext cx="384048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8. Bảng điều khiển - Tóm tắt KPI</a:t>
            </a:r>
            <a:endParaRPr lang="en-US" sz="1100" dirty="0"/>
          </a:p>
        </p:txBody>
      </p:sp>
      <p:sp>
        <p:nvSpPr>
          <p:cNvPr id="13" name="Text 11"/>
          <p:cNvSpPr/>
          <p:nvPr/>
        </p:nvSpPr>
        <p:spPr>
          <a:xfrm>
            <a:off x="4754880" y="1097280"/>
            <a:ext cx="411480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9. Bảng điều khiển - So sánh nhà máy</a:t>
            </a:r>
            <a:endParaRPr lang="en-US" sz="1100" dirty="0"/>
          </a:p>
        </p:txBody>
      </p:sp>
      <p:sp>
        <p:nvSpPr>
          <p:cNvPr id="14" name="Text 12"/>
          <p:cNvSpPr/>
          <p:nvPr/>
        </p:nvSpPr>
        <p:spPr>
          <a:xfrm>
            <a:off x="4754880" y="1435608"/>
            <a:ext cx="411480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10. Bảng điều khiển - Vấn đề lặp lại &amp; Tỷ lệ đạt</a:t>
            </a:r>
            <a:endParaRPr lang="en-US" sz="1100" dirty="0"/>
          </a:p>
        </p:txBody>
      </p:sp>
      <p:sp>
        <p:nvSpPr>
          <p:cNvPr id="15" name="Text 13"/>
          <p:cNvSpPr/>
          <p:nvPr/>
        </p:nvSpPr>
        <p:spPr>
          <a:xfrm>
            <a:off x="4754880" y="1773936"/>
            <a:ext cx="411480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11. Lịch sử kiểm tra</a:t>
            </a:r>
            <a:endParaRPr lang="en-US" sz="1100" dirty="0"/>
          </a:p>
        </p:txBody>
      </p:sp>
      <p:sp>
        <p:nvSpPr>
          <p:cNvPr id="16" name="Text 14"/>
          <p:cNvSpPr/>
          <p:nvPr/>
        </p:nvSpPr>
        <p:spPr>
          <a:xfrm>
            <a:off x="4754880" y="2112264"/>
            <a:ext cx="411480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12. Theo dõi hành động khắc phục (CA)</a:t>
            </a:r>
            <a:endParaRPr lang="en-US" sz="1100" dirty="0"/>
          </a:p>
        </p:txBody>
      </p:sp>
      <p:sp>
        <p:nvSpPr>
          <p:cNvPr id="17" name="Text 15"/>
          <p:cNvSpPr/>
          <p:nvPr/>
        </p:nvSpPr>
        <p:spPr>
          <a:xfrm>
            <a:off x="4754880" y="2450592"/>
            <a:ext cx="411480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13. Tạo báo cáo PDF</a:t>
            </a:r>
            <a:endParaRPr lang="en-US" sz="1100" dirty="0"/>
          </a:p>
        </p:txBody>
      </p:sp>
      <p:sp>
        <p:nvSpPr>
          <p:cNvPr id="18" name="Text 16"/>
          <p:cNvSpPr/>
          <p:nvPr/>
        </p:nvSpPr>
        <p:spPr>
          <a:xfrm>
            <a:off x="4754880" y="2788920"/>
            <a:ext cx="411480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14. Tóm tắt quy trình hàng ngày</a:t>
            </a:r>
            <a:endParaRPr lang="en-US" sz="1100" dirty="0"/>
          </a:p>
        </p:txBody>
      </p:sp>
      <p:sp>
        <p:nvSpPr>
          <p:cNvPr id="19" name="Text 17"/>
          <p:cNvSpPr/>
          <p:nvPr/>
        </p:nvSpPr>
        <p:spPr>
          <a:xfrm>
            <a:off x="4754880" y="3127248"/>
            <a:ext cx="411480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15. Câu hỏi thường gặp</a:t>
            </a:r>
            <a:endParaRPr lang="en-US" sz="1100" dirty="0"/>
          </a:p>
        </p:txBody>
      </p:sp>
      <p:sp>
        <p:nvSpPr>
          <p:cNvPr id="20" name="Text 18"/>
          <p:cNvSpPr/>
          <p:nvPr/>
        </p:nvSpPr>
        <p:spPr>
          <a:xfrm>
            <a:off x="4754880" y="3465576"/>
            <a:ext cx="4114800" cy="301752"/>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16. Liên hệ &amp; Hỗ trợ</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Thay đổi quy trình: Trước &amp; Sau</a:t>
            </a:r>
            <a:endParaRPr lang="en-US" sz="2400" dirty="0"/>
          </a:p>
        </p:txBody>
      </p:sp>
      <p:sp>
        <p:nvSpPr>
          <p:cNvPr id="4" name="Text 2"/>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3 / 16</a:t>
            </a:r>
            <a:endParaRPr lang="en-US" sz="800" dirty="0"/>
          </a:p>
        </p:txBody>
      </p:sp>
      <p:sp>
        <p:nvSpPr>
          <p:cNvPr id="5" name="Shape 3"/>
          <p:cNvSpPr/>
          <p:nvPr/>
        </p:nvSpPr>
        <p:spPr>
          <a:xfrm>
            <a:off x="365760" y="1097280"/>
            <a:ext cx="4023360" cy="3840480"/>
          </a:xfrm>
          <a:prstGeom prst="roundRect">
            <a:avLst>
              <a:gd name="adj" fmla="val 2381"/>
            </a:avLst>
          </a:prstGeom>
          <a:solidFill>
            <a:srgbClr val="FEE2E2"/>
          </a:solidFill>
          <a:ln/>
        </p:spPr>
      </p:sp>
      <p:sp>
        <p:nvSpPr>
          <p:cNvPr id="6" name="Text 4"/>
          <p:cNvSpPr/>
          <p:nvPr/>
        </p:nvSpPr>
        <p:spPr>
          <a:xfrm>
            <a:off x="548640" y="1188720"/>
            <a:ext cx="3657600" cy="36576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TRƯỚC ĐÂY (Quy trình thủ công)</a:t>
            </a:r>
            <a:endParaRPr lang="en-US" sz="1400" dirty="0"/>
          </a:p>
        </p:txBody>
      </p:sp>
      <p:sp>
        <p:nvSpPr>
          <p:cNvPr id="7" name="Text 5"/>
          <p:cNvSpPr/>
          <p:nvPr/>
        </p:nvSpPr>
        <p:spPr>
          <a:xfrm>
            <a:off x="548640" y="164592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Ghi kết quả kiểm tra trên giấy</a:t>
            </a:r>
            <a:endParaRPr lang="en-US" sz="1100" dirty="0"/>
          </a:p>
        </p:txBody>
      </p:sp>
      <p:sp>
        <p:nvSpPr>
          <p:cNvPr id="8" name="Text 6"/>
          <p:cNvSpPr/>
          <p:nvPr/>
        </p:nvSpPr>
        <p:spPr>
          <a:xfrm>
            <a:off x="548640" y="214884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Tổng hợp dữ liệu thủ công vào Excel</a:t>
            </a:r>
            <a:endParaRPr lang="en-US" sz="1100" dirty="0"/>
          </a:p>
        </p:txBody>
      </p:sp>
      <p:sp>
        <p:nvSpPr>
          <p:cNvPr id="9" name="Text 7"/>
          <p:cNvSpPr/>
          <p:nvPr/>
        </p:nvSpPr>
        <p:spPr>
          <a:xfrm>
            <a:off x="548640" y="265176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Tạo báo cáo hàng tuần bằng tay</a:t>
            </a:r>
            <a:endParaRPr lang="en-US" sz="1100" dirty="0"/>
          </a:p>
        </p:txBody>
      </p:sp>
      <p:sp>
        <p:nvSpPr>
          <p:cNvPr id="10" name="Text 8"/>
          <p:cNvSpPr/>
          <p:nvPr/>
        </p:nvSpPr>
        <p:spPr>
          <a:xfrm>
            <a:off x="548640" y="315468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Gửi email báo cáo cho ban quản lý mỗi tuần</a:t>
            </a:r>
            <a:endParaRPr lang="en-US" sz="1100" dirty="0"/>
          </a:p>
        </p:txBody>
      </p:sp>
      <p:sp>
        <p:nvSpPr>
          <p:cNvPr id="11" name="Text 9"/>
          <p:cNvSpPr/>
          <p:nvPr/>
        </p:nvSpPr>
        <p:spPr>
          <a:xfrm>
            <a:off x="548640" y="365760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Theo dõi hành động khắc phục trong file riêng</a:t>
            </a:r>
            <a:endParaRPr lang="en-US" sz="1100" dirty="0"/>
          </a:p>
        </p:txBody>
      </p:sp>
      <p:sp>
        <p:nvSpPr>
          <p:cNvPr id="12" name="Text 10"/>
          <p:cNvSpPr/>
          <p:nvPr/>
        </p:nvSpPr>
        <p:spPr>
          <a:xfrm>
            <a:off x="548640" y="416052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Không có khả năng theo dõi trạng thái kiểm tra theo thời gian thực</a:t>
            </a:r>
            <a:endParaRPr lang="en-US" sz="1100" dirty="0"/>
          </a:p>
        </p:txBody>
      </p:sp>
      <p:sp>
        <p:nvSpPr>
          <p:cNvPr id="13" name="Shape 11"/>
          <p:cNvSpPr/>
          <p:nvPr/>
        </p:nvSpPr>
        <p:spPr>
          <a:xfrm>
            <a:off x="4754880" y="1097280"/>
            <a:ext cx="4023360" cy="3840480"/>
          </a:xfrm>
          <a:prstGeom prst="roundRect">
            <a:avLst>
              <a:gd name="adj" fmla="val 2381"/>
            </a:avLst>
          </a:prstGeom>
          <a:solidFill>
            <a:srgbClr val="DCFCE7"/>
          </a:solidFill>
          <a:ln/>
        </p:spPr>
      </p:sp>
      <p:sp>
        <p:nvSpPr>
          <p:cNvPr id="14" name="Text 12"/>
          <p:cNvSpPr/>
          <p:nvPr/>
        </p:nvSpPr>
        <p:spPr>
          <a:xfrm>
            <a:off x="4937760" y="1188720"/>
            <a:ext cx="3657600" cy="365760"/>
          </a:xfrm>
          <a:prstGeom prst="rect">
            <a:avLst/>
          </a:prstGeom>
          <a:noFill/>
          <a:ln/>
        </p:spPr>
        <p:txBody>
          <a:bodyPr wrap="square" rtlCol="0" anchor="ctr"/>
          <a:lstStyle/>
          <a:p>
            <a:pPr indent="0" marL="0">
              <a:buNone/>
            </a:pPr>
            <a:r>
              <a:rPr lang="en-US" sz="1400" b="1" dirty="0">
                <a:solidFill>
                  <a:srgbClr val="16A34A"/>
                </a:solidFill>
                <a:latin typeface="Arial" pitchFamily="34" charset="0"/>
                <a:ea typeface="Arial" pitchFamily="34" charset="-122"/>
                <a:cs typeface="Arial" pitchFamily="34" charset="-120"/>
              </a:rPr>
              <a:t>SAU (Hệ thống Q-TRAIN)</a:t>
            </a:r>
            <a:endParaRPr lang="en-US" sz="1400" dirty="0"/>
          </a:p>
        </p:txBody>
      </p:sp>
      <p:sp>
        <p:nvSpPr>
          <p:cNvPr id="15" name="Text 13"/>
          <p:cNvSpPr/>
          <p:nvPr/>
        </p:nvSpPr>
        <p:spPr>
          <a:xfrm>
            <a:off x="4937760" y="164592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Nhập kết quả trực tiếp trên điện thoại hoặc PC</a:t>
            </a:r>
            <a:endParaRPr lang="en-US" sz="1100" dirty="0"/>
          </a:p>
        </p:txBody>
      </p:sp>
      <p:sp>
        <p:nvSpPr>
          <p:cNvPr id="16" name="Text 14"/>
          <p:cNvSpPr/>
          <p:nvPr/>
        </p:nvSpPr>
        <p:spPr>
          <a:xfrm>
            <a:off x="4937760" y="214884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Bảng điều khiển tự động với KPI thời gian thực</a:t>
            </a:r>
            <a:endParaRPr lang="en-US" sz="1100" dirty="0"/>
          </a:p>
        </p:txBody>
      </p:sp>
      <p:sp>
        <p:nvSpPr>
          <p:cNvPr id="17" name="Text 15"/>
          <p:cNvSpPr/>
          <p:nvPr/>
        </p:nvSpPr>
        <p:spPr>
          <a:xfrm>
            <a:off x="4937760" y="265176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Báo cáo hàng tuần được tạo tự động</a:t>
            </a:r>
            <a:endParaRPr lang="en-US" sz="1100" dirty="0"/>
          </a:p>
        </p:txBody>
      </p:sp>
      <p:sp>
        <p:nvSpPr>
          <p:cNvPr id="18" name="Text 16"/>
          <p:cNvSpPr/>
          <p:nvPr/>
        </p:nvSpPr>
        <p:spPr>
          <a:xfrm>
            <a:off x="4937760" y="315468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Tải báo cáo PDF chỉ với một cú nhấp</a:t>
            </a:r>
            <a:endParaRPr lang="en-US" sz="1100" dirty="0"/>
          </a:p>
        </p:txBody>
      </p:sp>
      <p:sp>
        <p:nvSpPr>
          <p:cNvPr id="19" name="Text 17"/>
          <p:cNvSpPr/>
          <p:nvPr/>
        </p:nvSpPr>
        <p:spPr>
          <a:xfrm>
            <a:off x="4937760" y="365760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Hành động khắc phục được theo dõi trong hệ thống</a:t>
            </a:r>
            <a:endParaRPr lang="en-US" sz="1100" dirty="0"/>
          </a:p>
        </p:txBody>
      </p:sp>
      <p:sp>
        <p:nvSpPr>
          <p:cNvPr id="20" name="Text 18"/>
          <p:cNvSpPr/>
          <p:nvPr/>
        </p:nvSpPr>
        <p:spPr>
          <a:xfrm>
            <a:off x="4937760" y="4160520"/>
            <a:ext cx="3657600" cy="45720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So sánh nhà máy &amp; phân tích xu hướng theo thời gian thực</a:t>
            </a:r>
            <a:endParaRPr lang="en-US" sz="1100" dirty="0"/>
          </a:p>
        </p:txBody>
      </p:sp>
      <p:sp>
        <p:nvSpPr>
          <p:cNvPr id="21" name="Text 19"/>
          <p:cNvSpPr/>
          <p:nvPr/>
        </p:nvSpPr>
        <p:spPr>
          <a:xfrm>
            <a:off x="4023360" y="2743200"/>
            <a:ext cx="731520" cy="457200"/>
          </a:xfrm>
          <a:prstGeom prst="rect">
            <a:avLst/>
          </a:prstGeom>
          <a:noFill/>
          <a:ln/>
        </p:spPr>
        <p:txBody>
          <a:bodyPr wrap="square" rtlCol="0" anchor="ctr"/>
          <a:lstStyle/>
          <a:p>
            <a:pPr algn="ctr" indent="0" marL="0">
              <a:buNone/>
            </a:pPr>
            <a:r>
              <a:rPr lang="en-US" sz="2000" b="1" dirty="0">
                <a:solidFill>
                  <a:srgbClr val="1E40AF"/>
                </a:solidFill>
              </a:rPr>
              <a:t>&gt;&gt;&gt;</a:t>
            </a:r>
            <a:endParaRPr lang="en-US" sz="2000" dirty="0"/>
          </a:p>
        </p:txBody>
      </p:sp>
      <p:sp>
        <p:nvSpPr>
          <p:cNvPr id="22" name="Shape 20"/>
          <p:cNvSpPr/>
          <p:nvPr/>
        </p:nvSpPr>
        <p:spPr>
          <a:xfrm>
            <a:off x="365760" y="5120640"/>
            <a:ext cx="8412480" cy="502920"/>
          </a:xfrm>
          <a:prstGeom prst="roundRect">
            <a:avLst>
              <a:gd name="adj" fmla="val 14545"/>
            </a:avLst>
          </a:prstGeom>
          <a:solidFill>
            <a:srgbClr val="EFF6FF"/>
          </a:solidFill>
          <a:ln/>
        </p:spPr>
      </p:sp>
      <p:sp>
        <p:nvSpPr>
          <p:cNvPr id="23" name="Text 21"/>
          <p:cNvSpPr/>
          <p:nvPr/>
        </p:nvSpPr>
        <p:spPr>
          <a:xfrm>
            <a:off x="457200" y="5120640"/>
            <a:ext cx="8229600" cy="502920"/>
          </a:xfrm>
          <a:prstGeom prst="rect">
            <a:avLst/>
          </a:prstGeom>
          <a:noFill/>
          <a:ln/>
        </p:spPr>
        <p:txBody>
          <a:bodyPr wrap="square" rtlCol="0" anchor="ctr"/>
          <a:lstStyle/>
          <a:p>
            <a:pPr indent="0" marL="0">
              <a:buNone/>
            </a:pPr>
            <a:r>
              <a:rPr lang="en-US" sz="1200" b="1" dirty="0">
                <a:solidFill>
                  <a:srgbClr val="1E3A8A"/>
                </a:solidFill>
                <a:latin typeface="Arial" pitchFamily="34" charset="0"/>
                <a:ea typeface="Arial" pitchFamily="34" charset="-122"/>
                <a:cs typeface="Arial" pitchFamily="34" charset="-120"/>
              </a:rPr>
              <a:t>Cải thiện chính: Từ 2+ giờ làm việc thủ công xuống 5 phút nhập dữ liệu mỗi ngày!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Cách truy cập hệ thống</a:t>
            </a:r>
            <a:endParaRPr lang="en-US" sz="2400" dirty="0"/>
          </a:p>
        </p:txBody>
      </p:sp>
      <p:sp>
        <p:nvSpPr>
          <p:cNvPr id="4" name="Text 2"/>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4 / 16</a:t>
            </a:r>
            <a:endParaRPr lang="en-US" sz="800" dirty="0"/>
          </a:p>
        </p:txBody>
      </p:sp>
      <p:sp>
        <p:nvSpPr>
          <p:cNvPr id="5" name="Shape 3"/>
          <p:cNvSpPr/>
          <p:nvPr/>
        </p:nvSpPr>
        <p:spPr>
          <a:xfrm>
            <a:off x="457200" y="1188720"/>
            <a:ext cx="320040" cy="320040"/>
          </a:xfrm>
          <a:prstGeom prst="ellipse">
            <a:avLst/>
          </a:prstGeom>
          <a:solidFill>
            <a:srgbClr val="1E40AF"/>
          </a:solidFill>
          <a:ln/>
        </p:spPr>
      </p:sp>
      <p:sp>
        <p:nvSpPr>
          <p:cNvPr id="6" name="Text 4"/>
          <p:cNvSpPr/>
          <p:nvPr/>
        </p:nvSpPr>
        <p:spPr>
          <a:xfrm>
            <a:off x="457200" y="118872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68680" y="1170432"/>
            <a:ext cx="77724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Mở trình duyệt</a:t>
            </a:r>
            <a:endParaRPr lang="en-US" sz="1400" dirty="0"/>
          </a:p>
        </p:txBody>
      </p:sp>
      <p:sp>
        <p:nvSpPr>
          <p:cNvPr id="8" name="Text 6"/>
          <p:cNvSpPr/>
          <p:nvPr/>
        </p:nvSpPr>
        <p:spPr>
          <a:xfrm>
            <a:off x="868680" y="1444752"/>
            <a:ext cx="7772400" cy="5486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Khuyến nghị dùng Chrome (PC hoặc di động)</a:t>
            </a:r>
            <a:endParaRPr lang="en-US" sz="1200" dirty="0"/>
          </a:p>
        </p:txBody>
      </p:sp>
      <p:sp>
        <p:nvSpPr>
          <p:cNvPr id="9" name="Shape 7"/>
          <p:cNvSpPr/>
          <p:nvPr/>
        </p:nvSpPr>
        <p:spPr>
          <a:xfrm>
            <a:off x="457200" y="2240280"/>
            <a:ext cx="320040" cy="320040"/>
          </a:xfrm>
          <a:prstGeom prst="ellipse">
            <a:avLst/>
          </a:prstGeom>
          <a:solidFill>
            <a:srgbClr val="1E40AF"/>
          </a:solidFill>
          <a:ln/>
        </p:spPr>
      </p:sp>
      <p:sp>
        <p:nvSpPr>
          <p:cNvPr id="10" name="Text 8"/>
          <p:cNvSpPr/>
          <p:nvPr/>
        </p:nvSpPr>
        <p:spPr>
          <a:xfrm>
            <a:off x="457200" y="224028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868680" y="2221992"/>
            <a:ext cx="77724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Nhập URL</a:t>
            </a:r>
            <a:endParaRPr lang="en-US" sz="1400" dirty="0"/>
          </a:p>
        </p:txBody>
      </p:sp>
      <p:sp>
        <p:nvSpPr>
          <p:cNvPr id="12" name="Text 10"/>
          <p:cNvSpPr/>
          <p:nvPr/>
        </p:nvSpPr>
        <p:spPr>
          <a:xfrm>
            <a:off x="868680" y="2496312"/>
            <a:ext cx="7772400" cy="5486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https://q-train-web.web.app/</a:t>
            </a:r>
            <a:endParaRPr lang="en-US" sz="1200" dirty="0"/>
          </a:p>
        </p:txBody>
      </p:sp>
      <p:sp>
        <p:nvSpPr>
          <p:cNvPr id="13" name="Shape 11"/>
          <p:cNvSpPr/>
          <p:nvPr/>
        </p:nvSpPr>
        <p:spPr>
          <a:xfrm>
            <a:off x="457200" y="3291840"/>
            <a:ext cx="320040" cy="320040"/>
          </a:xfrm>
          <a:prstGeom prst="ellipse">
            <a:avLst/>
          </a:prstGeom>
          <a:solidFill>
            <a:srgbClr val="1E40AF"/>
          </a:solidFill>
          <a:ln/>
        </p:spPr>
      </p:sp>
      <p:sp>
        <p:nvSpPr>
          <p:cNvPr id="14" name="Text 12"/>
          <p:cNvSpPr/>
          <p:nvPr/>
        </p:nvSpPr>
        <p:spPr>
          <a:xfrm>
            <a:off x="457200" y="329184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868680" y="3273552"/>
            <a:ext cx="77724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Đăng nhập</a:t>
            </a:r>
            <a:endParaRPr lang="en-US" sz="1400" dirty="0"/>
          </a:p>
        </p:txBody>
      </p:sp>
      <p:sp>
        <p:nvSpPr>
          <p:cNvPr id="16" name="Text 14"/>
          <p:cNvSpPr/>
          <p:nvPr/>
        </p:nvSpPr>
        <p:spPr>
          <a:xfrm>
            <a:off x="868680" y="3547872"/>
            <a:ext cx="7772400" cy="5486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Sử dụng email công ty (@hsvina.com)</a:t>
            </a:r>
            <a:endParaRPr lang="en-US" sz="1200" dirty="0"/>
          </a:p>
        </p:txBody>
      </p:sp>
      <p:sp>
        <p:nvSpPr>
          <p:cNvPr id="17" name="Shape 15"/>
          <p:cNvSpPr/>
          <p:nvPr/>
        </p:nvSpPr>
        <p:spPr>
          <a:xfrm>
            <a:off x="457200" y="4343400"/>
            <a:ext cx="320040" cy="320040"/>
          </a:xfrm>
          <a:prstGeom prst="ellipse">
            <a:avLst/>
          </a:prstGeom>
          <a:solidFill>
            <a:srgbClr val="1E40AF"/>
          </a:solidFill>
          <a:ln/>
        </p:spPr>
      </p:sp>
      <p:sp>
        <p:nvSpPr>
          <p:cNvPr id="18" name="Text 16"/>
          <p:cNvSpPr/>
          <p:nvPr/>
        </p:nvSpPr>
        <p:spPr>
          <a:xfrm>
            <a:off x="457200" y="434340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868680" y="4325112"/>
            <a:ext cx="77724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Điều hướng</a:t>
            </a:r>
            <a:endParaRPr lang="en-US" sz="1400" dirty="0"/>
          </a:p>
        </p:txBody>
      </p:sp>
      <p:sp>
        <p:nvSpPr>
          <p:cNvPr id="20" name="Text 18"/>
          <p:cNvSpPr/>
          <p:nvPr/>
        </p:nvSpPr>
        <p:spPr>
          <a:xfrm>
            <a:off x="868680" y="4599432"/>
            <a:ext cx="7772400" cy="5486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Menu: Equipment &gt; Metal Detector</a:t>
            </a:r>
            <a:endParaRPr lang="en-US" sz="1200" dirty="0"/>
          </a:p>
        </p:txBody>
      </p:sp>
      <p:sp>
        <p:nvSpPr>
          <p:cNvPr id="21" name="Shape 19"/>
          <p:cNvSpPr/>
          <p:nvPr/>
        </p:nvSpPr>
        <p:spPr>
          <a:xfrm>
            <a:off x="457200" y="5120640"/>
            <a:ext cx="5029200" cy="457200"/>
          </a:xfrm>
          <a:prstGeom prst="roundRect">
            <a:avLst>
              <a:gd name="adj" fmla="val 16000"/>
            </a:avLst>
          </a:prstGeom>
          <a:solidFill>
            <a:srgbClr val="EFF6FF"/>
          </a:solidFill>
          <a:ln w="19050">
            <a:solidFill>
              <a:srgbClr val="3B82F6"/>
            </a:solidFill>
            <a:prstDash val="solid"/>
          </a:ln>
        </p:spPr>
      </p:sp>
      <p:sp>
        <p:nvSpPr>
          <p:cNvPr id="22" name="Text 20"/>
          <p:cNvSpPr/>
          <p:nvPr/>
        </p:nvSpPr>
        <p:spPr>
          <a:xfrm>
            <a:off x="640080" y="5120640"/>
            <a:ext cx="4663440" cy="457200"/>
          </a:xfrm>
          <a:prstGeom prst="rect">
            <a:avLst/>
          </a:prstGeom>
          <a:noFill/>
          <a:ln/>
        </p:spPr>
        <p:txBody>
          <a:bodyPr wrap="square" rtlCol="0" anchor="ctr"/>
          <a:lstStyle/>
          <a:p>
            <a:pPr indent="0" marL="0">
              <a:buNone/>
            </a:pPr>
            <a:r>
              <a:rPr lang="en-US" sz="1400" b="1" dirty="0">
                <a:solidFill>
                  <a:srgbClr val="1E40AF"/>
                </a:solidFill>
                <a:latin typeface="Courier New" pitchFamily="34" charset="0"/>
                <a:ea typeface="Courier New" pitchFamily="34" charset="-122"/>
                <a:cs typeface="Courier New" pitchFamily="34" charset="-120"/>
              </a:rPr>
              <a:t>https://q-train-web.web.app/</a:t>
            </a:r>
            <a:endParaRPr lang="en-US" sz="1400" dirty="0"/>
          </a:p>
        </p:txBody>
      </p:sp>
      <p:sp>
        <p:nvSpPr>
          <p:cNvPr id="23" name="Text 21"/>
          <p:cNvSpPr/>
          <p:nvPr/>
        </p:nvSpPr>
        <p:spPr>
          <a:xfrm>
            <a:off x="457200" y="5669280"/>
            <a:ext cx="822960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Thanh bên  &gt;  Equipment  &gt;  Metal Detector</a:t>
            </a:r>
            <a:endParaRPr lang="en-US" sz="1100" dirty="0"/>
          </a:p>
        </p:txBody>
      </p:sp>
      <p:sp>
        <p:nvSpPr>
          <p:cNvPr id="24" name="Shape 22"/>
          <p:cNvSpPr/>
          <p:nvPr/>
        </p:nvSpPr>
        <p:spPr>
          <a:xfrm>
            <a:off x="457200" y="6035040"/>
            <a:ext cx="8229600" cy="365760"/>
          </a:xfrm>
          <a:prstGeom prst="roundRect">
            <a:avLst>
              <a:gd name="adj" fmla="val 20000"/>
            </a:avLst>
          </a:prstGeom>
          <a:solidFill>
            <a:srgbClr val="FEF9C3"/>
          </a:solidFill>
          <a:ln/>
        </p:spPr>
      </p:sp>
      <p:sp>
        <p:nvSpPr>
          <p:cNvPr id="25" name="Text 23"/>
          <p:cNvSpPr/>
          <p:nvPr/>
        </p:nvSpPr>
        <p:spPr>
          <a:xfrm>
            <a:off x="548640" y="6035040"/>
            <a:ext cx="8046720" cy="36576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Lưu ý: Chỉ cho phép email @hsvina.com, @hwaseung.com, @hwaseungvina.com.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Chế độ nhập nhanh - Tổng quan</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Cách nhanh nhất để ghi lại kết quả kiểm tra hàng ngày</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5 / 16</a:t>
            </a:r>
            <a:endParaRPr lang="en-US" sz="800" dirty="0"/>
          </a:p>
        </p:txBody>
      </p:sp>
      <p:sp>
        <p:nvSpPr>
          <p:cNvPr id="6" name="Shape 4"/>
          <p:cNvSpPr/>
          <p:nvPr/>
        </p:nvSpPr>
        <p:spPr>
          <a:xfrm>
            <a:off x="457200" y="1188720"/>
            <a:ext cx="4023360" cy="914400"/>
          </a:xfrm>
          <a:prstGeom prst="roundRect">
            <a:avLst>
              <a:gd name="adj" fmla="val 8000"/>
            </a:avLst>
          </a:prstGeom>
          <a:solidFill>
            <a:srgbClr val="EFF6FF"/>
          </a:solidFill>
          <a:ln/>
        </p:spPr>
      </p:sp>
      <p:sp>
        <p:nvSpPr>
          <p:cNvPr id="7" name="Text 5"/>
          <p:cNvSpPr/>
          <p:nvPr/>
        </p:nvSpPr>
        <p:spPr>
          <a:xfrm>
            <a:off x="594360" y="1234440"/>
            <a:ext cx="3749040" cy="274320"/>
          </a:xfrm>
          <a:prstGeom prst="rect">
            <a:avLst/>
          </a:prstGeom>
          <a:noFill/>
          <a:ln/>
        </p:spPr>
        <p:txBody>
          <a:bodyPr wrap="square" rtlCol="0" anchor="ctr"/>
          <a:lstStyle/>
          <a:p>
            <a:pPr indent="0" marL="0">
              <a:buNone/>
            </a:pPr>
            <a:r>
              <a:rPr lang="en-US" sz="1200" b="1" dirty="0">
                <a:solidFill>
                  <a:srgbClr val="1E40AF"/>
                </a:solidFill>
                <a:latin typeface="Arial" pitchFamily="34" charset="0"/>
                <a:ea typeface="Arial" pitchFamily="34" charset="-122"/>
                <a:cs typeface="Arial" pitchFamily="34" charset="-120"/>
              </a:rPr>
              <a:t>Màn hình tất cả</a:t>
            </a:r>
            <a:endParaRPr lang="en-US" sz="1200" dirty="0"/>
          </a:p>
        </p:txBody>
      </p:sp>
      <p:sp>
        <p:nvSpPr>
          <p:cNvPr id="8" name="Text 6"/>
          <p:cNvSpPr/>
          <p:nvPr/>
        </p:nvSpPr>
        <p:spPr>
          <a:xfrm>
            <a:off x="594360" y="1536192"/>
            <a:ext cx="3749040" cy="50292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Tất cả trường nhập hiển thị trên một màn hình - không cần nhiều bước</a:t>
            </a:r>
            <a:endParaRPr lang="en-US" sz="1000" dirty="0"/>
          </a:p>
        </p:txBody>
      </p:sp>
      <p:sp>
        <p:nvSpPr>
          <p:cNvPr id="9" name="Shape 7"/>
          <p:cNvSpPr/>
          <p:nvPr/>
        </p:nvSpPr>
        <p:spPr>
          <a:xfrm>
            <a:off x="4754880" y="1188720"/>
            <a:ext cx="4023360" cy="914400"/>
          </a:xfrm>
          <a:prstGeom prst="roundRect">
            <a:avLst>
              <a:gd name="adj" fmla="val 8000"/>
            </a:avLst>
          </a:prstGeom>
          <a:solidFill>
            <a:srgbClr val="EFF6FF"/>
          </a:solidFill>
          <a:ln/>
        </p:spPr>
      </p:sp>
      <p:sp>
        <p:nvSpPr>
          <p:cNvPr id="10" name="Text 8"/>
          <p:cNvSpPr/>
          <p:nvPr/>
        </p:nvSpPr>
        <p:spPr>
          <a:xfrm>
            <a:off x="4892040" y="1234440"/>
            <a:ext cx="3749040" cy="274320"/>
          </a:xfrm>
          <a:prstGeom prst="rect">
            <a:avLst/>
          </a:prstGeom>
          <a:noFill/>
          <a:ln/>
        </p:spPr>
        <p:txBody>
          <a:bodyPr wrap="square" rtlCol="0" anchor="ctr"/>
          <a:lstStyle/>
          <a:p>
            <a:pPr indent="0" marL="0">
              <a:buNone/>
            </a:pPr>
            <a:r>
              <a:rPr lang="en-US" sz="1200" b="1" dirty="0">
                <a:solidFill>
                  <a:srgbClr val="1E40AF"/>
                </a:solidFill>
                <a:latin typeface="Arial" pitchFamily="34" charset="0"/>
                <a:ea typeface="Arial" pitchFamily="34" charset="-122"/>
                <a:cs typeface="Arial" pitchFamily="34" charset="-120"/>
              </a:rPr>
              <a:t>Giá trị mặc định</a:t>
            </a:r>
            <a:endParaRPr lang="en-US" sz="1200" dirty="0"/>
          </a:p>
        </p:txBody>
      </p:sp>
      <p:sp>
        <p:nvSpPr>
          <p:cNvPr id="11" name="Text 9"/>
          <p:cNvSpPr/>
          <p:nvPr/>
        </p:nvSpPr>
        <p:spPr>
          <a:xfrm>
            <a:off x="4892040" y="1536192"/>
            <a:ext cx="3749040" cy="50292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Kết quả mặc định PASS, ngày hôm nay, người kiểm tra là người đăng nhập</a:t>
            </a:r>
            <a:endParaRPr lang="en-US" sz="1000" dirty="0"/>
          </a:p>
        </p:txBody>
      </p:sp>
      <p:sp>
        <p:nvSpPr>
          <p:cNvPr id="12" name="Shape 10"/>
          <p:cNvSpPr/>
          <p:nvPr/>
        </p:nvSpPr>
        <p:spPr>
          <a:xfrm>
            <a:off x="457200" y="2286000"/>
            <a:ext cx="4023360" cy="914400"/>
          </a:xfrm>
          <a:prstGeom prst="roundRect">
            <a:avLst>
              <a:gd name="adj" fmla="val 8000"/>
            </a:avLst>
          </a:prstGeom>
          <a:solidFill>
            <a:srgbClr val="EFF6FF"/>
          </a:solidFill>
          <a:ln/>
        </p:spPr>
      </p:sp>
      <p:sp>
        <p:nvSpPr>
          <p:cNvPr id="13" name="Text 11"/>
          <p:cNvSpPr/>
          <p:nvPr/>
        </p:nvSpPr>
        <p:spPr>
          <a:xfrm>
            <a:off x="594360" y="2331720"/>
            <a:ext cx="3749040" cy="274320"/>
          </a:xfrm>
          <a:prstGeom prst="rect">
            <a:avLst/>
          </a:prstGeom>
          <a:noFill/>
          <a:ln/>
        </p:spPr>
        <p:txBody>
          <a:bodyPr wrap="square" rtlCol="0" anchor="ctr"/>
          <a:lstStyle/>
          <a:p>
            <a:pPr indent="0" marL="0">
              <a:buNone/>
            </a:pPr>
            <a:r>
              <a:rPr lang="en-US" sz="1200" b="1" dirty="0">
                <a:solidFill>
                  <a:srgbClr val="1E40AF"/>
                </a:solidFill>
                <a:latin typeface="Arial" pitchFamily="34" charset="0"/>
                <a:ea typeface="Arial" pitchFamily="34" charset="-122"/>
                <a:cs typeface="Arial" pitchFamily="34" charset="-120"/>
              </a:rPr>
              <a:t>Nhập liên tục</a:t>
            </a:r>
            <a:endParaRPr lang="en-US" sz="1200" dirty="0"/>
          </a:p>
        </p:txBody>
      </p:sp>
      <p:sp>
        <p:nvSpPr>
          <p:cNvPr id="14" name="Text 12"/>
          <p:cNvSpPr/>
          <p:nvPr/>
        </p:nvSpPr>
        <p:spPr>
          <a:xfrm>
            <a:off x="594360" y="2633472"/>
            <a:ext cx="3749040" cy="50292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Sau khi lưu, nhà máy/ngày/người kiểm tra/độ nhạy được giữ lại cho lần nhập tiếp</a:t>
            </a:r>
            <a:endParaRPr lang="en-US" sz="1000" dirty="0"/>
          </a:p>
        </p:txBody>
      </p:sp>
      <p:sp>
        <p:nvSpPr>
          <p:cNvPr id="15" name="Shape 13"/>
          <p:cNvSpPr/>
          <p:nvPr/>
        </p:nvSpPr>
        <p:spPr>
          <a:xfrm>
            <a:off x="4754880" y="2286000"/>
            <a:ext cx="4023360" cy="914400"/>
          </a:xfrm>
          <a:prstGeom prst="roundRect">
            <a:avLst>
              <a:gd name="adj" fmla="val 8000"/>
            </a:avLst>
          </a:prstGeom>
          <a:solidFill>
            <a:srgbClr val="EFF6FF"/>
          </a:solidFill>
          <a:ln/>
        </p:spPr>
      </p:sp>
      <p:sp>
        <p:nvSpPr>
          <p:cNvPr id="16" name="Text 14"/>
          <p:cNvSpPr/>
          <p:nvPr/>
        </p:nvSpPr>
        <p:spPr>
          <a:xfrm>
            <a:off x="4892040" y="2331720"/>
            <a:ext cx="3749040" cy="274320"/>
          </a:xfrm>
          <a:prstGeom prst="rect">
            <a:avLst/>
          </a:prstGeom>
          <a:noFill/>
          <a:ln/>
        </p:spPr>
        <p:txBody>
          <a:bodyPr wrap="square" rtlCol="0" anchor="ctr"/>
          <a:lstStyle/>
          <a:p>
            <a:pPr indent="0" marL="0">
              <a:buNone/>
            </a:pPr>
            <a:r>
              <a:rPr lang="en-US" sz="1200" b="1" dirty="0">
                <a:solidFill>
                  <a:srgbClr val="1E40AF"/>
                </a:solidFill>
                <a:latin typeface="Arial" pitchFamily="34" charset="0"/>
                <a:ea typeface="Arial" pitchFamily="34" charset="-122"/>
                <a:cs typeface="Arial" pitchFamily="34" charset="-120"/>
              </a:rPr>
              <a:t>Bộ đếm tiến độ</a:t>
            </a:r>
            <a:endParaRPr lang="en-US" sz="1200" dirty="0"/>
          </a:p>
        </p:txBody>
      </p:sp>
      <p:sp>
        <p:nvSpPr>
          <p:cNvPr id="17" name="Text 15"/>
          <p:cNvSpPr/>
          <p:nvPr/>
        </p:nvSpPr>
        <p:spPr>
          <a:xfrm>
            <a:off x="4892040" y="2633472"/>
            <a:ext cx="3749040" cy="50292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Bộ đếm "Hôm nay N mục" hiển thị số lượng kiểm tra đã thực hiện hôm nay</a:t>
            </a:r>
            <a:endParaRPr lang="en-US" sz="1000" dirty="0"/>
          </a:p>
        </p:txBody>
      </p:sp>
      <p:sp>
        <p:nvSpPr>
          <p:cNvPr id="18" name="Text 16"/>
          <p:cNvSpPr/>
          <p:nvPr/>
        </p:nvSpPr>
        <p:spPr>
          <a:xfrm>
            <a:off x="457200" y="3474720"/>
            <a:ext cx="8229600" cy="320040"/>
          </a:xfrm>
          <a:prstGeom prst="rect">
            <a:avLst/>
          </a:prstGeom>
          <a:noFill/>
          <a:ln/>
        </p:spPr>
        <p:txBody>
          <a:bodyPr wrap="square" rtlCol="0" anchor="ctr"/>
          <a:lstStyle/>
          <a:p>
            <a:pPr indent="0" marL="0">
              <a:buNone/>
            </a:pPr>
            <a:r>
              <a:rPr lang="en-US" sz="1400" b="1" dirty="0">
                <a:solidFill>
                  <a:srgbClr val="1E3A8A"/>
                </a:solidFill>
                <a:latin typeface="Arial" pitchFamily="34" charset="0"/>
                <a:ea typeface="Arial" pitchFamily="34" charset="-122"/>
                <a:cs typeface="Arial" pitchFamily="34" charset="-120"/>
              </a:rPr>
              <a:t>Bố cục màn hình</a:t>
            </a:r>
            <a:endParaRPr lang="en-US" sz="1400" dirty="0"/>
          </a:p>
        </p:txBody>
      </p:sp>
      <p:sp>
        <p:nvSpPr>
          <p:cNvPr id="19" name="Shape 17"/>
          <p:cNvSpPr/>
          <p:nvPr/>
        </p:nvSpPr>
        <p:spPr>
          <a:xfrm>
            <a:off x="457200" y="3931920"/>
            <a:ext cx="8229600" cy="457200"/>
          </a:xfrm>
          <a:prstGeom prst="roundRect">
            <a:avLst>
              <a:gd name="adj" fmla="val 12000"/>
            </a:avLst>
          </a:prstGeom>
          <a:solidFill>
            <a:srgbClr val="EFF6FF"/>
          </a:solidFill>
          <a:ln/>
        </p:spPr>
      </p:sp>
      <p:sp>
        <p:nvSpPr>
          <p:cNvPr id="20" name="Text 18"/>
          <p:cNvSpPr/>
          <p:nvPr/>
        </p:nvSpPr>
        <p:spPr>
          <a:xfrm>
            <a:off x="640080" y="3931920"/>
            <a:ext cx="1097280" cy="457200"/>
          </a:xfrm>
          <a:prstGeom prst="rect">
            <a:avLst/>
          </a:prstGeom>
          <a:noFill/>
          <a:ln/>
        </p:spPr>
        <p:txBody>
          <a:bodyPr wrap="square" rtlCol="0" anchor="ctr"/>
          <a:lstStyle/>
          <a:p>
            <a:pPr indent="0" marL="0">
              <a:buNone/>
            </a:pPr>
            <a:r>
              <a:rPr lang="en-US" sz="1000" b="1" dirty="0">
                <a:solidFill>
                  <a:srgbClr val="1E40AF"/>
                </a:solidFill>
                <a:latin typeface="Arial" pitchFamily="34" charset="0"/>
                <a:ea typeface="Arial" pitchFamily="34" charset="-122"/>
                <a:cs typeface="Arial" pitchFamily="34" charset="-120"/>
              </a:rPr>
              <a:t>Hàng 1</a:t>
            </a:r>
            <a:endParaRPr lang="en-US" sz="1000" dirty="0"/>
          </a:p>
        </p:txBody>
      </p:sp>
      <p:sp>
        <p:nvSpPr>
          <p:cNvPr id="21" name="Text 19"/>
          <p:cNvSpPr/>
          <p:nvPr/>
        </p:nvSpPr>
        <p:spPr>
          <a:xfrm>
            <a:off x="1737360" y="3931920"/>
            <a:ext cx="6766560" cy="45720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Nhà máy (nút A/B/C/D) + Chọn ngày</a:t>
            </a:r>
            <a:endParaRPr lang="en-US" sz="1000" dirty="0"/>
          </a:p>
        </p:txBody>
      </p:sp>
      <p:sp>
        <p:nvSpPr>
          <p:cNvPr id="22" name="Shape 20"/>
          <p:cNvSpPr/>
          <p:nvPr/>
        </p:nvSpPr>
        <p:spPr>
          <a:xfrm>
            <a:off x="457200" y="4480560"/>
            <a:ext cx="8229600" cy="457200"/>
          </a:xfrm>
          <a:prstGeom prst="roundRect">
            <a:avLst>
              <a:gd name="adj" fmla="val 12000"/>
            </a:avLst>
          </a:prstGeom>
          <a:solidFill>
            <a:srgbClr val="F3F4F6"/>
          </a:solidFill>
          <a:ln/>
        </p:spPr>
      </p:sp>
      <p:sp>
        <p:nvSpPr>
          <p:cNvPr id="23" name="Text 21"/>
          <p:cNvSpPr/>
          <p:nvPr/>
        </p:nvSpPr>
        <p:spPr>
          <a:xfrm>
            <a:off x="640080" y="4480560"/>
            <a:ext cx="1097280" cy="457200"/>
          </a:xfrm>
          <a:prstGeom prst="rect">
            <a:avLst/>
          </a:prstGeom>
          <a:noFill/>
          <a:ln/>
        </p:spPr>
        <p:txBody>
          <a:bodyPr wrap="square" rtlCol="0" anchor="ctr"/>
          <a:lstStyle/>
          <a:p>
            <a:pPr indent="0" marL="0">
              <a:buNone/>
            </a:pPr>
            <a:r>
              <a:rPr lang="en-US" sz="1000" b="1" dirty="0">
                <a:solidFill>
                  <a:srgbClr val="1E40AF"/>
                </a:solidFill>
                <a:latin typeface="Arial" pitchFamily="34" charset="0"/>
                <a:ea typeface="Arial" pitchFamily="34" charset="-122"/>
                <a:cs typeface="Arial" pitchFamily="34" charset="-120"/>
              </a:rPr>
              <a:t>Hàng 2</a:t>
            </a:r>
            <a:endParaRPr lang="en-US" sz="1000" dirty="0"/>
          </a:p>
        </p:txBody>
      </p:sp>
      <p:sp>
        <p:nvSpPr>
          <p:cNvPr id="24" name="Text 22"/>
          <p:cNvSpPr/>
          <p:nvPr/>
        </p:nvSpPr>
        <p:spPr>
          <a:xfrm>
            <a:off x="1737360" y="4480560"/>
            <a:ext cx="6766560" cy="45720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Line + Mã máy + Tên người kiểm tra</a:t>
            </a:r>
            <a:endParaRPr lang="en-US" sz="1000" dirty="0"/>
          </a:p>
        </p:txBody>
      </p:sp>
      <p:sp>
        <p:nvSpPr>
          <p:cNvPr id="25" name="Shape 23"/>
          <p:cNvSpPr/>
          <p:nvPr/>
        </p:nvSpPr>
        <p:spPr>
          <a:xfrm>
            <a:off x="457200" y="5029200"/>
            <a:ext cx="8229600" cy="457200"/>
          </a:xfrm>
          <a:prstGeom prst="roundRect">
            <a:avLst>
              <a:gd name="adj" fmla="val 12000"/>
            </a:avLst>
          </a:prstGeom>
          <a:solidFill>
            <a:srgbClr val="EFF6FF"/>
          </a:solidFill>
          <a:ln/>
        </p:spPr>
      </p:sp>
      <p:sp>
        <p:nvSpPr>
          <p:cNvPr id="26" name="Text 24"/>
          <p:cNvSpPr/>
          <p:nvPr/>
        </p:nvSpPr>
        <p:spPr>
          <a:xfrm>
            <a:off x="640080" y="5029200"/>
            <a:ext cx="1097280" cy="457200"/>
          </a:xfrm>
          <a:prstGeom prst="rect">
            <a:avLst/>
          </a:prstGeom>
          <a:noFill/>
          <a:ln/>
        </p:spPr>
        <p:txBody>
          <a:bodyPr wrap="square" rtlCol="0" anchor="ctr"/>
          <a:lstStyle/>
          <a:p>
            <a:pPr indent="0" marL="0">
              <a:buNone/>
            </a:pPr>
            <a:r>
              <a:rPr lang="en-US" sz="1000" b="1" dirty="0">
                <a:solidFill>
                  <a:srgbClr val="1E40AF"/>
                </a:solidFill>
                <a:latin typeface="Arial" pitchFamily="34" charset="0"/>
                <a:ea typeface="Arial" pitchFamily="34" charset="-122"/>
                <a:cs typeface="Arial" pitchFamily="34" charset="-120"/>
              </a:rPr>
              <a:t>Hàng 3</a:t>
            </a:r>
            <a:endParaRPr lang="en-US" sz="1000" dirty="0"/>
          </a:p>
        </p:txBody>
      </p:sp>
      <p:sp>
        <p:nvSpPr>
          <p:cNvPr id="27" name="Text 25"/>
          <p:cNvSpPr/>
          <p:nvPr/>
        </p:nvSpPr>
        <p:spPr>
          <a:xfrm>
            <a:off x="1737360" y="5029200"/>
            <a:ext cx="6766560" cy="45720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Độ nhạy: Fe (mm) + SUS (mm) + Non-Fe (mm)</a:t>
            </a:r>
            <a:endParaRPr lang="en-US" sz="1000" dirty="0"/>
          </a:p>
        </p:txBody>
      </p:sp>
      <p:sp>
        <p:nvSpPr>
          <p:cNvPr id="28" name="Shape 26"/>
          <p:cNvSpPr/>
          <p:nvPr/>
        </p:nvSpPr>
        <p:spPr>
          <a:xfrm>
            <a:off x="457200" y="5577840"/>
            <a:ext cx="8229600" cy="457200"/>
          </a:xfrm>
          <a:prstGeom prst="roundRect">
            <a:avLst>
              <a:gd name="adj" fmla="val 12000"/>
            </a:avLst>
          </a:prstGeom>
          <a:solidFill>
            <a:srgbClr val="F3F4F6"/>
          </a:solidFill>
          <a:ln/>
        </p:spPr>
      </p:sp>
      <p:sp>
        <p:nvSpPr>
          <p:cNvPr id="29" name="Text 27"/>
          <p:cNvSpPr/>
          <p:nvPr/>
        </p:nvSpPr>
        <p:spPr>
          <a:xfrm>
            <a:off x="640080" y="5577840"/>
            <a:ext cx="1097280" cy="457200"/>
          </a:xfrm>
          <a:prstGeom prst="rect">
            <a:avLst/>
          </a:prstGeom>
          <a:noFill/>
          <a:ln/>
        </p:spPr>
        <p:txBody>
          <a:bodyPr wrap="square" rtlCol="0" anchor="ctr"/>
          <a:lstStyle/>
          <a:p>
            <a:pPr indent="0" marL="0">
              <a:buNone/>
            </a:pPr>
            <a:r>
              <a:rPr lang="en-US" sz="1000" b="1" dirty="0">
                <a:solidFill>
                  <a:srgbClr val="1E40AF"/>
                </a:solidFill>
                <a:latin typeface="Arial" pitchFamily="34" charset="0"/>
                <a:ea typeface="Arial" pitchFamily="34" charset="-122"/>
                <a:cs typeface="Arial" pitchFamily="34" charset="-120"/>
              </a:rPr>
              <a:t>Hàng 4</a:t>
            </a:r>
            <a:endParaRPr lang="en-US" sz="1000" dirty="0"/>
          </a:p>
        </p:txBody>
      </p:sp>
      <p:sp>
        <p:nvSpPr>
          <p:cNvPr id="30" name="Text 28"/>
          <p:cNvSpPr/>
          <p:nvPr/>
        </p:nvSpPr>
        <p:spPr>
          <a:xfrm>
            <a:off x="1737360" y="5577840"/>
            <a:ext cx="6766560" cy="45720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Kết quả (nút PASS/FAIL) + Nút Lưu</a:t>
            </a:r>
            <a:endParaRPr lang="en-US" sz="1000" dirty="0"/>
          </a:p>
        </p:txBody>
      </p:sp>
      <p:sp>
        <p:nvSpPr>
          <p:cNvPr id="31" name="Shape 29"/>
          <p:cNvSpPr/>
          <p:nvPr/>
        </p:nvSpPr>
        <p:spPr>
          <a:xfrm>
            <a:off x="457200" y="6217920"/>
            <a:ext cx="8229600" cy="320040"/>
          </a:xfrm>
          <a:prstGeom prst="roundRect">
            <a:avLst>
              <a:gd name="adj" fmla="val 22857"/>
            </a:avLst>
          </a:prstGeom>
          <a:solidFill>
            <a:srgbClr val="FEF9C3"/>
          </a:solidFill>
          <a:ln/>
        </p:spPr>
      </p:sp>
      <p:sp>
        <p:nvSpPr>
          <p:cNvPr id="32" name="Text 30"/>
          <p:cNvSpPr/>
          <p:nvPr/>
        </p:nvSpPr>
        <p:spPr>
          <a:xfrm>
            <a:off x="548640" y="6217920"/>
            <a:ext cx="8046720" cy="32004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Chọn tab "Quick Entry" ở đầu trang Input Form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Nhập nhanh - Từng bước (1/2)</a:t>
            </a:r>
            <a:endParaRPr lang="en-US" sz="2400" dirty="0"/>
          </a:p>
        </p:txBody>
      </p:sp>
      <p:sp>
        <p:nvSpPr>
          <p:cNvPr id="4" name="Text 2"/>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6 / 16</a:t>
            </a:r>
            <a:endParaRPr lang="en-US" sz="800" dirty="0"/>
          </a:p>
        </p:txBody>
      </p:sp>
      <p:sp>
        <p:nvSpPr>
          <p:cNvPr id="5" name="Shape 3"/>
          <p:cNvSpPr/>
          <p:nvPr/>
        </p:nvSpPr>
        <p:spPr>
          <a:xfrm>
            <a:off x="365760" y="1005840"/>
            <a:ext cx="8412480" cy="1051560"/>
          </a:xfrm>
          <a:prstGeom prst="roundRect">
            <a:avLst>
              <a:gd name="adj" fmla="val 6957"/>
            </a:avLst>
          </a:prstGeom>
          <a:solidFill>
            <a:srgbClr val="EFF6FF"/>
          </a:solidFill>
          <a:ln/>
        </p:spPr>
      </p:sp>
      <p:sp>
        <p:nvSpPr>
          <p:cNvPr id="6" name="Shape 4"/>
          <p:cNvSpPr/>
          <p:nvPr/>
        </p:nvSpPr>
        <p:spPr>
          <a:xfrm>
            <a:off x="502920" y="1097280"/>
            <a:ext cx="320040" cy="320040"/>
          </a:xfrm>
          <a:prstGeom prst="ellipse">
            <a:avLst/>
          </a:prstGeom>
          <a:solidFill>
            <a:srgbClr val="1E40AF"/>
          </a:solidFill>
          <a:ln/>
        </p:spPr>
      </p:sp>
      <p:sp>
        <p:nvSpPr>
          <p:cNvPr id="7" name="Text 5"/>
          <p:cNvSpPr/>
          <p:nvPr/>
        </p:nvSpPr>
        <p:spPr>
          <a:xfrm>
            <a:off x="502920" y="109728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914400" y="1078992"/>
            <a:ext cx="41148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Chọn nhà máy</a:t>
            </a:r>
            <a:endParaRPr lang="en-US" sz="1400" dirty="0"/>
          </a:p>
        </p:txBody>
      </p:sp>
      <p:sp>
        <p:nvSpPr>
          <p:cNvPr id="9" name="Text 7"/>
          <p:cNvSpPr/>
          <p:nvPr/>
        </p:nvSpPr>
        <p:spPr>
          <a:xfrm>
            <a:off x="914400" y="1353312"/>
            <a:ext cx="4114800" cy="5486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Nhấp một trong các nút A / B / C / D.</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Nút được chọn chuyển sang màu xanh.</a:t>
            </a:r>
            <a:endParaRPr lang="en-US" sz="1200" dirty="0"/>
          </a:p>
        </p:txBody>
      </p:sp>
      <p:sp>
        <p:nvSpPr>
          <p:cNvPr id="10" name="Shape 8"/>
          <p:cNvSpPr/>
          <p:nvPr/>
        </p:nvSpPr>
        <p:spPr>
          <a:xfrm>
            <a:off x="6583680" y="1280160"/>
            <a:ext cx="2011680" cy="411480"/>
          </a:xfrm>
          <a:prstGeom prst="roundRect">
            <a:avLst>
              <a:gd name="adj" fmla="val 13333"/>
            </a:avLst>
          </a:prstGeom>
          <a:solidFill>
            <a:srgbClr val="1E40AF"/>
          </a:solidFill>
          <a:ln/>
        </p:spPr>
      </p:sp>
      <p:sp>
        <p:nvSpPr>
          <p:cNvPr id="11" name="Text 9"/>
          <p:cNvSpPr/>
          <p:nvPr/>
        </p:nvSpPr>
        <p:spPr>
          <a:xfrm>
            <a:off x="6583680" y="1280160"/>
            <a:ext cx="20116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Nhà máy</a:t>
            </a:r>
            <a:endParaRPr lang="en-US" sz="1100" dirty="0"/>
          </a:p>
        </p:txBody>
      </p:sp>
      <p:sp>
        <p:nvSpPr>
          <p:cNvPr id="12" name="Shape 10"/>
          <p:cNvSpPr/>
          <p:nvPr/>
        </p:nvSpPr>
        <p:spPr>
          <a:xfrm>
            <a:off x="365760" y="2240280"/>
            <a:ext cx="8412480" cy="1051560"/>
          </a:xfrm>
          <a:prstGeom prst="roundRect">
            <a:avLst>
              <a:gd name="adj" fmla="val 6957"/>
            </a:avLst>
          </a:prstGeom>
          <a:solidFill>
            <a:srgbClr val="F3F4F6"/>
          </a:solidFill>
          <a:ln/>
        </p:spPr>
      </p:sp>
      <p:sp>
        <p:nvSpPr>
          <p:cNvPr id="13" name="Shape 11"/>
          <p:cNvSpPr/>
          <p:nvPr/>
        </p:nvSpPr>
        <p:spPr>
          <a:xfrm>
            <a:off x="502920" y="2331720"/>
            <a:ext cx="320040" cy="320040"/>
          </a:xfrm>
          <a:prstGeom prst="ellipse">
            <a:avLst/>
          </a:prstGeom>
          <a:solidFill>
            <a:srgbClr val="1E40AF"/>
          </a:solidFill>
          <a:ln/>
        </p:spPr>
      </p:sp>
      <p:sp>
        <p:nvSpPr>
          <p:cNvPr id="14" name="Text 12"/>
          <p:cNvSpPr/>
          <p:nvPr/>
        </p:nvSpPr>
        <p:spPr>
          <a:xfrm>
            <a:off x="502920" y="233172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914400" y="2313432"/>
            <a:ext cx="41148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Chọn ngày</a:t>
            </a:r>
            <a:endParaRPr lang="en-US" sz="1400" dirty="0"/>
          </a:p>
        </p:txBody>
      </p:sp>
      <p:sp>
        <p:nvSpPr>
          <p:cNvPr id="16" name="Text 14"/>
          <p:cNvSpPr/>
          <p:nvPr/>
        </p:nvSpPr>
        <p:spPr>
          <a:xfrm>
            <a:off x="914400" y="2587752"/>
            <a:ext cx="4114800" cy="5486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Mặc định: Ngày hôm nay.</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Chỉ thay đổi khi nhập dữ liệu cũ.</a:t>
            </a:r>
            <a:endParaRPr lang="en-US" sz="1200" dirty="0"/>
          </a:p>
        </p:txBody>
      </p:sp>
      <p:sp>
        <p:nvSpPr>
          <p:cNvPr id="17" name="Shape 15"/>
          <p:cNvSpPr/>
          <p:nvPr/>
        </p:nvSpPr>
        <p:spPr>
          <a:xfrm>
            <a:off x="6583680" y="2514600"/>
            <a:ext cx="2011680" cy="411480"/>
          </a:xfrm>
          <a:prstGeom prst="roundRect">
            <a:avLst>
              <a:gd name="adj" fmla="val 13333"/>
            </a:avLst>
          </a:prstGeom>
          <a:solidFill>
            <a:srgbClr val="1E40AF"/>
          </a:solidFill>
          <a:ln/>
        </p:spPr>
      </p:sp>
      <p:sp>
        <p:nvSpPr>
          <p:cNvPr id="18" name="Text 16"/>
          <p:cNvSpPr/>
          <p:nvPr/>
        </p:nvSpPr>
        <p:spPr>
          <a:xfrm>
            <a:off x="6583680" y="2514600"/>
            <a:ext cx="20116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Ngày</a:t>
            </a:r>
            <a:endParaRPr lang="en-US" sz="1100" dirty="0"/>
          </a:p>
        </p:txBody>
      </p:sp>
      <p:sp>
        <p:nvSpPr>
          <p:cNvPr id="19" name="Shape 17"/>
          <p:cNvSpPr/>
          <p:nvPr/>
        </p:nvSpPr>
        <p:spPr>
          <a:xfrm>
            <a:off x="365760" y="3474720"/>
            <a:ext cx="8412480" cy="1051560"/>
          </a:xfrm>
          <a:prstGeom prst="roundRect">
            <a:avLst>
              <a:gd name="adj" fmla="val 6957"/>
            </a:avLst>
          </a:prstGeom>
          <a:solidFill>
            <a:srgbClr val="EFF6FF"/>
          </a:solidFill>
          <a:ln/>
        </p:spPr>
      </p:sp>
      <p:sp>
        <p:nvSpPr>
          <p:cNvPr id="20" name="Shape 18"/>
          <p:cNvSpPr/>
          <p:nvPr/>
        </p:nvSpPr>
        <p:spPr>
          <a:xfrm>
            <a:off x="502920" y="3566160"/>
            <a:ext cx="320040" cy="320040"/>
          </a:xfrm>
          <a:prstGeom prst="ellipse">
            <a:avLst/>
          </a:prstGeom>
          <a:solidFill>
            <a:srgbClr val="1E40AF"/>
          </a:solidFill>
          <a:ln/>
        </p:spPr>
      </p:sp>
      <p:sp>
        <p:nvSpPr>
          <p:cNvPr id="21" name="Text 19"/>
          <p:cNvSpPr/>
          <p:nvPr/>
        </p:nvSpPr>
        <p:spPr>
          <a:xfrm>
            <a:off x="502920" y="356616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2" name="Text 20"/>
          <p:cNvSpPr/>
          <p:nvPr/>
        </p:nvSpPr>
        <p:spPr>
          <a:xfrm>
            <a:off x="914400" y="3547872"/>
            <a:ext cx="41148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Nhập Line</a:t>
            </a:r>
            <a:endParaRPr lang="en-US" sz="1400" dirty="0"/>
          </a:p>
        </p:txBody>
      </p:sp>
      <p:sp>
        <p:nvSpPr>
          <p:cNvPr id="23" name="Text 21"/>
          <p:cNvSpPr/>
          <p:nvPr/>
        </p:nvSpPr>
        <p:spPr>
          <a:xfrm>
            <a:off x="914400" y="3822192"/>
            <a:ext cx="4114800" cy="5486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Nhập dây chuyền sản xuất (VD: "A-1", "B-3").</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Tự động gợi ý các line gần đây.</a:t>
            </a:r>
            <a:endParaRPr lang="en-US" sz="1200" dirty="0"/>
          </a:p>
        </p:txBody>
      </p:sp>
      <p:sp>
        <p:nvSpPr>
          <p:cNvPr id="24" name="Shape 22"/>
          <p:cNvSpPr/>
          <p:nvPr/>
        </p:nvSpPr>
        <p:spPr>
          <a:xfrm>
            <a:off x="6583680" y="3749040"/>
            <a:ext cx="2011680" cy="411480"/>
          </a:xfrm>
          <a:prstGeom prst="roundRect">
            <a:avLst>
              <a:gd name="adj" fmla="val 13333"/>
            </a:avLst>
          </a:prstGeom>
          <a:solidFill>
            <a:srgbClr val="1E40AF"/>
          </a:solidFill>
          <a:ln/>
        </p:spPr>
      </p:sp>
      <p:sp>
        <p:nvSpPr>
          <p:cNvPr id="25" name="Text 23"/>
          <p:cNvSpPr/>
          <p:nvPr/>
        </p:nvSpPr>
        <p:spPr>
          <a:xfrm>
            <a:off x="6583680" y="3749040"/>
            <a:ext cx="20116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Line</a:t>
            </a:r>
            <a:endParaRPr lang="en-US" sz="1100" dirty="0"/>
          </a:p>
        </p:txBody>
      </p:sp>
      <p:sp>
        <p:nvSpPr>
          <p:cNvPr id="26" name="Shape 24"/>
          <p:cNvSpPr/>
          <p:nvPr/>
        </p:nvSpPr>
        <p:spPr>
          <a:xfrm>
            <a:off x="365760" y="4709160"/>
            <a:ext cx="8412480" cy="1051560"/>
          </a:xfrm>
          <a:prstGeom prst="roundRect">
            <a:avLst>
              <a:gd name="adj" fmla="val 6957"/>
            </a:avLst>
          </a:prstGeom>
          <a:solidFill>
            <a:srgbClr val="F3F4F6"/>
          </a:solidFill>
          <a:ln/>
        </p:spPr>
      </p:sp>
      <p:sp>
        <p:nvSpPr>
          <p:cNvPr id="27" name="Shape 25"/>
          <p:cNvSpPr/>
          <p:nvPr/>
        </p:nvSpPr>
        <p:spPr>
          <a:xfrm>
            <a:off x="502920" y="4800600"/>
            <a:ext cx="320040" cy="320040"/>
          </a:xfrm>
          <a:prstGeom prst="ellipse">
            <a:avLst/>
          </a:prstGeom>
          <a:solidFill>
            <a:srgbClr val="1E40AF"/>
          </a:solidFill>
          <a:ln/>
        </p:spPr>
      </p:sp>
      <p:sp>
        <p:nvSpPr>
          <p:cNvPr id="28" name="Text 26"/>
          <p:cNvSpPr/>
          <p:nvPr/>
        </p:nvSpPr>
        <p:spPr>
          <a:xfrm>
            <a:off x="502920" y="480060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9" name="Text 27"/>
          <p:cNvSpPr/>
          <p:nvPr/>
        </p:nvSpPr>
        <p:spPr>
          <a:xfrm>
            <a:off x="914400" y="4782312"/>
            <a:ext cx="41148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Nhập mã máy</a:t>
            </a:r>
            <a:endParaRPr lang="en-US" sz="1400" dirty="0"/>
          </a:p>
        </p:txBody>
      </p:sp>
      <p:sp>
        <p:nvSpPr>
          <p:cNvPr id="30" name="Text 28"/>
          <p:cNvSpPr/>
          <p:nvPr/>
        </p:nvSpPr>
        <p:spPr>
          <a:xfrm>
            <a:off x="914400" y="5056632"/>
            <a:ext cx="4114800" cy="5486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Nhập mã thiết bị (VD: "D210103").</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Tự động gợi ý các ID gần đây.</a:t>
            </a:r>
            <a:endParaRPr lang="en-US" sz="1200" dirty="0"/>
          </a:p>
        </p:txBody>
      </p:sp>
      <p:sp>
        <p:nvSpPr>
          <p:cNvPr id="31" name="Shape 29"/>
          <p:cNvSpPr/>
          <p:nvPr/>
        </p:nvSpPr>
        <p:spPr>
          <a:xfrm>
            <a:off x="6583680" y="4983480"/>
            <a:ext cx="2011680" cy="411480"/>
          </a:xfrm>
          <a:prstGeom prst="roundRect">
            <a:avLst>
              <a:gd name="adj" fmla="val 13333"/>
            </a:avLst>
          </a:prstGeom>
          <a:solidFill>
            <a:srgbClr val="1E40AF"/>
          </a:solidFill>
          <a:ln/>
        </p:spPr>
      </p:sp>
      <p:sp>
        <p:nvSpPr>
          <p:cNvPr id="32" name="Text 30"/>
          <p:cNvSpPr/>
          <p:nvPr/>
        </p:nvSpPr>
        <p:spPr>
          <a:xfrm>
            <a:off x="6583680" y="4983480"/>
            <a:ext cx="20116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Mã máy</a:t>
            </a:r>
            <a:endParaRPr lang="en-US" sz="1100" dirty="0"/>
          </a:p>
        </p:txBody>
      </p:sp>
      <p:sp>
        <p:nvSpPr>
          <p:cNvPr id="33" name="Shape 31"/>
          <p:cNvSpPr/>
          <p:nvPr/>
        </p:nvSpPr>
        <p:spPr>
          <a:xfrm>
            <a:off x="365760" y="6035040"/>
            <a:ext cx="8412480" cy="411480"/>
          </a:xfrm>
          <a:prstGeom prst="roundRect">
            <a:avLst>
              <a:gd name="adj" fmla="val 17778"/>
            </a:avLst>
          </a:prstGeom>
          <a:solidFill>
            <a:srgbClr val="DCFCE7"/>
          </a:solidFill>
          <a:ln/>
        </p:spPr>
      </p:sp>
      <p:sp>
        <p:nvSpPr>
          <p:cNvPr id="34" name="Text 32"/>
          <p:cNvSpPr/>
          <p:nvPr/>
        </p:nvSpPr>
        <p:spPr>
          <a:xfrm>
            <a:off x="457200" y="6035040"/>
            <a:ext cx="8229600" cy="411480"/>
          </a:xfrm>
          <a:prstGeom prst="rect">
            <a:avLst/>
          </a:prstGeom>
          <a:noFill/>
          <a:ln/>
        </p:spPr>
        <p:txBody>
          <a:bodyPr wrap="square" rtlCol="0" anchor="ctr"/>
          <a:lstStyle/>
          <a:p>
            <a:pPr indent="0" marL="0">
              <a:buNone/>
            </a:pPr>
            <a:r>
              <a:rPr lang="en-US" sz="1000" dirty="0">
                <a:solidFill>
                  <a:srgbClr val="16A34A"/>
                </a:solidFill>
                <a:latin typeface="Arial" pitchFamily="34" charset="0"/>
                <a:ea typeface="Arial" pitchFamily="34" charset="-122"/>
                <a:cs typeface="Arial" pitchFamily="34" charset="-120"/>
              </a:rPr>
              <a:t>MẸO: Trường Line và Mã máy hiển thị gợi ý tự động dựa trên các lần nhập trước.</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Nhập nhanh - Từng bước (2/2)</a:t>
            </a:r>
            <a:endParaRPr lang="en-US" sz="2400" dirty="0"/>
          </a:p>
        </p:txBody>
      </p:sp>
      <p:sp>
        <p:nvSpPr>
          <p:cNvPr id="4" name="Text 2"/>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7 / 16</a:t>
            </a:r>
            <a:endParaRPr lang="en-US" sz="800" dirty="0"/>
          </a:p>
        </p:txBody>
      </p:sp>
      <p:sp>
        <p:nvSpPr>
          <p:cNvPr id="5" name="Shape 3"/>
          <p:cNvSpPr/>
          <p:nvPr/>
        </p:nvSpPr>
        <p:spPr>
          <a:xfrm>
            <a:off x="365760" y="1005840"/>
            <a:ext cx="8412480" cy="1234440"/>
          </a:xfrm>
          <a:prstGeom prst="roundRect">
            <a:avLst>
              <a:gd name="adj" fmla="val 5926"/>
            </a:avLst>
          </a:prstGeom>
          <a:solidFill>
            <a:srgbClr val="EFF6FF"/>
          </a:solidFill>
          <a:ln/>
        </p:spPr>
      </p:sp>
      <p:sp>
        <p:nvSpPr>
          <p:cNvPr id="6" name="Shape 4"/>
          <p:cNvSpPr/>
          <p:nvPr/>
        </p:nvSpPr>
        <p:spPr>
          <a:xfrm>
            <a:off x="502920" y="1097280"/>
            <a:ext cx="320040" cy="320040"/>
          </a:xfrm>
          <a:prstGeom prst="ellipse">
            <a:avLst/>
          </a:prstGeom>
          <a:solidFill>
            <a:srgbClr val="1E40AF"/>
          </a:solidFill>
          <a:ln/>
        </p:spPr>
      </p:sp>
      <p:sp>
        <p:nvSpPr>
          <p:cNvPr id="7" name="Text 5"/>
          <p:cNvSpPr/>
          <p:nvPr/>
        </p:nvSpPr>
        <p:spPr>
          <a:xfrm>
            <a:off x="502920" y="109728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8" name="Text 6"/>
          <p:cNvSpPr/>
          <p:nvPr/>
        </p:nvSpPr>
        <p:spPr>
          <a:xfrm>
            <a:off x="914400" y="1078992"/>
            <a:ext cx="41148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Nhập độ nhạy</a:t>
            </a:r>
            <a:endParaRPr lang="en-US" sz="1400" dirty="0"/>
          </a:p>
        </p:txBody>
      </p:sp>
      <p:sp>
        <p:nvSpPr>
          <p:cNvPr id="9" name="Text 7"/>
          <p:cNvSpPr/>
          <p:nvPr/>
        </p:nvSpPr>
        <p:spPr>
          <a:xfrm>
            <a:off x="914400" y="1353312"/>
            <a:ext cx="4114800" cy="7772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Nhập 3 giá trị tính bằng mm:</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  Fe (Sắt)</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  SUS (Thép không gỉ)</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  Non-Fe (Phi kim loại)</a:t>
            </a:r>
            <a:endParaRPr lang="en-US" sz="1200" dirty="0"/>
          </a:p>
        </p:txBody>
      </p:sp>
      <p:sp>
        <p:nvSpPr>
          <p:cNvPr id="10" name="Shape 8"/>
          <p:cNvSpPr/>
          <p:nvPr/>
        </p:nvSpPr>
        <p:spPr>
          <a:xfrm>
            <a:off x="6583680" y="1371600"/>
            <a:ext cx="2011680" cy="411480"/>
          </a:xfrm>
          <a:prstGeom prst="roundRect">
            <a:avLst>
              <a:gd name="adj" fmla="val 13333"/>
            </a:avLst>
          </a:prstGeom>
          <a:solidFill>
            <a:srgbClr val="1E40AF"/>
          </a:solidFill>
          <a:ln/>
        </p:spPr>
      </p:sp>
      <p:sp>
        <p:nvSpPr>
          <p:cNvPr id="11" name="Text 9"/>
          <p:cNvSpPr/>
          <p:nvPr/>
        </p:nvSpPr>
        <p:spPr>
          <a:xfrm>
            <a:off x="6583680" y="1371600"/>
            <a:ext cx="20116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Độ nhạy</a:t>
            </a:r>
            <a:endParaRPr lang="en-US" sz="1100" dirty="0"/>
          </a:p>
        </p:txBody>
      </p:sp>
      <p:sp>
        <p:nvSpPr>
          <p:cNvPr id="12" name="Shape 10"/>
          <p:cNvSpPr/>
          <p:nvPr/>
        </p:nvSpPr>
        <p:spPr>
          <a:xfrm>
            <a:off x="365760" y="2423160"/>
            <a:ext cx="8412480" cy="1234440"/>
          </a:xfrm>
          <a:prstGeom prst="roundRect">
            <a:avLst>
              <a:gd name="adj" fmla="val 5926"/>
            </a:avLst>
          </a:prstGeom>
          <a:solidFill>
            <a:srgbClr val="F3F4F6"/>
          </a:solidFill>
          <a:ln/>
        </p:spPr>
      </p:sp>
      <p:sp>
        <p:nvSpPr>
          <p:cNvPr id="13" name="Shape 11"/>
          <p:cNvSpPr/>
          <p:nvPr/>
        </p:nvSpPr>
        <p:spPr>
          <a:xfrm>
            <a:off x="502920" y="2514600"/>
            <a:ext cx="320040" cy="320040"/>
          </a:xfrm>
          <a:prstGeom prst="ellipse">
            <a:avLst/>
          </a:prstGeom>
          <a:solidFill>
            <a:srgbClr val="1E40AF"/>
          </a:solidFill>
          <a:ln/>
        </p:spPr>
      </p:sp>
      <p:sp>
        <p:nvSpPr>
          <p:cNvPr id="14" name="Text 12"/>
          <p:cNvSpPr/>
          <p:nvPr/>
        </p:nvSpPr>
        <p:spPr>
          <a:xfrm>
            <a:off x="502920" y="251460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15" name="Text 13"/>
          <p:cNvSpPr/>
          <p:nvPr/>
        </p:nvSpPr>
        <p:spPr>
          <a:xfrm>
            <a:off x="914400" y="2496312"/>
            <a:ext cx="41148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Chọn kết quả</a:t>
            </a:r>
            <a:endParaRPr lang="en-US" sz="1400" dirty="0"/>
          </a:p>
        </p:txBody>
      </p:sp>
      <p:sp>
        <p:nvSpPr>
          <p:cNvPr id="16" name="Text 14"/>
          <p:cNvSpPr/>
          <p:nvPr/>
        </p:nvSpPr>
        <p:spPr>
          <a:xfrm>
            <a:off x="914400" y="2770632"/>
            <a:ext cx="4114800" cy="7772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Nhấp PASS (xanh) hoặc FAIL (đỏ).</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Mặc định là PASS.</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Nếu FAIL: xuất hiện trường bổ sung.</a:t>
            </a:r>
            <a:endParaRPr lang="en-US" sz="1200" dirty="0"/>
          </a:p>
        </p:txBody>
      </p:sp>
      <p:sp>
        <p:nvSpPr>
          <p:cNvPr id="17" name="Shape 15"/>
          <p:cNvSpPr/>
          <p:nvPr/>
        </p:nvSpPr>
        <p:spPr>
          <a:xfrm>
            <a:off x="6583680" y="2788920"/>
            <a:ext cx="2011680" cy="411480"/>
          </a:xfrm>
          <a:prstGeom prst="roundRect">
            <a:avLst>
              <a:gd name="adj" fmla="val 13333"/>
            </a:avLst>
          </a:prstGeom>
          <a:solidFill>
            <a:srgbClr val="F97316"/>
          </a:solidFill>
          <a:ln/>
        </p:spPr>
      </p:sp>
      <p:sp>
        <p:nvSpPr>
          <p:cNvPr id="18" name="Text 16"/>
          <p:cNvSpPr/>
          <p:nvPr/>
        </p:nvSpPr>
        <p:spPr>
          <a:xfrm>
            <a:off x="6583680" y="2788920"/>
            <a:ext cx="20116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Kết quả</a:t>
            </a:r>
            <a:endParaRPr lang="en-US" sz="1100" dirty="0"/>
          </a:p>
        </p:txBody>
      </p:sp>
      <p:sp>
        <p:nvSpPr>
          <p:cNvPr id="19" name="Shape 17"/>
          <p:cNvSpPr/>
          <p:nvPr/>
        </p:nvSpPr>
        <p:spPr>
          <a:xfrm>
            <a:off x="365760" y="3840480"/>
            <a:ext cx="8412480" cy="1234440"/>
          </a:xfrm>
          <a:prstGeom prst="roundRect">
            <a:avLst>
              <a:gd name="adj" fmla="val 5926"/>
            </a:avLst>
          </a:prstGeom>
          <a:solidFill>
            <a:srgbClr val="EFF6FF"/>
          </a:solidFill>
          <a:ln/>
        </p:spPr>
      </p:sp>
      <p:sp>
        <p:nvSpPr>
          <p:cNvPr id="20" name="Shape 18"/>
          <p:cNvSpPr/>
          <p:nvPr/>
        </p:nvSpPr>
        <p:spPr>
          <a:xfrm>
            <a:off x="502920" y="3931920"/>
            <a:ext cx="320040" cy="320040"/>
          </a:xfrm>
          <a:prstGeom prst="ellipse">
            <a:avLst/>
          </a:prstGeom>
          <a:solidFill>
            <a:srgbClr val="1E40AF"/>
          </a:solidFill>
          <a:ln/>
        </p:spPr>
      </p:sp>
      <p:sp>
        <p:nvSpPr>
          <p:cNvPr id="21" name="Text 19"/>
          <p:cNvSpPr/>
          <p:nvPr/>
        </p:nvSpPr>
        <p:spPr>
          <a:xfrm>
            <a:off x="502920" y="393192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22" name="Text 20"/>
          <p:cNvSpPr/>
          <p:nvPr/>
        </p:nvSpPr>
        <p:spPr>
          <a:xfrm>
            <a:off x="914400" y="3913632"/>
            <a:ext cx="41148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Nhấp Lưu</a:t>
            </a:r>
            <a:endParaRPr lang="en-US" sz="1400" dirty="0"/>
          </a:p>
        </p:txBody>
      </p:sp>
      <p:sp>
        <p:nvSpPr>
          <p:cNvPr id="23" name="Text 21"/>
          <p:cNvSpPr/>
          <p:nvPr/>
        </p:nvSpPr>
        <p:spPr>
          <a:xfrm>
            <a:off x="914400" y="4187952"/>
            <a:ext cx="4114800" cy="77724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Nút được kích hoạt khi đã điền đủ trường bắt buộc.</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Thông báo thành công xuất hiện ở trên.</a:t>
            </a:r>
            <a:endParaRPr lang="en-US" sz="1200" dirty="0"/>
          </a:p>
        </p:txBody>
      </p:sp>
      <p:sp>
        <p:nvSpPr>
          <p:cNvPr id="24" name="Shape 22"/>
          <p:cNvSpPr/>
          <p:nvPr/>
        </p:nvSpPr>
        <p:spPr>
          <a:xfrm>
            <a:off x="6583680" y="4206240"/>
            <a:ext cx="2011680" cy="411480"/>
          </a:xfrm>
          <a:prstGeom prst="roundRect">
            <a:avLst>
              <a:gd name="adj" fmla="val 13333"/>
            </a:avLst>
          </a:prstGeom>
          <a:solidFill>
            <a:srgbClr val="1E40AF"/>
          </a:solidFill>
          <a:ln/>
        </p:spPr>
      </p:sp>
      <p:sp>
        <p:nvSpPr>
          <p:cNvPr id="25" name="Text 23"/>
          <p:cNvSpPr/>
          <p:nvPr/>
        </p:nvSpPr>
        <p:spPr>
          <a:xfrm>
            <a:off x="6583680" y="4206240"/>
            <a:ext cx="20116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Lưu</a:t>
            </a:r>
            <a:endParaRPr lang="en-US" sz="1100" dirty="0"/>
          </a:p>
        </p:txBody>
      </p:sp>
      <p:sp>
        <p:nvSpPr>
          <p:cNvPr id="26" name="Shape 24"/>
          <p:cNvSpPr/>
          <p:nvPr/>
        </p:nvSpPr>
        <p:spPr>
          <a:xfrm>
            <a:off x="365760" y="5394960"/>
            <a:ext cx="8412480" cy="502920"/>
          </a:xfrm>
          <a:prstGeom prst="roundRect">
            <a:avLst>
              <a:gd name="adj" fmla="val 14545"/>
            </a:avLst>
          </a:prstGeom>
          <a:solidFill>
            <a:srgbClr val="FEE2E2"/>
          </a:solidFill>
          <a:ln/>
        </p:spPr>
      </p:sp>
      <p:sp>
        <p:nvSpPr>
          <p:cNvPr id="27" name="Text 25"/>
          <p:cNvSpPr/>
          <p:nvPr/>
        </p:nvSpPr>
        <p:spPr>
          <a:xfrm>
            <a:off x="457200" y="5394960"/>
            <a:ext cx="8229600" cy="502920"/>
          </a:xfrm>
          <a:prstGeom prst="rect">
            <a:avLst/>
          </a:prstGeom>
          <a:noFill/>
          <a:ln/>
        </p:spPr>
        <p:txBody>
          <a:bodyPr wrap="square" rtlCol="0" anchor="ctr"/>
          <a:lstStyle/>
          <a:p>
            <a:pPr indent="0" marL="0">
              <a:buNone/>
            </a:pPr>
            <a:r>
              <a:rPr lang="en-US" sz="1100" b="1" dirty="0">
                <a:solidFill>
                  <a:srgbClr val="DC2626"/>
                </a:solidFill>
                <a:latin typeface="Arial" pitchFamily="34" charset="0"/>
                <a:ea typeface="Arial" pitchFamily="34" charset="-122"/>
                <a:cs typeface="Arial" pitchFamily="34" charset="-120"/>
              </a:rPr>
              <a:t>QUAN TRỌNG: Nếu bạn chọn FAIL, bạn PHẢI điền Loại lỗi và Mô tả trước khi lưu.</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Nhập nhanh - Xử lý FAIL</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Khi bạn chọn FAIL, vùng có viền đỏ xuất hiện bên dưới nút kết quả:</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8 / 16</a:t>
            </a:r>
            <a:endParaRPr lang="en-US" sz="800" dirty="0"/>
          </a:p>
        </p:txBody>
      </p:sp>
      <p:sp>
        <p:nvSpPr>
          <p:cNvPr id="6" name="Shape 4"/>
          <p:cNvSpPr/>
          <p:nvPr/>
        </p:nvSpPr>
        <p:spPr>
          <a:xfrm>
            <a:off x="457200" y="1280160"/>
            <a:ext cx="8229600" cy="1463040"/>
          </a:xfrm>
          <a:prstGeom prst="roundRect">
            <a:avLst>
              <a:gd name="adj" fmla="val 5000"/>
            </a:avLst>
          </a:prstGeom>
          <a:solidFill>
            <a:srgbClr val="FEE2E2"/>
          </a:solidFill>
          <a:ln w="12700">
            <a:solidFill>
              <a:srgbClr val="EF4444"/>
            </a:solidFill>
            <a:prstDash val="solid"/>
          </a:ln>
        </p:spPr>
      </p:sp>
      <p:sp>
        <p:nvSpPr>
          <p:cNvPr id="7" name="Text 5"/>
          <p:cNvSpPr/>
          <p:nvPr/>
        </p:nvSpPr>
        <p:spPr>
          <a:xfrm>
            <a:off x="640080" y="1371600"/>
            <a:ext cx="7863840" cy="27432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Loại lỗi (Bắt buộc)</a:t>
            </a:r>
            <a:endParaRPr lang="en-US" sz="1300" dirty="0"/>
          </a:p>
        </p:txBody>
      </p:sp>
      <p:sp>
        <p:nvSpPr>
          <p:cNvPr id="8" name="Text 6"/>
          <p:cNvSpPr/>
          <p:nvPr/>
        </p:nvSpPr>
        <p:spPr>
          <a:xfrm>
            <a:off x="640080" y="1691640"/>
            <a:ext cx="7863840" cy="914400"/>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Chọn từ danh sách:</a:t>
            </a:r>
            <a:endParaRPr lang="en-US" sz="1100" dirty="0"/>
          </a:p>
          <a:p>
            <a:pPr indent="0" marL="0">
              <a:buNone/>
            </a:pPr>
            <a:r>
              <a:rPr lang="en-US" sz="1100" dirty="0">
                <a:solidFill>
                  <a:srgbClr val="1F2937"/>
                </a:solidFill>
                <a:latin typeface="Arial" pitchFamily="34" charset="0"/>
                <a:ea typeface="Arial" pitchFamily="34" charset="-122"/>
                <a:cs typeface="Arial" pitchFamily="34" charset="-120"/>
              </a:rPr>
              <a:t>  - Trôi độ nhạy</a:t>
            </a:r>
            <a:endParaRPr lang="en-US" sz="1100" dirty="0"/>
          </a:p>
          <a:p>
            <a:pPr indent="0" marL="0">
              <a:buNone/>
            </a:pPr>
            <a:r>
              <a:rPr lang="en-US" sz="1100" dirty="0">
                <a:solidFill>
                  <a:srgbClr val="1F2937"/>
                </a:solidFill>
                <a:latin typeface="Arial" pitchFamily="34" charset="0"/>
                <a:ea typeface="Arial" pitchFamily="34" charset="-122"/>
                <a:cs typeface="Arial" pitchFamily="34" charset="-120"/>
              </a:rPr>
              <a:t>  - Thiết bị trục trặc</a:t>
            </a:r>
            <a:endParaRPr lang="en-US" sz="1100" dirty="0"/>
          </a:p>
          <a:p>
            <a:pPr indent="0" marL="0">
              <a:buNone/>
            </a:pPr>
            <a:r>
              <a:rPr lang="en-US" sz="1100" dirty="0">
                <a:solidFill>
                  <a:srgbClr val="1F2937"/>
                </a:solidFill>
                <a:latin typeface="Arial" pitchFamily="34" charset="0"/>
                <a:ea typeface="Arial" pitchFamily="34" charset="-122"/>
                <a:cs typeface="Arial" pitchFamily="34" charset="-120"/>
              </a:rPr>
              <a:t>  - Lỗi hiệu chuẩn</a:t>
            </a:r>
            <a:endParaRPr lang="en-US" sz="1100" dirty="0"/>
          </a:p>
          <a:p>
            <a:pPr indent="0" marL="0">
              <a:buNone/>
            </a:pPr>
            <a:r>
              <a:rPr lang="en-US" sz="1100" dirty="0">
                <a:solidFill>
                  <a:srgbClr val="1F2937"/>
                </a:solidFill>
                <a:latin typeface="Arial" pitchFamily="34" charset="0"/>
                <a:ea typeface="Arial" pitchFamily="34" charset="-122"/>
                <a:cs typeface="Arial" pitchFamily="34" charset="-120"/>
              </a:rPr>
              <a:t>  - Vật thể lạ</a:t>
            </a:r>
            <a:endParaRPr lang="en-US" sz="1100" dirty="0"/>
          </a:p>
          <a:p>
            <a:pPr indent="0" marL="0">
              <a:buNone/>
            </a:pPr>
            <a:r>
              <a:rPr lang="en-US" sz="1100" dirty="0">
                <a:solidFill>
                  <a:srgbClr val="1F2937"/>
                </a:solidFill>
                <a:latin typeface="Arial" pitchFamily="34" charset="0"/>
                <a:ea typeface="Arial" pitchFamily="34" charset="-122"/>
                <a:cs typeface="Arial" pitchFamily="34" charset="-120"/>
              </a:rPr>
              <a:t>  - Khác</a:t>
            </a:r>
            <a:endParaRPr lang="en-US" sz="1100" dirty="0"/>
          </a:p>
        </p:txBody>
      </p:sp>
      <p:sp>
        <p:nvSpPr>
          <p:cNvPr id="9" name="Shape 7"/>
          <p:cNvSpPr/>
          <p:nvPr/>
        </p:nvSpPr>
        <p:spPr>
          <a:xfrm>
            <a:off x="457200" y="2926080"/>
            <a:ext cx="8229600" cy="1463040"/>
          </a:xfrm>
          <a:prstGeom prst="roundRect">
            <a:avLst>
              <a:gd name="adj" fmla="val 5000"/>
            </a:avLst>
          </a:prstGeom>
          <a:solidFill>
            <a:srgbClr val="FEE2E2"/>
          </a:solidFill>
          <a:ln w="12700">
            <a:solidFill>
              <a:srgbClr val="EF4444"/>
            </a:solidFill>
            <a:prstDash val="solid"/>
          </a:ln>
        </p:spPr>
      </p:sp>
      <p:sp>
        <p:nvSpPr>
          <p:cNvPr id="10" name="Text 8"/>
          <p:cNvSpPr/>
          <p:nvPr/>
        </p:nvSpPr>
        <p:spPr>
          <a:xfrm>
            <a:off x="640080" y="3017520"/>
            <a:ext cx="7863840" cy="27432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Mô tả lỗi (Bắt buộc)</a:t>
            </a:r>
            <a:endParaRPr lang="en-US" sz="1300" dirty="0"/>
          </a:p>
        </p:txBody>
      </p:sp>
      <p:sp>
        <p:nvSpPr>
          <p:cNvPr id="11" name="Text 9"/>
          <p:cNvSpPr/>
          <p:nvPr/>
        </p:nvSpPr>
        <p:spPr>
          <a:xfrm>
            <a:off x="640080" y="3337560"/>
            <a:ext cx="7863840" cy="914400"/>
          </a:xfrm>
          <a:prstGeom prst="rect">
            <a:avLst/>
          </a:prstGeom>
          <a:noFill/>
          <a:ln/>
        </p:spPr>
        <p:txBody>
          <a:bodyPr wrap="square" rtlCol="0" anchor="ctr"/>
          <a:lstStyle/>
          <a:p>
            <a:pPr indent="0" marL="0">
              <a:buNone/>
            </a:pPr>
            <a:r>
              <a:rPr lang="en-US" sz="1100" dirty="0">
                <a:solidFill>
                  <a:srgbClr val="1F2937"/>
                </a:solidFill>
                <a:latin typeface="Arial" pitchFamily="34" charset="0"/>
                <a:ea typeface="Arial" pitchFamily="34" charset="-122"/>
                <a:cs typeface="Arial" pitchFamily="34" charset="-120"/>
              </a:rPr>
              <a:t>Nhập mô tả chi tiết về những gì đã xảy ra.</a:t>
            </a:r>
            <a:endParaRPr lang="en-US" sz="1100" dirty="0"/>
          </a:p>
        </p:txBody>
      </p:sp>
      <p:sp>
        <p:nvSpPr>
          <p:cNvPr id="12" name="Shape 10"/>
          <p:cNvSpPr/>
          <p:nvPr/>
        </p:nvSpPr>
        <p:spPr>
          <a:xfrm>
            <a:off x="457200" y="4754880"/>
            <a:ext cx="8229600" cy="502920"/>
          </a:xfrm>
          <a:prstGeom prst="roundRect">
            <a:avLst>
              <a:gd name="adj" fmla="val 14545"/>
            </a:avLst>
          </a:prstGeom>
          <a:solidFill>
            <a:srgbClr val="EFF6FF"/>
          </a:solidFill>
          <a:ln/>
        </p:spPr>
      </p:sp>
      <p:sp>
        <p:nvSpPr>
          <p:cNvPr id="13" name="Text 11"/>
          <p:cNvSpPr/>
          <p:nvPr/>
        </p:nvSpPr>
        <p:spPr>
          <a:xfrm>
            <a:off x="548640" y="4754880"/>
            <a:ext cx="8046720" cy="502920"/>
          </a:xfrm>
          <a:prstGeom prst="rect">
            <a:avLst/>
          </a:prstGeom>
          <a:noFill/>
          <a:ln/>
        </p:spPr>
        <p:txBody>
          <a:bodyPr wrap="square" rtlCol="0" anchor="ctr"/>
          <a:lstStyle/>
          <a:p>
            <a:pPr indent="0" marL="0">
              <a:buNone/>
            </a:pPr>
            <a:r>
              <a:rPr lang="en-US" sz="1100" b="1" dirty="0">
                <a:solidFill>
                  <a:srgbClr val="1E3A8A"/>
                </a:solidFill>
                <a:latin typeface="Arial" pitchFamily="34" charset="0"/>
                <a:ea typeface="Arial" pitchFamily="34" charset="-122"/>
                <a:cs typeface="Arial" pitchFamily="34" charset="-120"/>
              </a:rPr>
              <a:t>TỰ ĐỘNG: Khi bản ghi FAIL được lưu, hành động khắc phục (CA) tự động được tạo với trạng thái "Chờ xử lý".</a:t>
            </a:r>
            <a:endParaRPr lang="en-US" sz="1100" dirty="0"/>
          </a:p>
        </p:txBody>
      </p:sp>
      <p:sp>
        <p:nvSpPr>
          <p:cNvPr id="14" name="Shape 12"/>
          <p:cNvSpPr/>
          <p:nvPr/>
        </p:nvSpPr>
        <p:spPr>
          <a:xfrm>
            <a:off x="457200" y="5394960"/>
            <a:ext cx="8229600" cy="457200"/>
          </a:xfrm>
          <a:prstGeom prst="roundRect">
            <a:avLst>
              <a:gd name="adj" fmla="val 12000"/>
            </a:avLst>
          </a:prstGeom>
          <a:solidFill>
            <a:srgbClr val="F3F4F6"/>
          </a:solidFill>
          <a:ln/>
        </p:spPr>
      </p:sp>
      <p:sp>
        <p:nvSpPr>
          <p:cNvPr id="15" name="Text 13"/>
          <p:cNvSpPr/>
          <p:nvPr/>
        </p:nvSpPr>
        <p:spPr>
          <a:xfrm>
            <a:off x="640080" y="5394960"/>
            <a:ext cx="7863840" cy="457200"/>
          </a:xfrm>
          <a:prstGeom prst="rect">
            <a:avLst/>
          </a:prstGeom>
          <a:noFill/>
          <a:ln/>
        </p:spPr>
        <p:txBody>
          <a:bodyPr wrap="square" rtlCol="0" anchor="ctr"/>
          <a:lstStyle/>
          <a:p>
            <a:pPr algn="ctr" indent="0" marL="0">
              <a:buNone/>
            </a:pPr>
            <a:r>
              <a:rPr lang="en-US" sz="1100" b="1" dirty="0">
                <a:solidFill>
                  <a:srgbClr val="1E40AF"/>
                </a:solidFill>
                <a:latin typeface="Arial" pitchFamily="34" charset="0"/>
                <a:ea typeface="Arial" pitchFamily="34" charset="-122"/>
                <a:cs typeface="Arial" pitchFamily="34" charset="-120"/>
              </a:rPr>
              <a:t>Lưu FAIL  →  Tạo CA (Chờ xử lý)  →  Thông báo cho nhóm bảo trì  →  Theo dõi trên trang Lịch sử</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Nhập nhanh - Mẹo nhập liên tục</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Được thiết kế để kiểm tra nhiều máy nhanh chóng:</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9 / 16</a:t>
            </a:r>
            <a:endParaRPr lang="en-US" sz="800" dirty="0"/>
          </a:p>
        </p:txBody>
      </p:sp>
      <p:sp>
        <p:nvSpPr>
          <p:cNvPr id="6" name="Shape 4"/>
          <p:cNvSpPr/>
          <p:nvPr/>
        </p:nvSpPr>
        <p:spPr>
          <a:xfrm>
            <a:off x="365760" y="1188720"/>
            <a:ext cx="4023360" cy="2560320"/>
          </a:xfrm>
          <a:prstGeom prst="roundRect">
            <a:avLst>
              <a:gd name="adj" fmla="val 2857"/>
            </a:avLst>
          </a:prstGeom>
          <a:solidFill>
            <a:srgbClr val="DCFCE7"/>
          </a:solidFill>
          <a:ln/>
        </p:spPr>
      </p:sp>
      <p:sp>
        <p:nvSpPr>
          <p:cNvPr id="7" name="Text 5"/>
          <p:cNvSpPr/>
          <p:nvPr/>
        </p:nvSpPr>
        <p:spPr>
          <a:xfrm>
            <a:off x="548640" y="1280160"/>
            <a:ext cx="3657600" cy="320040"/>
          </a:xfrm>
          <a:prstGeom prst="rect">
            <a:avLst/>
          </a:prstGeom>
          <a:noFill/>
          <a:ln/>
        </p:spPr>
        <p:txBody>
          <a:bodyPr wrap="square" rtlCol="0" anchor="ctr"/>
          <a:lstStyle/>
          <a:p>
            <a:pPr indent="0" marL="0">
              <a:buNone/>
            </a:pPr>
            <a:r>
              <a:rPr lang="en-US" sz="1200" b="1" dirty="0">
                <a:solidFill>
                  <a:srgbClr val="16A34A"/>
                </a:solidFill>
                <a:latin typeface="Arial" pitchFamily="34" charset="0"/>
                <a:ea typeface="Arial" pitchFamily="34" charset="-122"/>
                <a:cs typeface="Arial" pitchFamily="34" charset="-120"/>
              </a:rPr>
              <a:t>Tự động giữ lại sau khi lưu</a:t>
            </a:r>
            <a:endParaRPr lang="en-US" sz="1200" dirty="0"/>
          </a:p>
        </p:txBody>
      </p:sp>
      <p:sp>
        <p:nvSpPr>
          <p:cNvPr id="8" name="Text 6"/>
          <p:cNvSpPr/>
          <p:nvPr/>
        </p:nvSpPr>
        <p:spPr>
          <a:xfrm>
            <a:off x="548640" y="169164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Nhà máy đã chọn</a:t>
            </a:r>
            <a:endParaRPr lang="en-US" sz="1100" dirty="0"/>
          </a:p>
        </p:txBody>
      </p:sp>
      <p:sp>
        <p:nvSpPr>
          <p:cNvPr id="9" name="Text 7"/>
          <p:cNvSpPr/>
          <p:nvPr/>
        </p:nvSpPr>
        <p:spPr>
          <a:xfrm>
            <a:off x="548640" y="210312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Ngày kiểm tra</a:t>
            </a:r>
            <a:endParaRPr lang="en-US" sz="1100" dirty="0"/>
          </a:p>
        </p:txBody>
      </p:sp>
      <p:sp>
        <p:nvSpPr>
          <p:cNvPr id="10" name="Text 8"/>
          <p:cNvSpPr/>
          <p:nvPr/>
        </p:nvSpPr>
        <p:spPr>
          <a:xfrm>
            <a:off x="548640" y="251460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Tên người kiểm tra</a:t>
            </a:r>
            <a:endParaRPr lang="en-US" sz="1100" dirty="0"/>
          </a:p>
        </p:txBody>
      </p:sp>
      <p:sp>
        <p:nvSpPr>
          <p:cNvPr id="11" name="Text 9"/>
          <p:cNvSpPr/>
          <p:nvPr/>
        </p:nvSpPr>
        <p:spPr>
          <a:xfrm>
            <a:off x="548640" y="292608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Giá trị độ nhạy (Fe, SUS, Non-Fe)</a:t>
            </a:r>
            <a:endParaRPr lang="en-US" sz="1100" dirty="0"/>
          </a:p>
        </p:txBody>
      </p:sp>
      <p:sp>
        <p:nvSpPr>
          <p:cNvPr id="12" name="Shape 10"/>
          <p:cNvSpPr/>
          <p:nvPr/>
        </p:nvSpPr>
        <p:spPr>
          <a:xfrm>
            <a:off x="4754880" y="1188720"/>
            <a:ext cx="4023360" cy="2560320"/>
          </a:xfrm>
          <a:prstGeom prst="roundRect">
            <a:avLst>
              <a:gd name="adj" fmla="val 2857"/>
            </a:avLst>
          </a:prstGeom>
          <a:solidFill>
            <a:srgbClr val="EFF6FF"/>
          </a:solidFill>
          <a:ln/>
        </p:spPr>
      </p:sp>
      <p:sp>
        <p:nvSpPr>
          <p:cNvPr id="13" name="Text 11"/>
          <p:cNvSpPr/>
          <p:nvPr/>
        </p:nvSpPr>
        <p:spPr>
          <a:xfrm>
            <a:off x="4937760" y="1280160"/>
            <a:ext cx="3657600" cy="320040"/>
          </a:xfrm>
          <a:prstGeom prst="rect">
            <a:avLst/>
          </a:prstGeom>
          <a:noFill/>
          <a:ln/>
        </p:spPr>
        <p:txBody>
          <a:bodyPr wrap="square" rtlCol="0" anchor="ctr"/>
          <a:lstStyle/>
          <a:p>
            <a:pPr indent="0" marL="0">
              <a:buNone/>
            </a:pPr>
            <a:r>
              <a:rPr lang="en-US" sz="1200" b="1" dirty="0">
                <a:solidFill>
                  <a:srgbClr val="1E40AF"/>
                </a:solidFill>
                <a:latin typeface="Arial" pitchFamily="34" charset="0"/>
                <a:ea typeface="Arial" pitchFamily="34" charset="-122"/>
                <a:cs typeface="Arial" pitchFamily="34" charset="-120"/>
              </a:rPr>
              <a:t>Xóa sau khi lưu (Nhập mới)</a:t>
            </a:r>
            <a:endParaRPr lang="en-US" sz="1200" dirty="0"/>
          </a:p>
        </p:txBody>
      </p:sp>
      <p:sp>
        <p:nvSpPr>
          <p:cNvPr id="14" name="Text 12"/>
          <p:cNvSpPr/>
          <p:nvPr/>
        </p:nvSpPr>
        <p:spPr>
          <a:xfrm>
            <a:off x="4937760" y="169164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Số line</a:t>
            </a:r>
            <a:endParaRPr lang="en-US" sz="1100" dirty="0"/>
          </a:p>
        </p:txBody>
      </p:sp>
      <p:sp>
        <p:nvSpPr>
          <p:cNvPr id="15" name="Text 13"/>
          <p:cNvSpPr/>
          <p:nvPr/>
        </p:nvSpPr>
        <p:spPr>
          <a:xfrm>
            <a:off x="4937760" y="210312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Mã máy</a:t>
            </a:r>
            <a:endParaRPr lang="en-US" sz="1100" dirty="0"/>
          </a:p>
        </p:txBody>
      </p:sp>
      <p:sp>
        <p:nvSpPr>
          <p:cNvPr id="16" name="Text 14"/>
          <p:cNvSpPr/>
          <p:nvPr/>
        </p:nvSpPr>
        <p:spPr>
          <a:xfrm>
            <a:off x="4937760" y="251460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Kết quả (đặt lại thành PASS)</a:t>
            </a:r>
            <a:endParaRPr lang="en-US" sz="1100" dirty="0"/>
          </a:p>
        </p:txBody>
      </p:sp>
      <p:sp>
        <p:nvSpPr>
          <p:cNvPr id="17" name="Text 15"/>
          <p:cNvSpPr/>
          <p:nvPr/>
        </p:nvSpPr>
        <p:spPr>
          <a:xfrm>
            <a:off x="4937760" y="292608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Ghi chú</a:t>
            </a:r>
            <a:endParaRPr lang="en-US" sz="1100" dirty="0"/>
          </a:p>
        </p:txBody>
      </p:sp>
      <p:sp>
        <p:nvSpPr>
          <p:cNvPr id="18" name="Text 16"/>
          <p:cNvSpPr/>
          <p:nvPr/>
        </p:nvSpPr>
        <p:spPr>
          <a:xfrm>
            <a:off x="4937760" y="3337560"/>
            <a:ext cx="3657600" cy="365760"/>
          </a:xfrm>
          <a:prstGeom prst="rect">
            <a:avLst/>
          </a:prstGeom>
          <a:noFill/>
          <a:ln/>
        </p:spPr>
        <p:txBody>
          <a:bodyPr wrap="square" rtlCol="0" anchor="ctr"/>
          <a:lstStyle/>
          <a:p>
            <a:pPr marL="342900" indent="-342900">
              <a:buSzPct val="100000"/>
              <a:buChar char="•"/>
            </a:pPr>
            <a:r>
              <a:rPr lang="en-US" sz="1100" dirty="0">
                <a:solidFill>
                  <a:srgbClr val="1F2937"/>
                </a:solidFill>
                <a:latin typeface="Arial" pitchFamily="34" charset="0"/>
                <a:ea typeface="Arial" pitchFamily="34" charset="-122"/>
                <a:cs typeface="Arial" pitchFamily="34" charset="-120"/>
              </a:rPr>
              <a:t>  Chi tiết lỗi (nếu có)</a:t>
            </a:r>
            <a:endParaRPr lang="en-US" sz="1100" dirty="0"/>
          </a:p>
        </p:txBody>
      </p:sp>
      <p:sp>
        <p:nvSpPr>
          <p:cNvPr id="19" name="Text 17"/>
          <p:cNvSpPr/>
          <p:nvPr/>
        </p:nvSpPr>
        <p:spPr>
          <a:xfrm>
            <a:off x="365760" y="3931920"/>
            <a:ext cx="8412480" cy="274320"/>
          </a:xfrm>
          <a:prstGeom prst="rect">
            <a:avLst/>
          </a:prstGeom>
          <a:noFill/>
          <a:ln/>
        </p:spPr>
        <p:txBody>
          <a:bodyPr wrap="square" rtlCol="0" anchor="ctr"/>
          <a:lstStyle/>
          <a:p>
            <a:pPr indent="0" marL="0">
              <a:buNone/>
            </a:pPr>
            <a:r>
              <a:rPr lang="en-US" sz="1400" b="1" dirty="0">
                <a:solidFill>
                  <a:srgbClr val="1E3A8A"/>
                </a:solidFill>
                <a:latin typeface="Arial" pitchFamily="34" charset="0"/>
                <a:ea typeface="Arial" pitchFamily="34" charset="-122"/>
                <a:cs typeface="Arial" pitchFamily="34" charset="-120"/>
              </a:rPr>
              <a:t>Tips:</a:t>
            </a:r>
            <a:endParaRPr lang="en-US" sz="1400" dirty="0"/>
          </a:p>
        </p:txBody>
      </p:sp>
      <p:sp>
        <p:nvSpPr>
          <p:cNvPr id="20" name="Text 18"/>
          <p:cNvSpPr/>
          <p:nvPr/>
        </p:nvSpPr>
        <p:spPr>
          <a:xfrm>
            <a:off x="457200" y="4297680"/>
            <a:ext cx="8229600" cy="411480"/>
          </a:xfrm>
          <a:prstGeom prst="rect">
            <a:avLst/>
          </a:prstGeom>
          <a:noFill/>
          <a:ln/>
        </p:spPr>
        <p:txBody>
          <a:bodyPr wrap="square" rtlCol="0" anchor="ctr"/>
          <a:lstStyle/>
          <a:p>
            <a:pPr marL="342900" indent="-342900">
              <a:buSzPct val="100000"/>
              <a:buChar char="•"/>
            </a:pPr>
            <a:r>
              <a:rPr lang="en-US" sz="1000" dirty="0">
                <a:solidFill>
                  <a:srgbClr val="1F2937"/>
                </a:solidFill>
                <a:latin typeface="Arial" pitchFamily="34" charset="0"/>
                <a:ea typeface="Arial" pitchFamily="34" charset="-122"/>
                <a:cs typeface="Arial" pitchFamily="34" charset="-120"/>
              </a:rPr>
              <a:t>  Huy hiệu "Hôm nay N mục": Theo dõi tiến độ - xem đã kiểm tra bao nhiêu máy hôm nay.</a:t>
            </a:r>
            <a:endParaRPr lang="en-US" sz="1000" dirty="0"/>
          </a:p>
        </p:txBody>
      </p:sp>
      <p:sp>
        <p:nvSpPr>
          <p:cNvPr id="21" name="Text 19"/>
          <p:cNvSpPr/>
          <p:nvPr/>
        </p:nvSpPr>
        <p:spPr>
          <a:xfrm>
            <a:off x="457200" y="4754880"/>
            <a:ext cx="8229600" cy="411480"/>
          </a:xfrm>
          <a:prstGeom prst="rect">
            <a:avLst/>
          </a:prstGeom>
          <a:noFill/>
          <a:ln/>
        </p:spPr>
        <p:txBody>
          <a:bodyPr wrap="square" rtlCol="0" anchor="ctr"/>
          <a:lstStyle/>
          <a:p>
            <a:pPr marL="342900" indent="-342900">
              <a:buSzPct val="100000"/>
              <a:buChar char="•"/>
            </a:pPr>
            <a:r>
              <a:rPr lang="en-US" sz="1000" dirty="0">
                <a:solidFill>
                  <a:srgbClr val="1F2937"/>
                </a:solidFill>
                <a:latin typeface="Arial" pitchFamily="34" charset="0"/>
                <a:ea typeface="Arial" pitchFamily="34" charset="-122"/>
                <a:cs typeface="Arial" pitchFamily="34" charset="-120"/>
              </a:rPr>
              <a:t>  Thông báo thành công: Tin nhắn xanh xác nhận đã lưu - tự ẩn sau 3 giây.</a:t>
            </a:r>
            <a:endParaRPr lang="en-US" sz="1000" dirty="0"/>
          </a:p>
        </p:txBody>
      </p:sp>
      <p:sp>
        <p:nvSpPr>
          <p:cNvPr id="22" name="Text 20"/>
          <p:cNvSpPr/>
          <p:nvPr/>
        </p:nvSpPr>
        <p:spPr>
          <a:xfrm>
            <a:off x="457200" y="5212080"/>
            <a:ext cx="8229600" cy="411480"/>
          </a:xfrm>
          <a:prstGeom prst="rect">
            <a:avLst/>
          </a:prstGeom>
          <a:noFill/>
          <a:ln/>
        </p:spPr>
        <p:txBody>
          <a:bodyPr wrap="square" rtlCol="0" anchor="ctr"/>
          <a:lstStyle/>
          <a:p>
            <a:pPr marL="342900" indent="-342900">
              <a:buSzPct val="100000"/>
              <a:buChar char="•"/>
            </a:pPr>
            <a:r>
              <a:rPr lang="en-US" sz="1000" dirty="0">
                <a:solidFill>
                  <a:srgbClr val="1F2937"/>
                </a:solidFill>
                <a:latin typeface="Arial" pitchFamily="34" charset="0"/>
                <a:ea typeface="Arial" pitchFamily="34" charset="-122"/>
                <a:cs typeface="Arial" pitchFamily="34" charset="-120"/>
              </a:rPr>
              <a:t>  Cùng độ nhạy: Nếu các máy có thông số tương tự, giá trị được giữ lại - chỉ cần lưu.</a:t>
            </a:r>
            <a:endParaRPr lang="en-US" sz="1000" dirty="0"/>
          </a:p>
        </p:txBody>
      </p:sp>
      <p:sp>
        <p:nvSpPr>
          <p:cNvPr id="23" name="Text 21"/>
          <p:cNvSpPr/>
          <p:nvPr/>
        </p:nvSpPr>
        <p:spPr>
          <a:xfrm>
            <a:off x="457200" y="5669280"/>
            <a:ext cx="8229600" cy="411480"/>
          </a:xfrm>
          <a:prstGeom prst="rect">
            <a:avLst/>
          </a:prstGeom>
          <a:noFill/>
          <a:ln/>
        </p:spPr>
        <p:txBody>
          <a:bodyPr wrap="square" rtlCol="0" anchor="ctr"/>
          <a:lstStyle/>
          <a:p>
            <a:pPr marL="342900" indent="-342900">
              <a:buSzPct val="100000"/>
              <a:buChar char="•"/>
            </a:pPr>
            <a:r>
              <a:rPr lang="en-US" sz="1000" dirty="0">
                <a:solidFill>
                  <a:srgbClr val="1F2937"/>
                </a:solidFill>
                <a:latin typeface="Arial" pitchFamily="34" charset="0"/>
                <a:ea typeface="Arial" pitchFamily="34" charset="-122"/>
                <a:cs typeface="Arial" pitchFamily="34" charset="-120"/>
              </a:rPr>
              <a:t>  Đổi nhà máy: Chỉ thay đổi nút nhà máy khi chuyển sang tòa nhà khác.</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Chế độ nhập chi tiết (4 bước)</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Phù hợp nhất cho trường hợp FAIL cần tài liệu chi tiết:</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10 / 16</a:t>
            </a:r>
            <a:endParaRPr lang="en-US" sz="800" dirty="0"/>
          </a:p>
        </p:txBody>
      </p:sp>
      <p:sp>
        <p:nvSpPr>
          <p:cNvPr id="6" name="Shape 4"/>
          <p:cNvSpPr/>
          <p:nvPr/>
        </p:nvSpPr>
        <p:spPr>
          <a:xfrm>
            <a:off x="1097280" y="1188720"/>
            <a:ext cx="365760" cy="365760"/>
          </a:xfrm>
          <a:prstGeom prst="ellipse">
            <a:avLst/>
          </a:prstGeom>
          <a:solidFill>
            <a:srgbClr val="1E40AF"/>
          </a:solidFill>
          <a:ln/>
        </p:spPr>
      </p:sp>
      <p:sp>
        <p:nvSpPr>
          <p:cNvPr id="7" name="Text 5"/>
          <p:cNvSpPr/>
          <p:nvPr/>
        </p:nvSpPr>
        <p:spPr>
          <a:xfrm>
            <a:off x="1097280" y="118872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Shape 6"/>
          <p:cNvSpPr/>
          <p:nvPr/>
        </p:nvSpPr>
        <p:spPr>
          <a:xfrm>
            <a:off x="1508760" y="1344168"/>
            <a:ext cx="1554480" cy="36576"/>
          </a:xfrm>
          <a:prstGeom prst="rect">
            <a:avLst/>
          </a:prstGeom>
          <a:solidFill>
            <a:srgbClr val="E5E7EB"/>
          </a:solidFill>
          <a:ln/>
        </p:spPr>
      </p:sp>
      <p:sp>
        <p:nvSpPr>
          <p:cNvPr id="9" name="Shape 7"/>
          <p:cNvSpPr/>
          <p:nvPr/>
        </p:nvSpPr>
        <p:spPr>
          <a:xfrm>
            <a:off x="3291840" y="1188720"/>
            <a:ext cx="365760" cy="365760"/>
          </a:xfrm>
          <a:prstGeom prst="ellipse">
            <a:avLst/>
          </a:prstGeom>
          <a:solidFill>
            <a:srgbClr val="1E40AF"/>
          </a:solidFill>
          <a:ln/>
        </p:spPr>
      </p:sp>
      <p:sp>
        <p:nvSpPr>
          <p:cNvPr id="10" name="Text 8"/>
          <p:cNvSpPr/>
          <p:nvPr/>
        </p:nvSpPr>
        <p:spPr>
          <a:xfrm>
            <a:off x="3291840" y="118872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Shape 9"/>
          <p:cNvSpPr/>
          <p:nvPr/>
        </p:nvSpPr>
        <p:spPr>
          <a:xfrm>
            <a:off x="3703320" y="1344168"/>
            <a:ext cx="1554480" cy="36576"/>
          </a:xfrm>
          <a:prstGeom prst="rect">
            <a:avLst/>
          </a:prstGeom>
          <a:solidFill>
            <a:srgbClr val="E5E7EB"/>
          </a:solidFill>
          <a:ln/>
        </p:spPr>
      </p:sp>
      <p:sp>
        <p:nvSpPr>
          <p:cNvPr id="12" name="Shape 10"/>
          <p:cNvSpPr/>
          <p:nvPr/>
        </p:nvSpPr>
        <p:spPr>
          <a:xfrm>
            <a:off x="5486400" y="1188720"/>
            <a:ext cx="365760" cy="365760"/>
          </a:xfrm>
          <a:prstGeom prst="ellipse">
            <a:avLst/>
          </a:prstGeom>
          <a:solidFill>
            <a:srgbClr val="1E40AF"/>
          </a:solidFill>
          <a:ln/>
        </p:spPr>
      </p:sp>
      <p:sp>
        <p:nvSpPr>
          <p:cNvPr id="13" name="Text 11"/>
          <p:cNvSpPr/>
          <p:nvPr/>
        </p:nvSpPr>
        <p:spPr>
          <a:xfrm>
            <a:off x="5486400" y="118872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Shape 12"/>
          <p:cNvSpPr/>
          <p:nvPr/>
        </p:nvSpPr>
        <p:spPr>
          <a:xfrm>
            <a:off x="5897880" y="1344168"/>
            <a:ext cx="1554480" cy="36576"/>
          </a:xfrm>
          <a:prstGeom prst="rect">
            <a:avLst/>
          </a:prstGeom>
          <a:solidFill>
            <a:srgbClr val="E5E7EB"/>
          </a:solidFill>
          <a:ln/>
        </p:spPr>
      </p:sp>
      <p:sp>
        <p:nvSpPr>
          <p:cNvPr id="15" name="Shape 13"/>
          <p:cNvSpPr/>
          <p:nvPr/>
        </p:nvSpPr>
        <p:spPr>
          <a:xfrm>
            <a:off x="7680960" y="1188720"/>
            <a:ext cx="365760" cy="365760"/>
          </a:xfrm>
          <a:prstGeom prst="ellipse">
            <a:avLst/>
          </a:prstGeom>
          <a:solidFill>
            <a:srgbClr val="1E40AF"/>
          </a:solidFill>
          <a:ln/>
        </p:spPr>
      </p:sp>
      <p:sp>
        <p:nvSpPr>
          <p:cNvPr id="16" name="Text 14"/>
          <p:cNvSpPr/>
          <p:nvPr/>
        </p:nvSpPr>
        <p:spPr>
          <a:xfrm>
            <a:off x="7680960" y="118872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7" name="Shape 15"/>
          <p:cNvSpPr/>
          <p:nvPr/>
        </p:nvSpPr>
        <p:spPr>
          <a:xfrm>
            <a:off x="365760" y="1737360"/>
            <a:ext cx="2011680" cy="3474720"/>
          </a:xfrm>
          <a:prstGeom prst="roundRect">
            <a:avLst>
              <a:gd name="adj" fmla="val 3636"/>
            </a:avLst>
          </a:prstGeom>
          <a:solidFill>
            <a:srgbClr val="EFF6FF"/>
          </a:solidFill>
          <a:ln/>
        </p:spPr>
      </p:sp>
      <p:sp>
        <p:nvSpPr>
          <p:cNvPr id="18" name="Text 16"/>
          <p:cNvSpPr/>
          <p:nvPr/>
        </p:nvSpPr>
        <p:spPr>
          <a:xfrm>
            <a:off x="457200" y="1828800"/>
            <a:ext cx="1828800" cy="320040"/>
          </a:xfrm>
          <a:prstGeom prst="rect">
            <a:avLst/>
          </a:prstGeom>
          <a:noFill/>
          <a:ln/>
        </p:spPr>
        <p:txBody>
          <a:bodyPr wrap="square" rtlCol="0" anchor="ctr"/>
          <a:lstStyle/>
          <a:p>
            <a:pPr algn="ctr" indent="0" marL="0">
              <a:buNone/>
            </a:pPr>
            <a:r>
              <a:rPr lang="en-US" sz="1100" b="1" dirty="0">
                <a:solidFill>
                  <a:srgbClr val="1E40AF"/>
                </a:solidFill>
                <a:latin typeface="Arial" pitchFamily="34" charset="0"/>
                <a:ea typeface="Arial" pitchFamily="34" charset="-122"/>
                <a:cs typeface="Arial" pitchFamily="34" charset="-120"/>
              </a:rPr>
              <a:t>Nhà máy &amp; Line</a:t>
            </a:r>
            <a:endParaRPr lang="en-US" sz="1100" dirty="0"/>
          </a:p>
        </p:txBody>
      </p:sp>
      <p:sp>
        <p:nvSpPr>
          <p:cNvPr id="19" name="Text 17"/>
          <p:cNvSpPr/>
          <p:nvPr/>
        </p:nvSpPr>
        <p:spPr>
          <a:xfrm>
            <a:off x="457200" y="224028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Chọn nhà máy (A/B/C/D)</a:t>
            </a:r>
            <a:endParaRPr lang="en-US" sz="900" dirty="0"/>
          </a:p>
        </p:txBody>
      </p:sp>
      <p:sp>
        <p:nvSpPr>
          <p:cNvPr id="20" name="Text 18"/>
          <p:cNvSpPr/>
          <p:nvPr/>
        </p:nvSpPr>
        <p:spPr>
          <a:xfrm>
            <a:off x="457200" y="274320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Nhập số line</a:t>
            </a:r>
            <a:endParaRPr lang="en-US" sz="900" dirty="0"/>
          </a:p>
        </p:txBody>
      </p:sp>
      <p:sp>
        <p:nvSpPr>
          <p:cNvPr id="21" name="Text 19"/>
          <p:cNvSpPr/>
          <p:nvPr/>
        </p:nvSpPr>
        <p:spPr>
          <a:xfrm>
            <a:off x="457200" y="324612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Nhập mã máy (tùy chọn)</a:t>
            </a:r>
            <a:endParaRPr lang="en-US" sz="900" dirty="0"/>
          </a:p>
        </p:txBody>
      </p:sp>
      <p:sp>
        <p:nvSpPr>
          <p:cNvPr id="22" name="Shape 20"/>
          <p:cNvSpPr/>
          <p:nvPr/>
        </p:nvSpPr>
        <p:spPr>
          <a:xfrm>
            <a:off x="2560320" y="1737360"/>
            <a:ext cx="2011680" cy="3474720"/>
          </a:xfrm>
          <a:prstGeom prst="roundRect">
            <a:avLst>
              <a:gd name="adj" fmla="val 3636"/>
            </a:avLst>
          </a:prstGeom>
          <a:solidFill>
            <a:srgbClr val="F3F4F6"/>
          </a:solidFill>
          <a:ln/>
        </p:spPr>
      </p:sp>
      <p:sp>
        <p:nvSpPr>
          <p:cNvPr id="23" name="Text 21"/>
          <p:cNvSpPr/>
          <p:nvPr/>
        </p:nvSpPr>
        <p:spPr>
          <a:xfrm>
            <a:off x="2651760" y="1828800"/>
            <a:ext cx="1828800" cy="320040"/>
          </a:xfrm>
          <a:prstGeom prst="rect">
            <a:avLst/>
          </a:prstGeom>
          <a:noFill/>
          <a:ln/>
        </p:spPr>
        <p:txBody>
          <a:bodyPr wrap="square" rtlCol="0" anchor="ctr"/>
          <a:lstStyle/>
          <a:p>
            <a:pPr algn="ctr" indent="0" marL="0">
              <a:buNone/>
            </a:pPr>
            <a:r>
              <a:rPr lang="en-US" sz="1100" b="1" dirty="0">
                <a:solidFill>
                  <a:srgbClr val="1E40AF"/>
                </a:solidFill>
                <a:latin typeface="Arial" pitchFamily="34" charset="0"/>
                <a:ea typeface="Arial" pitchFamily="34" charset="-122"/>
                <a:cs typeface="Arial" pitchFamily="34" charset="-120"/>
              </a:rPr>
              <a:t>Thông tin người kiểm tra</a:t>
            </a:r>
            <a:endParaRPr lang="en-US" sz="1100" dirty="0"/>
          </a:p>
        </p:txBody>
      </p:sp>
      <p:sp>
        <p:nvSpPr>
          <p:cNvPr id="24" name="Text 22"/>
          <p:cNvSpPr/>
          <p:nvPr/>
        </p:nvSpPr>
        <p:spPr>
          <a:xfrm>
            <a:off x="2651760" y="224028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Chọn ngày kiểm tra</a:t>
            </a:r>
            <a:endParaRPr lang="en-US" sz="900" dirty="0"/>
          </a:p>
        </p:txBody>
      </p:sp>
      <p:sp>
        <p:nvSpPr>
          <p:cNvPr id="25" name="Text 23"/>
          <p:cNvSpPr/>
          <p:nvPr/>
        </p:nvSpPr>
        <p:spPr>
          <a:xfrm>
            <a:off x="2651760" y="274320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Nhập tên người kiểm tra</a:t>
            </a:r>
            <a:endParaRPr lang="en-US" sz="900" dirty="0"/>
          </a:p>
        </p:txBody>
      </p:sp>
      <p:sp>
        <p:nvSpPr>
          <p:cNvPr id="26" name="Text 24"/>
          <p:cNvSpPr/>
          <p:nvPr/>
        </p:nvSpPr>
        <p:spPr>
          <a:xfrm>
            <a:off x="2651760" y="324612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Nhập tên sản phẩm (tùy chọn)</a:t>
            </a:r>
            <a:endParaRPr lang="en-US" sz="900" dirty="0"/>
          </a:p>
        </p:txBody>
      </p:sp>
      <p:sp>
        <p:nvSpPr>
          <p:cNvPr id="27" name="Shape 25"/>
          <p:cNvSpPr/>
          <p:nvPr/>
        </p:nvSpPr>
        <p:spPr>
          <a:xfrm>
            <a:off x="4754880" y="1737360"/>
            <a:ext cx="2011680" cy="3474720"/>
          </a:xfrm>
          <a:prstGeom prst="roundRect">
            <a:avLst>
              <a:gd name="adj" fmla="val 3636"/>
            </a:avLst>
          </a:prstGeom>
          <a:solidFill>
            <a:srgbClr val="EFF6FF"/>
          </a:solidFill>
          <a:ln/>
        </p:spPr>
      </p:sp>
      <p:sp>
        <p:nvSpPr>
          <p:cNvPr id="28" name="Text 26"/>
          <p:cNvSpPr/>
          <p:nvPr/>
        </p:nvSpPr>
        <p:spPr>
          <a:xfrm>
            <a:off x="4846320" y="1828800"/>
            <a:ext cx="1828800" cy="320040"/>
          </a:xfrm>
          <a:prstGeom prst="rect">
            <a:avLst/>
          </a:prstGeom>
          <a:noFill/>
          <a:ln/>
        </p:spPr>
        <p:txBody>
          <a:bodyPr wrap="square" rtlCol="0" anchor="ctr"/>
          <a:lstStyle/>
          <a:p>
            <a:pPr algn="ctr" indent="0" marL="0">
              <a:buNone/>
            </a:pPr>
            <a:r>
              <a:rPr lang="en-US" sz="1100" b="1" dirty="0">
                <a:solidFill>
                  <a:srgbClr val="1E40AF"/>
                </a:solidFill>
                <a:latin typeface="Arial" pitchFamily="34" charset="0"/>
                <a:ea typeface="Arial" pitchFamily="34" charset="-122"/>
                <a:cs typeface="Arial" pitchFamily="34" charset="-120"/>
              </a:rPr>
              <a:t>Độ nhạy</a:t>
            </a:r>
            <a:endParaRPr lang="en-US" sz="1100" dirty="0"/>
          </a:p>
        </p:txBody>
      </p:sp>
      <p:sp>
        <p:nvSpPr>
          <p:cNvPr id="29" name="Text 27"/>
          <p:cNvSpPr/>
          <p:nvPr/>
        </p:nvSpPr>
        <p:spPr>
          <a:xfrm>
            <a:off x="4846320" y="224028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Nhập độ nhạy Fe (mm)</a:t>
            </a:r>
            <a:endParaRPr lang="en-US" sz="900" dirty="0"/>
          </a:p>
        </p:txBody>
      </p:sp>
      <p:sp>
        <p:nvSpPr>
          <p:cNvPr id="30" name="Text 28"/>
          <p:cNvSpPr/>
          <p:nvPr/>
        </p:nvSpPr>
        <p:spPr>
          <a:xfrm>
            <a:off x="4846320" y="274320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Nhập độ nhạy SUS (mm)</a:t>
            </a:r>
            <a:endParaRPr lang="en-US" sz="900" dirty="0"/>
          </a:p>
        </p:txBody>
      </p:sp>
      <p:sp>
        <p:nvSpPr>
          <p:cNvPr id="31" name="Text 29"/>
          <p:cNvSpPr/>
          <p:nvPr/>
        </p:nvSpPr>
        <p:spPr>
          <a:xfrm>
            <a:off x="4846320" y="324612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Nhập độ nhạy Non-Fe (mm)</a:t>
            </a:r>
            <a:endParaRPr lang="en-US" sz="900" dirty="0"/>
          </a:p>
        </p:txBody>
      </p:sp>
      <p:sp>
        <p:nvSpPr>
          <p:cNvPr id="32" name="Shape 30"/>
          <p:cNvSpPr/>
          <p:nvPr/>
        </p:nvSpPr>
        <p:spPr>
          <a:xfrm>
            <a:off x="6949440" y="1737360"/>
            <a:ext cx="2011680" cy="3474720"/>
          </a:xfrm>
          <a:prstGeom prst="roundRect">
            <a:avLst>
              <a:gd name="adj" fmla="val 3636"/>
            </a:avLst>
          </a:prstGeom>
          <a:solidFill>
            <a:srgbClr val="F3F4F6"/>
          </a:solidFill>
          <a:ln/>
        </p:spPr>
      </p:sp>
      <p:sp>
        <p:nvSpPr>
          <p:cNvPr id="33" name="Text 31"/>
          <p:cNvSpPr/>
          <p:nvPr/>
        </p:nvSpPr>
        <p:spPr>
          <a:xfrm>
            <a:off x="7040880" y="1828800"/>
            <a:ext cx="1828800" cy="320040"/>
          </a:xfrm>
          <a:prstGeom prst="rect">
            <a:avLst/>
          </a:prstGeom>
          <a:noFill/>
          <a:ln/>
        </p:spPr>
        <p:txBody>
          <a:bodyPr wrap="square" rtlCol="0" anchor="ctr"/>
          <a:lstStyle/>
          <a:p>
            <a:pPr algn="ctr" indent="0" marL="0">
              <a:buNone/>
            </a:pPr>
            <a:r>
              <a:rPr lang="en-US" sz="1100" b="1" dirty="0">
                <a:solidFill>
                  <a:srgbClr val="1E40AF"/>
                </a:solidFill>
                <a:latin typeface="Arial" pitchFamily="34" charset="0"/>
                <a:ea typeface="Arial" pitchFamily="34" charset="-122"/>
                <a:cs typeface="Arial" pitchFamily="34" charset="-120"/>
              </a:rPr>
              <a:t>Kết quả</a:t>
            </a:r>
            <a:endParaRPr lang="en-US" sz="1100" dirty="0"/>
          </a:p>
        </p:txBody>
      </p:sp>
      <p:sp>
        <p:nvSpPr>
          <p:cNvPr id="34" name="Text 32"/>
          <p:cNvSpPr/>
          <p:nvPr/>
        </p:nvSpPr>
        <p:spPr>
          <a:xfrm>
            <a:off x="7040880" y="224028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Chọn PASS hoặc FAIL</a:t>
            </a:r>
            <a:endParaRPr lang="en-US" sz="900" dirty="0"/>
          </a:p>
        </p:txBody>
      </p:sp>
      <p:sp>
        <p:nvSpPr>
          <p:cNvPr id="35" name="Text 33"/>
          <p:cNvSpPr/>
          <p:nvPr/>
        </p:nvSpPr>
        <p:spPr>
          <a:xfrm>
            <a:off x="7040880" y="274320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Nếu FAIL: chọn loại lỗi</a:t>
            </a:r>
            <a:endParaRPr lang="en-US" sz="900" dirty="0"/>
          </a:p>
        </p:txBody>
      </p:sp>
      <p:sp>
        <p:nvSpPr>
          <p:cNvPr id="36" name="Text 34"/>
          <p:cNvSpPr/>
          <p:nvPr/>
        </p:nvSpPr>
        <p:spPr>
          <a:xfrm>
            <a:off x="7040880" y="324612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Nếu FAIL: nhập mô tả</a:t>
            </a:r>
            <a:endParaRPr lang="en-US" sz="900" dirty="0"/>
          </a:p>
        </p:txBody>
      </p:sp>
      <p:sp>
        <p:nvSpPr>
          <p:cNvPr id="37" name="Text 35"/>
          <p:cNvSpPr/>
          <p:nvPr/>
        </p:nvSpPr>
        <p:spPr>
          <a:xfrm>
            <a:off x="7040880" y="3749040"/>
            <a:ext cx="1828800" cy="457200"/>
          </a:xfrm>
          <a:prstGeom prst="rect">
            <a:avLst/>
          </a:prstGeom>
          <a:noFill/>
          <a:ln/>
        </p:spPr>
        <p:txBody>
          <a:bodyPr wrap="square" rtlCol="0" anchor="ctr"/>
          <a:lstStyle/>
          <a:p>
            <a:pPr marL="342900" indent="-342900">
              <a:buSzPct val="100000"/>
              <a:buChar char="•"/>
            </a:pPr>
            <a:r>
              <a:rPr lang="en-US" sz="900" dirty="0">
                <a:solidFill>
                  <a:srgbClr val="1F2937"/>
                </a:solidFill>
                <a:latin typeface="Arial" pitchFamily="34" charset="0"/>
                <a:ea typeface="Arial" pitchFamily="34" charset="-122"/>
                <a:cs typeface="Arial" pitchFamily="34" charset="-120"/>
              </a:rPr>
              <a:t>  Nhập ghi chú (tùy chọn)</a:t>
            </a:r>
            <a:endParaRPr lang="en-US" sz="900" dirty="0"/>
          </a:p>
        </p:txBody>
      </p:sp>
      <p:sp>
        <p:nvSpPr>
          <p:cNvPr id="38" name="Shape 36"/>
          <p:cNvSpPr/>
          <p:nvPr/>
        </p:nvSpPr>
        <p:spPr>
          <a:xfrm>
            <a:off x="365760" y="5486400"/>
            <a:ext cx="8412480" cy="502920"/>
          </a:xfrm>
          <a:prstGeom prst="roundRect">
            <a:avLst>
              <a:gd name="adj" fmla="val 14545"/>
            </a:avLst>
          </a:prstGeom>
          <a:solidFill>
            <a:srgbClr val="FEF9C3"/>
          </a:solidFill>
          <a:ln/>
        </p:spPr>
      </p:sp>
      <p:sp>
        <p:nvSpPr>
          <p:cNvPr id="39" name="Text 37"/>
          <p:cNvSpPr/>
          <p:nvPr/>
        </p:nvSpPr>
        <p:spPr>
          <a:xfrm>
            <a:off x="457200" y="5486400"/>
            <a:ext cx="8229600" cy="502920"/>
          </a:xfrm>
          <a:prstGeom prst="rect">
            <a:avLst/>
          </a:prstGeom>
          <a:noFill/>
          <a:ln/>
        </p:spPr>
        <p:txBody>
          <a:bodyPr wrap="square" rtlCol="0" anchor="ctr"/>
          <a:lstStyle/>
          <a:p>
            <a:pPr indent="0" marL="0">
              <a:buNone/>
            </a:pPr>
            <a:r>
              <a:rPr lang="en-US" sz="1000" dirty="0">
                <a:solidFill>
                  <a:srgbClr val="1F2937"/>
                </a:solidFill>
                <a:latin typeface="Arial" pitchFamily="34" charset="0"/>
                <a:ea typeface="Arial" pitchFamily="34" charset="-122"/>
                <a:cs typeface="Arial" pitchFamily="34" charset="-120"/>
              </a:rPr>
              <a:t>Sử dụng nút Quay lại/Tiếp theo để điều hướng giữa các bước. Chỉ báo tiến trình hiển thị dấu kiểm xanh cho các bước đã hoàn thành.</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Bảng điều khiển - Tóm tắt KPI</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Chọn năm và số tuần để xem báo cáo hàng tuần:</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11 / 16</a:t>
            </a:r>
            <a:endParaRPr lang="en-US" sz="800" dirty="0"/>
          </a:p>
        </p:txBody>
      </p:sp>
      <p:sp>
        <p:nvSpPr>
          <p:cNvPr id="6" name="Shape 4"/>
          <p:cNvSpPr/>
          <p:nvPr/>
        </p:nvSpPr>
        <p:spPr>
          <a:xfrm>
            <a:off x="365760" y="1188720"/>
            <a:ext cx="2011680" cy="1737360"/>
          </a:xfrm>
          <a:prstGeom prst="roundRect">
            <a:avLst>
              <a:gd name="adj" fmla="val 4211"/>
            </a:avLst>
          </a:prstGeom>
          <a:solidFill>
            <a:srgbClr val="F3F4F6"/>
          </a:solidFill>
          <a:ln/>
        </p:spPr>
      </p:sp>
      <p:sp>
        <p:nvSpPr>
          <p:cNvPr id="7" name="Shape 5"/>
          <p:cNvSpPr/>
          <p:nvPr/>
        </p:nvSpPr>
        <p:spPr>
          <a:xfrm>
            <a:off x="1188720" y="1325880"/>
            <a:ext cx="365760" cy="365760"/>
          </a:xfrm>
          <a:prstGeom prst="ellipse">
            <a:avLst/>
          </a:prstGeom>
          <a:solidFill>
            <a:srgbClr val="1E40AF"/>
          </a:solidFill>
          <a:ln/>
        </p:spPr>
      </p:sp>
      <p:sp>
        <p:nvSpPr>
          <p:cNvPr id="8" name="Text 6"/>
          <p:cNvSpPr/>
          <p:nvPr/>
        </p:nvSpPr>
        <p:spPr>
          <a:xfrm>
            <a:off x="1188720" y="132588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457200" y="1783080"/>
            <a:ext cx="1828800" cy="548640"/>
          </a:xfrm>
          <a:prstGeom prst="rect">
            <a:avLst/>
          </a:prstGeom>
          <a:noFill/>
          <a:ln/>
        </p:spPr>
        <p:txBody>
          <a:bodyPr wrap="square" rtlCol="0" anchor="ctr"/>
          <a:lstStyle/>
          <a:p>
            <a:pPr algn="ctr" indent="0" marL="0">
              <a:buNone/>
            </a:pPr>
            <a:r>
              <a:rPr lang="en-US" sz="1000" b="1" dirty="0">
                <a:solidFill>
                  <a:srgbClr val="1E40AF"/>
                </a:solidFill>
                <a:latin typeface="Arial" pitchFamily="34" charset="0"/>
                <a:ea typeface="Arial" pitchFamily="34" charset="-122"/>
                <a:cs typeface="Arial" pitchFamily="34" charset="-120"/>
              </a:rPr>
              <a:t>Tổng máy</a:t>
            </a:r>
            <a:endParaRPr lang="en-US" sz="1000" dirty="0"/>
          </a:p>
          <a:p>
            <a:pPr algn="ctr" indent="0" marL="0">
              <a:buNone/>
            </a:pPr>
            <a:r>
              <a:rPr lang="en-US" sz="1000" b="1" dirty="0">
                <a:solidFill>
                  <a:srgbClr val="1E40AF"/>
                </a:solidFill>
                <a:latin typeface="Arial" pitchFamily="34" charset="0"/>
                <a:ea typeface="Arial" pitchFamily="34" charset="-122"/>
                <a:cs typeface="Arial" pitchFamily="34" charset="-120"/>
              </a:rPr>
              <a:t>đã kiểm tra</a:t>
            </a:r>
            <a:endParaRPr lang="en-US" sz="1000" dirty="0"/>
          </a:p>
        </p:txBody>
      </p:sp>
      <p:sp>
        <p:nvSpPr>
          <p:cNvPr id="10" name="Text 8"/>
          <p:cNvSpPr/>
          <p:nvPr/>
        </p:nvSpPr>
        <p:spPr>
          <a:xfrm>
            <a:off x="457200" y="2331720"/>
            <a:ext cx="1828800" cy="50292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Số lượng kiểm tra</a:t>
            </a:r>
            <a:endParaRPr lang="en-US" sz="800" dirty="0"/>
          </a:p>
          <a:p>
            <a:pPr algn="ctr" indent="0" marL="0">
              <a:buNone/>
            </a:pPr>
            <a:r>
              <a:rPr lang="en-US" sz="800" dirty="0">
                <a:solidFill>
                  <a:srgbClr val="6B7280"/>
                </a:solidFill>
                <a:latin typeface="Arial" pitchFamily="34" charset="0"/>
                <a:ea typeface="Arial" pitchFamily="34" charset="-122"/>
                <a:cs typeface="Arial" pitchFamily="34" charset="-120"/>
              </a:rPr>
              <a:t>tuần này</a:t>
            </a:r>
            <a:endParaRPr lang="en-US" sz="800" dirty="0"/>
          </a:p>
        </p:txBody>
      </p:sp>
      <p:sp>
        <p:nvSpPr>
          <p:cNvPr id="11" name="Shape 9"/>
          <p:cNvSpPr/>
          <p:nvPr/>
        </p:nvSpPr>
        <p:spPr>
          <a:xfrm>
            <a:off x="2514600" y="1188720"/>
            <a:ext cx="2011680" cy="1737360"/>
          </a:xfrm>
          <a:prstGeom prst="roundRect">
            <a:avLst>
              <a:gd name="adj" fmla="val 4211"/>
            </a:avLst>
          </a:prstGeom>
          <a:solidFill>
            <a:srgbClr val="FFF7ED"/>
          </a:solidFill>
          <a:ln/>
        </p:spPr>
      </p:sp>
      <p:sp>
        <p:nvSpPr>
          <p:cNvPr id="12" name="Shape 10"/>
          <p:cNvSpPr/>
          <p:nvPr/>
        </p:nvSpPr>
        <p:spPr>
          <a:xfrm>
            <a:off x="3337560" y="1325880"/>
            <a:ext cx="365760" cy="365760"/>
          </a:xfrm>
          <a:prstGeom prst="ellipse">
            <a:avLst/>
          </a:prstGeom>
          <a:solidFill>
            <a:srgbClr val="1E40AF"/>
          </a:solidFill>
          <a:ln/>
        </p:spPr>
      </p:sp>
      <p:sp>
        <p:nvSpPr>
          <p:cNvPr id="13" name="Text 11"/>
          <p:cNvSpPr/>
          <p:nvPr/>
        </p:nvSpPr>
        <p:spPr>
          <a:xfrm>
            <a:off x="3337560" y="132588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2606040" y="1783080"/>
            <a:ext cx="1828800" cy="548640"/>
          </a:xfrm>
          <a:prstGeom prst="rect">
            <a:avLst/>
          </a:prstGeom>
          <a:noFill/>
          <a:ln/>
        </p:spPr>
        <p:txBody>
          <a:bodyPr wrap="square" rtlCol="0" anchor="ctr"/>
          <a:lstStyle/>
          <a:p>
            <a:pPr algn="ctr" indent="0" marL="0">
              <a:buNone/>
            </a:pPr>
            <a:r>
              <a:rPr lang="en-US" sz="1000" b="1" dirty="0">
                <a:solidFill>
                  <a:srgbClr val="1E40AF"/>
                </a:solidFill>
                <a:latin typeface="Arial" pitchFamily="34" charset="0"/>
                <a:ea typeface="Arial" pitchFamily="34" charset="-122"/>
                <a:cs typeface="Arial" pitchFamily="34" charset="-120"/>
              </a:rPr>
              <a:t>Lỗi</a:t>
            </a:r>
            <a:endParaRPr lang="en-US" sz="1000" dirty="0"/>
          </a:p>
          <a:p>
            <a:pPr algn="ctr" indent="0" marL="0">
              <a:buNone/>
            </a:pPr>
            <a:r>
              <a:rPr lang="en-US" sz="1000" b="1" dirty="0">
                <a:solidFill>
                  <a:srgbClr val="1E40AF"/>
                </a:solidFill>
                <a:latin typeface="Arial" pitchFamily="34" charset="0"/>
                <a:ea typeface="Arial" pitchFamily="34" charset="-122"/>
                <a:cs typeface="Arial" pitchFamily="34" charset="-120"/>
              </a:rPr>
              <a:t>tuần trước</a:t>
            </a:r>
            <a:endParaRPr lang="en-US" sz="1000" dirty="0"/>
          </a:p>
        </p:txBody>
      </p:sp>
      <p:sp>
        <p:nvSpPr>
          <p:cNvPr id="15" name="Text 13"/>
          <p:cNvSpPr/>
          <p:nvPr/>
        </p:nvSpPr>
        <p:spPr>
          <a:xfrm>
            <a:off x="2606040" y="2331720"/>
            <a:ext cx="1828800" cy="50292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Số FAIL từ</a:t>
            </a:r>
            <a:endParaRPr lang="en-US" sz="800" dirty="0"/>
          </a:p>
          <a:p>
            <a:pPr algn="ctr" indent="0" marL="0">
              <a:buNone/>
            </a:pPr>
            <a:r>
              <a:rPr lang="en-US" sz="800" dirty="0">
                <a:solidFill>
                  <a:srgbClr val="6B7280"/>
                </a:solidFill>
                <a:latin typeface="Arial" pitchFamily="34" charset="0"/>
                <a:ea typeface="Arial" pitchFamily="34" charset="-122"/>
                <a:cs typeface="Arial" pitchFamily="34" charset="-120"/>
              </a:rPr>
              <a:t>tuần trước</a:t>
            </a:r>
            <a:endParaRPr lang="en-US" sz="800" dirty="0"/>
          </a:p>
        </p:txBody>
      </p:sp>
      <p:sp>
        <p:nvSpPr>
          <p:cNvPr id="16" name="Shape 14"/>
          <p:cNvSpPr/>
          <p:nvPr/>
        </p:nvSpPr>
        <p:spPr>
          <a:xfrm>
            <a:off x="4663440" y="1188720"/>
            <a:ext cx="2011680" cy="1737360"/>
          </a:xfrm>
          <a:prstGeom prst="roundRect">
            <a:avLst>
              <a:gd name="adj" fmla="val 4211"/>
            </a:avLst>
          </a:prstGeom>
          <a:solidFill>
            <a:srgbClr val="FEE2E2"/>
          </a:solidFill>
          <a:ln/>
        </p:spPr>
      </p:sp>
      <p:sp>
        <p:nvSpPr>
          <p:cNvPr id="17" name="Shape 15"/>
          <p:cNvSpPr/>
          <p:nvPr/>
        </p:nvSpPr>
        <p:spPr>
          <a:xfrm>
            <a:off x="5486400" y="1325880"/>
            <a:ext cx="365760" cy="365760"/>
          </a:xfrm>
          <a:prstGeom prst="ellipse">
            <a:avLst/>
          </a:prstGeom>
          <a:solidFill>
            <a:srgbClr val="1E40AF"/>
          </a:solidFill>
          <a:ln/>
        </p:spPr>
      </p:sp>
      <p:sp>
        <p:nvSpPr>
          <p:cNvPr id="18" name="Text 16"/>
          <p:cNvSpPr/>
          <p:nvPr/>
        </p:nvSpPr>
        <p:spPr>
          <a:xfrm>
            <a:off x="5486400" y="132588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4754880" y="1783080"/>
            <a:ext cx="1828800" cy="548640"/>
          </a:xfrm>
          <a:prstGeom prst="rect">
            <a:avLst/>
          </a:prstGeom>
          <a:noFill/>
          <a:ln/>
        </p:spPr>
        <p:txBody>
          <a:bodyPr wrap="square" rtlCol="0" anchor="ctr"/>
          <a:lstStyle/>
          <a:p>
            <a:pPr algn="ctr" indent="0" marL="0">
              <a:buNone/>
            </a:pPr>
            <a:r>
              <a:rPr lang="en-US" sz="1000" b="1" dirty="0">
                <a:solidFill>
                  <a:srgbClr val="1E40AF"/>
                </a:solidFill>
                <a:latin typeface="Arial" pitchFamily="34" charset="0"/>
                <a:ea typeface="Arial" pitchFamily="34" charset="-122"/>
                <a:cs typeface="Arial" pitchFamily="34" charset="-120"/>
              </a:rPr>
              <a:t>Lỗi</a:t>
            </a:r>
            <a:endParaRPr lang="en-US" sz="1000" dirty="0"/>
          </a:p>
          <a:p>
            <a:pPr algn="ctr" indent="0" marL="0">
              <a:buNone/>
            </a:pPr>
            <a:r>
              <a:rPr lang="en-US" sz="1000" b="1" dirty="0">
                <a:solidFill>
                  <a:srgbClr val="1E40AF"/>
                </a:solidFill>
                <a:latin typeface="Arial" pitchFamily="34" charset="0"/>
                <a:ea typeface="Arial" pitchFamily="34" charset="-122"/>
                <a:cs typeface="Arial" pitchFamily="34" charset="-120"/>
              </a:rPr>
              <a:t>tuần này</a:t>
            </a:r>
            <a:endParaRPr lang="en-US" sz="1000" dirty="0"/>
          </a:p>
        </p:txBody>
      </p:sp>
      <p:sp>
        <p:nvSpPr>
          <p:cNvPr id="20" name="Text 18"/>
          <p:cNvSpPr/>
          <p:nvPr/>
        </p:nvSpPr>
        <p:spPr>
          <a:xfrm>
            <a:off x="4754880" y="2331720"/>
            <a:ext cx="1828800" cy="50292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Số FAIL cho</a:t>
            </a:r>
            <a:endParaRPr lang="en-US" sz="800" dirty="0"/>
          </a:p>
          <a:p>
            <a:pPr algn="ctr" indent="0" marL="0">
              <a:buNone/>
            </a:pPr>
            <a:r>
              <a:rPr lang="en-US" sz="800" dirty="0">
                <a:solidFill>
                  <a:srgbClr val="6B7280"/>
                </a:solidFill>
                <a:latin typeface="Arial" pitchFamily="34" charset="0"/>
                <a:ea typeface="Arial" pitchFamily="34" charset="-122"/>
                <a:cs typeface="Arial" pitchFamily="34" charset="-120"/>
              </a:rPr>
              <a:t>tuần hiện tại</a:t>
            </a:r>
            <a:endParaRPr lang="en-US" sz="800" dirty="0"/>
          </a:p>
        </p:txBody>
      </p:sp>
      <p:sp>
        <p:nvSpPr>
          <p:cNvPr id="21" name="Shape 19"/>
          <p:cNvSpPr/>
          <p:nvPr/>
        </p:nvSpPr>
        <p:spPr>
          <a:xfrm>
            <a:off x="6812280" y="1188720"/>
            <a:ext cx="2011680" cy="1737360"/>
          </a:xfrm>
          <a:prstGeom prst="roundRect">
            <a:avLst>
              <a:gd name="adj" fmla="val 4211"/>
            </a:avLst>
          </a:prstGeom>
          <a:solidFill>
            <a:srgbClr val="EFF6FF"/>
          </a:solidFill>
          <a:ln/>
        </p:spPr>
      </p:sp>
      <p:sp>
        <p:nvSpPr>
          <p:cNvPr id="22" name="Shape 20"/>
          <p:cNvSpPr/>
          <p:nvPr/>
        </p:nvSpPr>
        <p:spPr>
          <a:xfrm>
            <a:off x="7635240" y="1325880"/>
            <a:ext cx="365760" cy="365760"/>
          </a:xfrm>
          <a:prstGeom prst="ellipse">
            <a:avLst/>
          </a:prstGeom>
          <a:solidFill>
            <a:srgbClr val="1E40AF"/>
          </a:solidFill>
          <a:ln/>
        </p:spPr>
      </p:sp>
      <p:sp>
        <p:nvSpPr>
          <p:cNvPr id="23" name="Text 21"/>
          <p:cNvSpPr/>
          <p:nvPr/>
        </p:nvSpPr>
        <p:spPr>
          <a:xfrm>
            <a:off x="7635240" y="132588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6903720" y="1783080"/>
            <a:ext cx="1828800" cy="548640"/>
          </a:xfrm>
          <a:prstGeom prst="rect">
            <a:avLst/>
          </a:prstGeom>
          <a:noFill/>
          <a:ln/>
        </p:spPr>
        <p:txBody>
          <a:bodyPr wrap="square" rtlCol="0" anchor="ctr"/>
          <a:lstStyle/>
          <a:p>
            <a:pPr algn="ctr" indent="0" marL="0">
              <a:buNone/>
            </a:pPr>
            <a:r>
              <a:rPr lang="en-US" sz="1000" b="1" dirty="0">
                <a:solidFill>
                  <a:srgbClr val="1E40AF"/>
                </a:solidFill>
                <a:latin typeface="Arial" pitchFamily="34" charset="0"/>
                <a:ea typeface="Arial" pitchFamily="34" charset="-122"/>
                <a:cs typeface="Arial" pitchFamily="34" charset="-120"/>
              </a:rPr>
              <a:t>Sửa</a:t>
            </a:r>
            <a:endParaRPr lang="en-US" sz="1000" dirty="0"/>
          </a:p>
          <a:p>
            <a:pPr algn="ctr" indent="0" marL="0">
              <a:buNone/>
            </a:pPr>
            <a:r>
              <a:rPr lang="en-US" sz="1000" b="1" dirty="0">
                <a:solidFill>
                  <a:srgbClr val="1E40AF"/>
                </a:solidFill>
                <a:latin typeface="Arial" pitchFamily="34" charset="0"/>
                <a:ea typeface="Arial" pitchFamily="34" charset="-122"/>
                <a:cs typeface="Arial" pitchFamily="34" charset="-120"/>
              </a:rPr>
              <a:t>đúng hạn</a:t>
            </a:r>
            <a:endParaRPr lang="en-US" sz="1000" dirty="0"/>
          </a:p>
        </p:txBody>
      </p:sp>
      <p:sp>
        <p:nvSpPr>
          <p:cNvPr id="25" name="Text 23"/>
          <p:cNvSpPr/>
          <p:nvPr/>
        </p:nvSpPr>
        <p:spPr>
          <a:xfrm>
            <a:off x="6903720" y="2331720"/>
            <a:ext cx="1828800" cy="50292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Số CA hoàn thành</a:t>
            </a:r>
            <a:endParaRPr lang="en-US" sz="800" dirty="0"/>
          </a:p>
          <a:p>
            <a:pPr algn="ctr" indent="0" marL="0">
              <a:buNone/>
            </a:pPr>
            <a:r>
              <a:rPr lang="en-US" sz="800" dirty="0">
                <a:solidFill>
                  <a:srgbClr val="6B7280"/>
                </a:solidFill>
                <a:latin typeface="Arial" pitchFamily="34" charset="0"/>
                <a:ea typeface="Arial" pitchFamily="34" charset="-122"/>
                <a:cs typeface="Arial" pitchFamily="34" charset="-120"/>
              </a:rPr>
              <a:t>vs lỗi tuần trước</a:t>
            </a:r>
            <a:endParaRPr lang="en-US" sz="800" dirty="0"/>
          </a:p>
        </p:txBody>
      </p:sp>
      <p:sp>
        <p:nvSpPr>
          <p:cNvPr id="26" name="Shape 24"/>
          <p:cNvSpPr/>
          <p:nvPr/>
        </p:nvSpPr>
        <p:spPr>
          <a:xfrm>
            <a:off x="365760" y="3200400"/>
            <a:ext cx="2697480" cy="1737360"/>
          </a:xfrm>
          <a:prstGeom prst="roundRect">
            <a:avLst>
              <a:gd name="adj" fmla="val 4211"/>
            </a:avLst>
          </a:prstGeom>
          <a:solidFill>
            <a:srgbClr val="DCFCE7"/>
          </a:solidFill>
          <a:ln/>
        </p:spPr>
      </p:sp>
      <p:sp>
        <p:nvSpPr>
          <p:cNvPr id="27" name="Shape 25"/>
          <p:cNvSpPr/>
          <p:nvPr/>
        </p:nvSpPr>
        <p:spPr>
          <a:xfrm>
            <a:off x="1531620" y="3337560"/>
            <a:ext cx="365760" cy="365760"/>
          </a:xfrm>
          <a:prstGeom prst="ellipse">
            <a:avLst/>
          </a:prstGeom>
          <a:solidFill>
            <a:srgbClr val="1E40AF"/>
          </a:solidFill>
          <a:ln/>
        </p:spPr>
      </p:sp>
      <p:sp>
        <p:nvSpPr>
          <p:cNvPr id="28" name="Text 26"/>
          <p:cNvSpPr/>
          <p:nvPr/>
        </p:nvSpPr>
        <p:spPr>
          <a:xfrm>
            <a:off x="1531620" y="333756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7"/>
          <p:cNvSpPr/>
          <p:nvPr/>
        </p:nvSpPr>
        <p:spPr>
          <a:xfrm>
            <a:off x="457200" y="3794760"/>
            <a:ext cx="2514600" cy="548640"/>
          </a:xfrm>
          <a:prstGeom prst="rect">
            <a:avLst/>
          </a:prstGeom>
          <a:noFill/>
          <a:ln/>
        </p:spPr>
        <p:txBody>
          <a:bodyPr wrap="square" rtlCol="0" anchor="ctr"/>
          <a:lstStyle/>
          <a:p>
            <a:pPr algn="ctr" indent="0" marL="0">
              <a:buNone/>
            </a:pPr>
            <a:r>
              <a:rPr lang="en-US" sz="1000" b="1" dirty="0">
                <a:solidFill>
                  <a:srgbClr val="1E40AF"/>
                </a:solidFill>
                <a:latin typeface="Arial" pitchFamily="34" charset="0"/>
                <a:ea typeface="Arial" pitchFamily="34" charset="-122"/>
                <a:cs typeface="Arial" pitchFamily="34" charset="-120"/>
              </a:rPr>
              <a:t>Tỷ lệ sửa</a:t>
            </a:r>
            <a:endParaRPr lang="en-US" sz="1000" dirty="0"/>
          </a:p>
          <a:p>
            <a:pPr algn="ctr" indent="0" marL="0">
              <a:buNone/>
            </a:pPr>
            <a:r>
              <a:rPr lang="en-US" sz="1000" b="1" dirty="0">
                <a:solidFill>
                  <a:srgbClr val="1E40AF"/>
                </a:solidFill>
                <a:latin typeface="Arial" pitchFamily="34" charset="0"/>
                <a:ea typeface="Arial" pitchFamily="34" charset="-122"/>
                <a:cs typeface="Arial" pitchFamily="34" charset="-120"/>
              </a:rPr>
              <a:t>bảo trì</a:t>
            </a:r>
            <a:endParaRPr lang="en-US" sz="1000" dirty="0"/>
          </a:p>
        </p:txBody>
      </p:sp>
      <p:sp>
        <p:nvSpPr>
          <p:cNvPr id="30" name="Text 28"/>
          <p:cNvSpPr/>
          <p:nvPr/>
        </p:nvSpPr>
        <p:spPr>
          <a:xfrm>
            <a:off x="457200" y="4343400"/>
            <a:ext cx="2514600" cy="50292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Phần trăm lỗi tuần</a:t>
            </a:r>
            <a:endParaRPr lang="en-US" sz="800" dirty="0"/>
          </a:p>
          <a:p>
            <a:pPr algn="ctr" indent="0" marL="0">
              <a:buNone/>
            </a:pPr>
            <a:r>
              <a:rPr lang="en-US" sz="800" dirty="0">
                <a:solidFill>
                  <a:srgbClr val="6B7280"/>
                </a:solidFill>
                <a:latin typeface="Arial" pitchFamily="34" charset="0"/>
                <a:ea typeface="Arial" pitchFamily="34" charset="-122"/>
                <a:cs typeface="Arial" pitchFamily="34" charset="-120"/>
              </a:rPr>
              <a:t>trước đã được sửa</a:t>
            </a:r>
            <a:endParaRPr lang="en-US" sz="800" dirty="0"/>
          </a:p>
        </p:txBody>
      </p:sp>
      <p:sp>
        <p:nvSpPr>
          <p:cNvPr id="31" name="Shape 29"/>
          <p:cNvSpPr/>
          <p:nvPr/>
        </p:nvSpPr>
        <p:spPr>
          <a:xfrm>
            <a:off x="3200400" y="3200400"/>
            <a:ext cx="2697480" cy="1737360"/>
          </a:xfrm>
          <a:prstGeom prst="roundRect">
            <a:avLst>
              <a:gd name="adj" fmla="val 4211"/>
            </a:avLst>
          </a:prstGeom>
          <a:solidFill>
            <a:srgbClr val="FFFBEB"/>
          </a:solidFill>
          <a:ln/>
        </p:spPr>
      </p:sp>
      <p:sp>
        <p:nvSpPr>
          <p:cNvPr id="32" name="Shape 30"/>
          <p:cNvSpPr/>
          <p:nvPr/>
        </p:nvSpPr>
        <p:spPr>
          <a:xfrm>
            <a:off x="4366260" y="3337560"/>
            <a:ext cx="365760" cy="365760"/>
          </a:xfrm>
          <a:prstGeom prst="ellipse">
            <a:avLst/>
          </a:prstGeom>
          <a:solidFill>
            <a:srgbClr val="1E40AF"/>
          </a:solidFill>
          <a:ln/>
        </p:spPr>
      </p:sp>
      <p:sp>
        <p:nvSpPr>
          <p:cNvPr id="33" name="Text 31"/>
          <p:cNvSpPr/>
          <p:nvPr/>
        </p:nvSpPr>
        <p:spPr>
          <a:xfrm>
            <a:off x="4366260" y="333756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4" name="Text 32"/>
          <p:cNvSpPr/>
          <p:nvPr/>
        </p:nvSpPr>
        <p:spPr>
          <a:xfrm>
            <a:off x="3291840" y="3794760"/>
            <a:ext cx="2514600" cy="548640"/>
          </a:xfrm>
          <a:prstGeom prst="rect">
            <a:avLst/>
          </a:prstGeom>
          <a:noFill/>
          <a:ln/>
        </p:spPr>
        <p:txBody>
          <a:bodyPr wrap="square" rtlCol="0" anchor="ctr"/>
          <a:lstStyle/>
          <a:p>
            <a:pPr algn="ctr" indent="0" marL="0">
              <a:buNone/>
            </a:pPr>
            <a:r>
              <a:rPr lang="en-US" sz="1000" b="1" dirty="0">
                <a:solidFill>
                  <a:srgbClr val="1E40AF"/>
                </a:solidFill>
                <a:latin typeface="Arial" pitchFamily="34" charset="0"/>
                <a:ea typeface="Arial" pitchFamily="34" charset="-122"/>
                <a:cs typeface="Arial" pitchFamily="34" charset="-120"/>
              </a:rPr>
              <a:t>Vấn đề</a:t>
            </a:r>
            <a:endParaRPr lang="en-US" sz="1000" dirty="0"/>
          </a:p>
          <a:p>
            <a:pPr algn="ctr" indent="0" marL="0">
              <a:buNone/>
            </a:pPr>
            <a:r>
              <a:rPr lang="en-US" sz="1000" b="1" dirty="0">
                <a:solidFill>
                  <a:srgbClr val="1E40AF"/>
                </a:solidFill>
                <a:latin typeface="Arial" pitchFamily="34" charset="0"/>
                <a:ea typeface="Arial" pitchFamily="34" charset="-122"/>
                <a:cs typeface="Arial" pitchFamily="34" charset="-120"/>
              </a:rPr>
              <a:t>lặp lại</a:t>
            </a:r>
            <a:endParaRPr lang="en-US" sz="1000" dirty="0"/>
          </a:p>
        </p:txBody>
      </p:sp>
      <p:sp>
        <p:nvSpPr>
          <p:cNvPr id="35" name="Text 33"/>
          <p:cNvSpPr/>
          <p:nvPr/>
        </p:nvSpPr>
        <p:spPr>
          <a:xfrm>
            <a:off x="3291840" y="4343400"/>
            <a:ext cx="2514600" cy="50292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Máy lỗi 2+ tuần</a:t>
            </a:r>
            <a:endParaRPr lang="en-US" sz="800" dirty="0"/>
          </a:p>
          <a:p>
            <a:pPr algn="ctr" indent="0" marL="0">
              <a:buNone/>
            </a:pPr>
            <a:r>
              <a:rPr lang="en-US" sz="800" dirty="0">
                <a:solidFill>
                  <a:srgbClr val="6B7280"/>
                </a:solidFill>
                <a:latin typeface="Arial" pitchFamily="34" charset="0"/>
                <a:ea typeface="Arial" pitchFamily="34" charset="-122"/>
                <a:cs typeface="Arial" pitchFamily="34" charset="-120"/>
              </a:rPr>
              <a:t>liên tiếp</a:t>
            </a:r>
            <a:endParaRPr lang="en-US" sz="800" dirty="0"/>
          </a:p>
        </p:txBody>
      </p:sp>
      <p:sp>
        <p:nvSpPr>
          <p:cNvPr id="36" name="Shape 34"/>
          <p:cNvSpPr/>
          <p:nvPr/>
        </p:nvSpPr>
        <p:spPr>
          <a:xfrm>
            <a:off x="6035040" y="3200400"/>
            <a:ext cx="2697480" cy="1737360"/>
          </a:xfrm>
          <a:prstGeom prst="roundRect">
            <a:avLst>
              <a:gd name="adj" fmla="val 4211"/>
            </a:avLst>
          </a:prstGeom>
          <a:solidFill>
            <a:srgbClr val="FEF9C3"/>
          </a:solidFill>
          <a:ln/>
        </p:spPr>
      </p:sp>
      <p:sp>
        <p:nvSpPr>
          <p:cNvPr id="37" name="Shape 35"/>
          <p:cNvSpPr/>
          <p:nvPr/>
        </p:nvSpPr>
        <p:spPr>
          <a:xfrm>
            <a:off x="7200900" y="3337560"/>
            <a:ext cx="365760" cy="365760"/>
          </a:xfrm>
          <a:prstGeom prst="ellipse">
            <a:avLst/>
          </a:prstGeom>
          <a:solidFill>
            <a:srgbClr val="1E40AF"/>
          </a:solidFill>
          <a:ln/>
        </p:spPr>
      </p:sp>
      <p:sp>
        <p:nvSpPr>
          <p:cNvPr id="38" name="Text 36"/>
          <p:cNvSpPr/>
          <p:nvPr/>
        </p:nvSpPr>
        <p:spPr>
          <a:xfrm>
            <a:off x="7200900" y="333756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9" name="Text 37"/>
          <p:cNvSpPr/>
          <p:nvPr/>
        </p:nvSpPr>
        <p:spPr>
          <a:xfrm>
            <a:off x="6126480" y="3794760"/>
            <a:ext cx="2514600" cy="548640"/>
          </a:xfrm>
          <a:prstGeom prst="rect">
            <a:avLst/>
          </a:prstGeom>
          <a:noFill/>
          <a:ln/>
        </p:spPr>
        <p:txBody>
          <a:bodyPr wrap="square" rtlCol="0" anchor="ctr"/>
          <a:lstStyle/>
          <a:p>
            <a:pPr algn="ctr" indent="0" marL="0">
              <a:buNone/>
            </a:pPr>
            <a:r>
              <a:rPr lang="en-US" sz="1000" b="1" dirty="0">
                <a:solidFill>
                  <a:srgbClr val="1E40AF"/>
                </a:solidFill>
                <a:latin typeface="Arial" pitchFamily="34" charset="0"/>
                <a:ea typeface="Arial" pitchFamily="34" charset="-122"/>
                <a:cs typeface="Arial" pitchFamily="34" charset="-120"/>
              </a:rPr>
              <a:t>Tỷ lệ</a:t>
            </a:r>
            <a:endParaRPr lang="en-US" sz="1000" dirty="0"/>
          </a:p>
          <a:p>
            <a:pPr algn="ctr" indent="0" marL="0">
              <a:buNone/>
            </a:pPr>
            <a:r>
              <a:rPr lang="en-US" sz="1000" b="1" dirty="0">
                <a:solidFill>
                  <a:srgbClr val="1E40AF"/>
                </a:solidFill>
                <a:latin typeface="Arial" pitchFamily="34" charset="0"/>
                <a:ea typeface="Arial" pitchFamily="34" charset="-122"/>
                <a:cs typeface="Arial" pitchFamily="34" charset="-120"/>
              </a:rPr>
              <a:t>lặp lại</a:t>
            </a:r>
            <a:endParaRPr lang="en-US" sz="1000" dirty="0"/>
          </a:p>
        </p:txBody>
      </p:sp>
      <p:sp>
        <p:nvSpPr>
          <p:cNvPr id="40" name="Text 38"/>
          <p:cNvSpPr/>
          <p:nvPr/>
        </p:nvSpPr>
        <p:spPr>
          <a:xfrm>
            <a:off x="6126480" y="4343400"/>
            <a:ext cx="2514600" cy="50292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Lặp lại / Tổng</a:t>
            </a:r>
            <a:endParaRPr lang="en-US" sz="800" dirty="0"/>
          </a:p>
          <a:p>
            <a:pPr algn="ctr" indent="0" marL="0">
              <a:buNone/>
            </a:pPr>
            <a:r>
              <a:rPr lang="en-US" sz="800" dirty="0">
                <a:solidFill>
                  <a:srgbClr val="6B7280"/>
                </a:solidFill>
                <a:latin typeface="Arial" pitchFamily="34" charset="0"/>
                <a:ea typeface="Arial" pitchFamily="34" charset="-122"/>
                <a:cs typeface="Arial" pitchFamily="34" charset="-120"/>
              </a:rPr>
              <a:t>máy kiểm tra %</a:t>
            </a:r>
            <a:endParaRPr lang="en-US" sz="800" dirty="0"/>
          </a:p>
        </p:txBody>
      </p:sp>
      <p:sp>
        <p:nvSpPr>
          <p:cNvPr id="41" name="Shape 39"/>
          <p:cNvSpPr/>
          <p:nvPr/>
        </p:nvSpPr>
        <p:spPr>
          <a:xfrm>
            <a:off x="365760" y="5394960"/>
            <a:ext cx="8412480" cy="411480"/>
          </a:xfrm>
          <a:prstGeom prst="roundRect">
            <a:avLst>
              <a:gd name="adj" fmla="val 17778"/>
            </a:avLst>
          </a:prstGeom>
          <a:solidFill>
            <a:srgbClr val="EFF6FF"/>
          </a:solidFill>
          <a:ln/>
        </p:spPr>
      </p:sp>
      <p:sp>
        <p:nvSpPr>
          <p:cNvPr id="42" name="Text 40"/>
          <p:cNvSpPr/>
          <p:nvPr/>
        </p:nvSpPr>
        <p:spPr>
          <a:xfrm>
            <a:off x="457200" y="5394960"/>
            <a:ext cx="8229600" cy="411480"/>
          </a:xfrm>
          <a:prstGeom prst="rect">
            <a:avLst/>
          </a:prstGeom>
          <a:noFill/>
          <a:ln/>
        </p:spPr>
        <p:txBody>
          <a:bodyPr wrap="square" rtlCol="0" anchor="ctr"/>
          <a:lstStyle/>
          <a:p>
            <a:pPr indent="0" marL="0">
              <a:buNone/>
            </a:pPr>
            <a:r>
              <a:rPr lang="en-US" sz="1000" dirty="0">
                <a:solidFill>
                  <a:srgbClr val="1E3A8A"/>
                </a:solidFill>
                <a:latin typeface="Arial" pitchFamily="34" charset="0"/>
                <a:ea typeface="Arial" pitchFamily="34" charset="-122"/>
                <a:cs typeface="Arial" pitchFamily="34" charset="-120"/>
              </a:rPr>
              <a:t>Sử dụng dropdown Năm và Tuần (W1-W52) ở góc trên bên phải để chọn kỳ báo cáo.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Bảng điều khiển - So sánh nhà máy</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SO SÁNH HÀNG TUẦN THEO NHÀ MÁY - So sánh tuần này vs tuần trước:</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12 / 16</a:t>
            </a:r>
            <a:endParaRPr lang="en-US" sz="800" dirty="0"/>
          </a:p>
        </p:txBody>
      </p:sp>
      <p:sp>
        <p:nvSpPr>
          <p:cNvPr id="6" name="Shape 4"/>
          <p:cNvSpPr/>
          <p:nvPr/>
        </p:nvSpPr>
        <p:spPr>
          <a:xfrm>
            <a:off x="457200" y="1188720"/>
            <a:ext cx="2011680" cy="457200"/>
          </a:xfrm>
          <a:prstGeom prst="rect">
            <a:avLst/>
          </a:prstGeom>
          <a:solidFill>
            <a:srgbClr val="1E40AF"/>
          </a:solidFill>
          <a:ln/>
        </p:spPr>
      </p:sp>
      <p:sp>
        <p:nvSpPr>
          <p:cNvPr id="7" name="Text 5"/>
          <p:cNvSpPr/>
          <p:nvPr/>
        </p:nvSpPr>
        <p:spPr>
          <a:xfrm>
            <a:off x="457200" y="1188720"/>
            <a:ext cx="2011680" cy="4572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Nhà máy</a:t>
            </a:r>
            <a:endParaRPr lang="en-US" sz="1100" dirty="0"/>
          </a:p>
        </p:txBody>
      </p:sp>
      <p:sp>
        <p:nvSpPr>
          <p:cNvPr id="8" name="Shape 6"/>
          <p:cNvSpPr/>
          <p:nvPr/>
        </p:nvSpPr>
        <p:spPr>
          <a:xfrm>
            <a:off x="2468880" y="1188720"/>
            <a:ext cx="2011680" cy="457200"/>
          </a:xfrm>
          <a:prstGeom prst="rect">
            <a:avLst/>
          </a:prstGeom>
          <a:solidFill>
            <a:srgbClr val="1E40AF"/>
          </a:solidFill>
          <a:ln/>
        </p:spPr>
      </p:sp>
      <p:sp>
        <p:nvSpPr>
          <p:cNvPr id="9" name="Text 7"/>
          <p:cNvSpPr/>
          <p:nvPr/>
        </p:nvSpPr>
        <p:spPr>
          <a:xfrm>
            <a:off x="2468880" y="1188720"/>
            <a:ext cx="2011680" cy="4572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Lỗi tuần trước</a:t>
            </a:r>
            <a:endParaRPr lang="en-US" sz="1100" dirty="0"/>
          </a:p>
        </p:txBody>
      </p:sp>
      <p:sp>
        <p:nvSpPr>
          <p:cNvPr id="10" name="Shape 8"/>
          <p:cNvSpPr/>
          <p:nvPr/>
        </p:nvSpPr>
        <p:spPr>
          <a:xfrm>
            <a:off x="4480560" y="1188720"/>
            <a:ext cx="2011680" cy="457200"/>
          </a:xfrm>
          <a:prstGeom prst="rect">
            <a:avLst/>
          </a:prstGeom>
          <a:solidFill>
            <a:srgbClr val="1E40AF"/>
          </a:solidFill>
          <a:ln/>
        </p:spPr>
      </p:sp>
      <p:sp>
        <p:nvSpPr>
          <p:cNvPr id="11" name="Text 9"/>
          <p:cNvSpPr/>
          <p:nvPr/>
        </p:nvSpPr>
        <p:spPr>
          <a:xfrm>
            <a:off x="4480560" y="1188720"/>
            <a:ext cx="2011680" cy="4572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Lỗi tuần này</a:t>
            </a:r>
            <a:endParaRPr lang="en-US" sz="1100" dirty="0"/>
          </a:p>
        </p:txBody>
      </p:sp>
      <p:sp>
        <p:nvSpPr>
          <p:cNvPr id="12" name="Shape 10"/>
          <p:cNvSpPr/>
          <p:nvPr/>
        </p:nvSpPr>
        <p:spPr>
          <a:xfrm>
            <a:off x="6492240" y="1188720"/>
            <a:ext cx="2560320" cy="457200"/>
          </a:xfrm>
          <a:prstGeom prst="rect">
            <a:avLst/>
          </a:prstGeom>
          <a:solidFill>
            <a:srgbClr val="1E40AF"/>
          </a:solidFill>
          <a:ln/>
        </p:spPr>
      </p:sp>
      <p:sp>
        <p:nvSpPr>
          <p:cNvPr id="13" name="Text 11"/>
          <p:cNvSpPr/>
          <p:nvPr/>
        </p:nvSpPr>
        <p:spPr>
          <a:xfrm>
            <a:off x="6492240" y="1188720"/>
            <a:ext cx="2560320" cy="4572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Cải thiện</a:t>
            </a:r>
            <a:endParaRPr lang="en-US" sz="1100" dirty="0"/>
          </a:p>
        </p:txBody>
      </p:sp>
      <p:sp>
        <p:nvSpPr>
          <p:cNvPr id="14" name="Shape 12"/>
          <p:cNvSpPr/>
          <p:nvPr/>
        </p:nvSpPr>
        <p:spPr>
          <a:xfrm>
            <a:off x="457200" y="1645920"/>
            <a:ext cx="2011680" cy="457200"/>
          </a:xfrm>
          <a:prstGeom prst="rect">
            <a:avLst/>
          </a:prstGeom>
          <a:solidFill>
            <a:srgbClr val="F3F4F6"/>
          </a:solidFill>
          <a:ln w="6350">
            <a:solidFill>
              <a:srgbClr val="E5E7EB"/>
            </a:solidFill>
            <a:prstDash val="solid"/>
          </a:ln>
        </p:spPr>
      </p:sp>
      <p:sp>
        <p:nvSpPr>
          <p:cNvPr id="15" name="Text 13"/>
          <p:cNvSpPr/>
          <p:nvPr/>
        </p:nvSpPr>
        <p:spPr>
          <a:xfrm>
            <a:off x="457200" y="16459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Nhà máy A</a:t>
            </a:r>
            <a:endParaRPr lang="en-US" sz="1100" dirty="0"/>
          </a:p>
        </p:txBody>
      </p:sp>
      <p:sp>
        <p:nvSpPr>
          <p:cNvPr id="16" name="Shape 14"/>
          <p:cNvSpPr/>
          <p:nvPr/>
        </p:nvSpPr>
        <p:spPr>
          <a:xfrm>
            <a:off x="2468880" y="1645920"/>
            <a:ext cx="2011680" cy="457200"/>
          </a:xfrm>
          <a:prstGeom prst="rect">
            <a:avLst/>
          </a:prstGeom>
          <a:solidFill>
            <a:srgbClr val="F3F4F6"/>
          </a:solidFill>
          <a:ln w="6350">
            <a:solidFill>
              <a:srgbClr val="E5E7EB"/>
            </a:solidFill>
            <a:prstDash val="solid"/>
          </a:ln>
        </p:spPr>
      </p:sp>
      <p:sp>
        <p:nvSpPr>
          <p:cNvPr id="17" name="Text 15"/>
          <p:cNvSpPr/>
          <p:nvPr/>
        </p:nvSpPr>
        <p:spPr>
          <a:xfrm>
            <a:off x="2468880" y="16459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2</a:t>
            </a:r>
            <a:endParaRPr lang="en-US" sz="1100" dirty="0"/>
          </a:p>
        </p:txBody>
      </p:sp>
      <p:sp>
        <p:nvSpPr>
          <p:cNvPr id="18" name="Shape 16"/>
          <p:cNvSpPr/>
          <p:nvPr/>
        </p:nvSpPr>
        <p:spPr>
          <a:xfrm>
            <a:off x="4480560" y="1645920"/>
            <a:ext cx="2011680" cy="457200"/>
          </a:xfrm>
          <a:prstGeom prst="rect">
            <a:avLst/>
          </a:prstGeom>
          <a:solidFill>
            <a:srgbClr val="F3F4F6"/>
          </a:solidFill>
          <a:ln w="6350">
            <a:solidFill>
              <a:srgbClr val="E5E7EB"/>
            </a:solidFill>
            <a:prstDash val="solid"/>
          </a:ln>
        </p:spPr>
      </p:sp>
      <p:sp>
        <p:nvSpPr>
          <p:cNvPr id="19" name="Text 17"/>
          <p:cNvSpPr/>
          <p:nvPr/>
        </p:nvSpPr>
        <p:spPr>
          <a:xfrm>
            <a:off x="4480560" y="16459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1</a:t>
            </a:r>
            <a:endParaRPr lang="en-US" sz="1100" dirty="0"/>
          </a:p>
        </p:txBody>
      </p:sp>
      <p:sp>
        <p:nvSpPr>
          <p:cNvPr id="20" name="Shape 18"/>
          <p:cNvSpPr/>
          <p:nvPr/>
        </p:nvSpPr>
        <p:spPr>
          <a:xfrm>
            <a:off x="6492240" y="1645920"/>
            <a:ext cx="2560320" cy="457200"/>
          </a:xfrm>
          <a:prstGeom prst="rect">
            <a:avLst/>
          </a:prstGeom>
          <a:solidFill>
            <a:srgbClr val="F3F4F6"/>
          </a:solidFill>
          <a:ln w="6350">
            <a:solidFill>
              <a:srgbClr val="E5E7EB"/>
            </a:solidFill>
            <a:prstDash val="solid"/>
          </a:ln>
        </p:spPr>
      </p:sp>
      <p:sp>
        <p:nvSpPr>
          <p:cNvPr id="21" name="Shape 19"/>
          <p:cNvSpPr/>
          <p:nvPr/>
        </p:nvSpPr>
        <p:spPr>
          <a:xfrm>
            <a:off x="6766560" y="1737360"/>
            <a:ext cx="2011680" cy="274320"/>
          </a:xfrm>
          <a:prstGeom prst="roundRect">
            <a:avLst>
              <a:gd name="adj" fmla="val 20000"/>
            </a:avLst>
          </a:prstGeom>
          <a:solidFill>
            <a:srgbClr val="DCFCE7"/>
          </a:solidFill>
          <a:ln/>
        </p:spPr>
      </p:sp>
      <p:sp>
        <p:nvSpPr>
          <p:cNvPr id="22" name="Text 20"/>
          <p:cNvSpPr/>
          <p:nvPr/>
        </p:nvSpPr>
        <p:spPr>
          <a:xfrm>
            <a:off x="6766560" y="1737360"/>
            <a:ext cx="2011680" cy="274320"/>
          </a:xfrm>
          <a:prstGeom prst="rect">
            <a:avLst/>
          </a:prstGeom>
          <a:noFill/>
          <a:ln/>
        </p:spPr>
        <p:txBody>
          <a:bodyPr wrap="square" rtlCol="0" anchor="ctr"/>
          <a:lstStyle/>
          <a:p>
            <a:pPr algn="ctr" indent="0" marL="0">
              <a:buNone/>
            </a:pPr>
            <a:r>
              <a:rPr lang="en-US" sz="1000" b="1" dirty="0">
                <a:solidFill>
                  <a:srgbClr val="16A34A"/>
                </a:solidFill>
                <a:latin typeface="Arial" pitchFamily="34" charset="0"/>
                <a:ea typeface="Arial" pitchFamily="34" charset="-122"/>
                <a:cs typeface="Arial" pitchFamily="34" charset="-120"/>
              </a:rPr>
              <a:t>Cải thiện</a:t>
            </a:r>
            <a:endParaRPr lang="en-US" sz="1000" dirty="0"/>
          </a:p>
        </p:txBody>
      </p:sp>
      <p:sp>
        <p:nvSpPr>
          <p:cNvPr id="23" name="Shape 21"/>
          <p:cNvSpPr/>
          <p:nvPr/>
        </p:nvSpPr>
        <p:spPr>
          <a:xfrm>
            <a:off x="457200" y="2103120"/>
            <a:ext cx="2011680" cy="457200"/>
          </a:xfrm>
          <a:prstGeom prst="rect">
            <a:avLst/>
          </a:prstGeom>
          <a:solidFill>
            <a:srgbClr val="FFFFFF"/>
          </a:solidFill>
          <a:ln w="6350">
            <a:solidFill>
              <a:srgbClr val="E5E7EB"/>
            </a:solidFill>
            <a:prstDash val="solid"/>
          </a:ln>
        </p:spPr>
      </p:sp>
      <p:sp>
        <p:nvSpPr>
          <p:cNvPr id="24" name="Text 22"/>
          <p:cNvSpPr/>
          <p:nvPr/>
        </p:nvSpPr>
        <p:spPr>
          <a:xfrm>
            <a:off x="457200" y="21031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Nhà máy B</a:t>
            </a:r>
            <a:endParaRPr lang="en-US" sz="1100" dirty="0"/>
          </a:p>
        </p:txBody>
      </p:sp>
      <p:sp>
        <p:nvSpPr>
          <p:cNvPr id="25" name="Shape 23"/>
          <p:cNvSpPr/>
          <p:nvPr/>
        </p:nvSpPr>
        <p:spPr>
          <a:xfrm>
            <a:off x="2468880" y="2103120"/>
            <a:ext cx="2011680" cy="457200"/>
          </a:xfrm>
          <a:prstGeom prst="rect">
            <a:avLst/>
          </a:prstGeom>
          <a:solidFill>
            <a:srgbClr val="FFFFFF"/>
          </a:solidFill>
          <a:ln w="6350">
            <a:solidFill>
              <a:srgbClr val="E5E7EB"/>
            </a:solidFill>
            <a:prstDash val="solid"/>
          </a:ln>
        </p:spPr>
      </p:sp>
      <p:sp>
        <p:nvSpPr>
          <p:cNvPr id="26" name="Text 24"/>
          <p:cNvSpPr/>
          <p:nvPr/>
        </p:nvSpPr>
        <p:spPr>
          <a:xfrm>
            <a:off x="2468880" y="21031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0</a:t>
            </a:r>
            <a:endParaRPr lang="en-US" sz="1100" dirty="0"/>
          </a:p>
        </p:txBody>
      </p:sp>
      <p:sp>
        <p:nvSpPr>
          <p:cNvPr id="27" name="Shape 25"/>
          <p:cNvSpPr/>
          <p:nvPr/>
        </p:nvSpPr>
        <p:spPr>
          <a:xfrm>
            <a:off x="4480560" y="2103120"/>
            <a:ext cx="2011680" cy="457200"/>
          </a:xfrm>
          <a:prstGeom prst="rect">
            <a:avLst/>
          </a:prstGeom>
          <a:solidFill>
            <a:srgbClr val="FFFFFF"/>
          </a:solidFill>
          <a:ln w="6350">
            <a:solidFill>
              <a:srgbClr val="E5E7EB"/>
            </a:solidFill>
            <a:prstDash val="solid"/>
          </a:ln>
        </p:spPr>
      </p:sp>
      <p:sp>
        <p:nvSpPr>
          <p:cNvPr id="28" name="Text 26"/>
          <p:cNvSpPr/>
          <p:nvPr/>
        </p:nvSpPr>
        <p:spPr>
          <a:xfrm>
            <a:off x="4480560" y="21031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0</a:t>
            </a:r>
            <a:endParaRPr lang="en-US" sz="1100" dirty="0"/>
          </a:p>
        </p:txBody>
      </p:sp>
      <p:sp>
        <p:nvSpPr>
          <p:cNvPr id="29" name="Shape 27"/>
          <p:cNvSpPr/>
          <p:nvPr/>
        </p:nvSpPr>
        <p:spPr>
          <a:xfrm>
            <a:off x="6492240" y="2103120"/>
            <a:ext cx="2560320" cy="457200"/>
          </a:xfrm>
          <a:prstGeom prst="rect">
            <a:avLst/>
          </a:prstGeom>
          <a:solidFill>
            <a:srgbClr val="FFFFFF"/>
          </a:solidFill>
          <a:ln w="6350">
            <a:solidFill>
              <a:srgbClr val="E5E7EB"/>
            </a:solidFill>
            <a:prstDash val="solid"/>
          </a:ln>
        </p:spPr>
      </p:sp>
      <p:sp>
        <p:nvSpPr>
          <p:cNvPr id="30" name="Shape 28"/>
          <p:cNvSpPr/>
          <p:nvPr/>
        </p:nvSpPr>
        <p:spPr>
          <a:xfrm>
            <a:off x="6766560" y="2194560"/>
            <a:ext cx="2011680" cy="274320"/>
          </a:xfrm>
          <a:prstGeom prst="roundRect">
            <a:avLst>
              <a:gd name="adj" fmla="val 20000"/>
            </a:avLst>
          </a:prstGeom>
          <a:solidFill>
            <a:srgbClr val="F3F4F6"/>
          </a:solidFill>
          <a:ln/>
        </p:spPr>
      </p:sp>
      <p:sp>
        <p:nvSpPr>
          <p:cNvPr id="31" name="Text 29"/>
          <p:cNvSpPr/>
          <p:nvPr/>
        </p:nvSpPr>
        <p:spPr>
          <a:xfrm>
            <a:off x="6766560" y="2194560"/>
            <a:ext cx="2011680" cy="274320"/>
          </a:xfrm>
          <a:prstGeom prst="rect">
            <a:avLst/>
          </a:prstGeom>
          <a:noFill/>
          <a:ln/>
        </p:spPr>
        <p:txBody>
          <a:bodyPr wrap="square" rtlCol="0" anchor="ctr"/>
          <a:lstStyle/>
          <a:p>
            <a:pPr algn="ctr" indent="0" marL="0">
              <a:buNone/>
            </a:pPr>
            <a:r>
              <a:rPr lang="en-US" sz="1000" b="1" dirty="0">
                <a:solidFill>
                  <a:srgbClr val="6B7280"/>
                </a:solidFill>
                <a:latin typeface="Arial" pitchFamily="34" charset="0"/>
                <a:ea typeface="Arial" pitchFamily="34" charset="-122"/>
                <a:cs typeface="Arial" pitchFamily="34" charset="-120"/>
              </a:rPr>
              <a:t>Không đổi</a:t>
            </a:r>
            <a:endParaRPr lang="en-US" sz="1000" dirty="0"/>
          </a:p>
        </p:txBody>
      </p:sp>
      <p:sp>
        <p:nvSpPr>
          <p:cNvPr id="32" name="Shape 30"/>
          <p:cNvSpPr/>
          <p:nvPr/>
        </p:nvSpPr>
        <p:spPr>
          <a:xfrm>
            <a:off x="457200" y="2560320"/>
            <a:ext cx="2011680" cy="457200"/>
          </a:xfrm>
          <a:prstGeom prst="rect">
            <a:avLst/>
          </a:prstGeom>
          <a:solidFill>
            <a:srgbClr val="F3F4F6"/>
          </a:solidFill>
          <a:ln w="6350">
            <a:solidFill>
              <a:srgbClr val="E5E7EB"/>
            </a:solidFill>
            <a:prstDash val="solid"/>
          </a:ln>
        </p:spPr>
      </p:sp>
      <p:sp>
        <p:nvSpPr>
          <p:cNvPr id="33" name="Text 31"/>
          <p:cNvSpPr/>
          <p:nvPr/>
        </p:nvSpPr>
        <p:spPr>
          <a:xfrm>
            <a:off x="457200" y="25603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Nhà máy C</a:t>
            </a:r>
            <a:endParaRPr lang="en-US" sz="1100" dirty="0"/>
          </a:p>
        </p:txBody>
      </p:sp>
      <p:sp>
        <p:nvSpPr>
          <p:cNvPr id="34" name="Shape 32"/>
          <p:cNvSpPr/>
          <p:nvPr/>
        </p:nvSpPr>
        <p:spPr>
          <a:xfrm>
            <a:off x="2468880" y="2560320"/>
            <a:ext cx="2011680" cy="457200"/>
          </a:xfrm>
          <a:prstGeom prst="rect">
            <a:avLst/>
          </a:prstGeom>
          <a:solidFill>
            <a:srgbClr val="F3F4F6"/>
          </a:solidFill>
          <a:ln w="6350">
            <a:solidFill>
              <a:srgbClr val="E5E7EB"/>
            </a:solidFill>
            <a:prstDash val="solid"/>
          </a:ln>
        </p:spPr>
      </p:sp>
      <p:sp>
        <p:nvSpPr>
          <p:cNvPr id="35" name="Text 33"/>
          <p:cNvSpPr/>
          <p:nvPr/>
        </p:nvSpPr>
        <p:spPr>
          <a:xfrm>
            <a:off x="2468880" y="25603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3</a:t>
            </a:r>
            <a:endParaRPr lang="en-US" sz="1100" dirty="0"/>
          </a:p>
        </p:txBody>
      </p:sp>
      <p:sp>
        <p:nvSpPr>
          <p:cNvPr id="36" name="Shape 34"/>
          <p:cNvSpPr/>
          <p:nvPr/>
        </p:nvSpPr>
        <p:spPr>
          <a:xfrm>
            <a:off x="4480560" y="2560320"/>
            <a:ext cx="2011680" cy="457200"/>
          </a:xfrm>
          <a:prstGeom prst="rect">
            <a:avLst/>
          </a:prstGeom>
          <a:solidFill>
            <a:srgbClr val="F3F4F6"/>
          </a:solidFill>
          <a:ln w="6350">
            <a:solidFill>
              <a:srgbClr val="E5E7EB"/>
            </a:solidFill>
            <a:prstDash val="solid"/>
          </a:ln>
        </p:spPr>
      </p:sp>
      <p:sp>
        <p:nvSpPr>
          <p:cNvPr id="37" name="Text 35"/>
          <p:cNvSpPr/>
          <p:nvPr/>
        </p:nvSpPr>
        <p:spPr>
          <a:xfrm>
            <a:off x="4480560" y="25603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4</a:t>
            </a:r>
            <a:endParaRPr lang="en-US" sz="1100" dirty="0"/>
          </a:p>
        </p:txBody>
      </p:sp>
      <p:sp>
        <p:nvSpPr>
          <p:cNvPr id="38" name="Shape 36"/>
          <p:cNvSpPr/>
          <p:nvPr/>
        </p:nvSpPr>
        <p:spPr>
          <a:xfrm>
            <a:off x="6492240" y="2560320"/>
            <a:ext cx="2560320" cy="457200"/>
          </a:xfrm>
          <a:prstGeom prst="rect">
            <a:avLst/>
          </a:prstGeom>
          <a:solidFill>
            <a:srgbClr val="F3F4F6"/>
          </a:solidFill>
          <a:ln w="6350">
            <a:solidFill>
              <a:srgbClr val="E5E7EB"/>
            </a:solidFill>
            <a:prstDash val="solid"/>
          </a:ln>
        </p:spPr>
      </p:sp>
      <p:sp>
        <p:nvSpPr>
          <p:cNvPr id="39" name="Shape 37"/>
          <p:cNvSpPr/>
          <p:nvPr/>
        </p:nvSpPr>
        <p:spPr>
          <a:xfrm>
            <a:off x="6766560" y="2651760"/>
            <a:ext cx="2011680" cy="274320"/>
          </a:xfrm>
          <a:prstGeom prst="roundRect">
            <a:avLst>
              <a:gd name="adj" fmla="val 20000"/>
            </a:avLst>
          </a:prstGeom>
          <a:solidFill>
            <a:srgbClr val="FEE2E2"/>
          </a:solidFill>
          <a:ln/>
        </p:spPr>
      </p:sp>
      <p:sp>
        <p:nvSpPr>
          <p:cNvPr id="40" name="Text 38"/>
          <p:cNvSpPr/>
          <p:nvPr/>
        </p:nvSpPr>
        <p:spPr>
          <a:xfrm>
            <a:off x="6766560" y="2651760"/>
            <a:ext cx="2011680" cy="274320"/>
          </a:xfrm>
          <a:prstGeom prst="rect">
            <a:avLst/>
          </a:prstGeom>
          <a:noFill/>
          <a:ln/>
        </p:spPr>
        <p:txBody>
          <a:bodyPr wrap="square"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Tăng</a:t>
            </a:r>
            <a:endParaRPr lang="en-US" sz="1000" dirty="0"/>
          </a:p>
        </p:txBody>
      </p:sp>
      <p:sp>
        <p:nvSpPr>
          <p:cNvPr id="41" name="Shape 39"/>
          <p:cNvSpPr/>
          <p:nvPr/>
        </p:nvSpPr>
        <p:spPr>
          <a:xfrm>
            <a:off x="457200" y="3017520"/>
            <a:ext cx="2011680" cy="457200"/>
          </a:xfrm>
          <a:prstGeom prst="rect">
            <a:avLst/>
          </a:prstGeom>
          <a:solidFill>
            <a:srgbClr val="FFFFFF"/>
          </a:solidFill>
          <a:ln w="6350">
            <a:solidFill>
              <a:srgbClr val="E5E7EB"/>
            </a:solidFill>
            <a:prstDash val="solid"/>
          </a:ln>
        </p:spPr>
      </p:sp>
      <p:sp>
        <p:nvSpPr>
          <p:cNvPr id="42" name="Text 40"/>
          <p:cNvSpPr/>
          <p:nvPr/>
        </p:nvSpPr>
        <p:spPr>
          <a:xfrm>
            <a:off x="457200" y="30175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Nhà máy D</a:t>
            </a:r>
            <a:endParaRPr lang="en-US" sz="1100" dirty="0"/>
          </a:p>
        </p:txBody>
      </p:sp>
      <p:sp>
        <p:nvSpPr>
          <p:cNvPr id="43" name="Shape 41"/>
          <p:cNvSpPr/>
          <p:nvPr/>
        </p:nvSpPr>
        <p:spPr>
          <a:xfrm>
            <a:off x="2468880" y="3017520"/>
            <a:ext cx="2011680" cy="457200"/>
          </a:xfrm>
          <a:prstGeom prst="rect">
            <a:avLst/>
          </a:prstGeom>
          <a:solidFill>
            <a:srgbClr val="FFFFFF"/>
          </a:solidFill>
          <a:ln w="6350">
            <a:solidFill>
              <a:srgbClr val="E5E7EB"/>
            </a:solidFill>
            <a:prstDash val="solid"/>
          </a:ln>
        </p:spPr>
      </p:sp>
      <p:sp>
        <p:nvSpPr>
          <p:cNvPr id="44" name="Text 42"/>
          <p:cNvSpPr/>
          <p:nvPr/>
        </p:nvSpPr>
        <p:spPr>
          <a:xfrm>
            <a:off x="2468880" y="30175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1</a:t>
            </a:r>
            <a:endParaRPr lang="en-US" sz="1100" dirty="0"/>
          </a:p>
        </p:txBody>
      </p:sp>
      <p:sp>
        <p:nvSpPr>
          <p:cNvPr id="45" name="Shape 43"/>
          <p:cNvSpPr/>
          <p:nvPr/>
        </p:nvSpPr>
        <p:spPr>
          <a:xfrm>
            <a:off x="4480560" y="3017520"/>
            <a:ext cx="2011680" cy="457200"/>
          </a:xfrm>
          <a:prstGeom prst="rect">
            <a:avLst/>
          </a:prstGeom>
          <a:solidFill>
            <a:srgbClr val="FFFFFF"/>
          </a:solidFill>
          <a:ln w="6350">
            <a:solidFill>
              <a:srgbClr val="E5E7EB"/>
            </a:solidFill>
            <a:prstDash val="solid"/>
          </a:ln>
        </p:spPr>
      </p:sp>
      <p:sp>
        <p:nvSpPr>
          <p:cNvPr id="46" name="Text 44"/>
          <p:cNvSpPr/>
          <p:nvPr/>
        </p:nvSpPr>
        <p:spPr>
          <a:xfrm>
            <a:off x="4480560" y="3017520"/>
            <a:ext cx="2011680" cy="457200"/>
          </a:xfrm>
          <a:prstGeom prst="rect">
            <a:avLst/>
          </a:prstGeom>
          <a:noFill/>
          <a:ln/>
        </p:spPr>
        <p:txBody>
          <a:bodyPr wrap="square" rtlCol="0" anchor="ctr"/>
          <a:lstStyle/>
          <a:p>
            <a:pPr algn="ctr" indent="0" marL="0">
              <a:buNone/>
            </a:pPr>
            <a:r>
              <a:rPr lang="en-US" sz="1100" dirty="0">
                <a:solidFill>
                  <a:srgbClr val="1F2937"/>
                </a:solidFill>
                <a:latin typeface="Arial" pitchFamily="34" charset="0"/>
                <a:ea typeface="Arial" pitchFamily="34" charset="-122"/>
                <a:cs typeface="Arial" pitchFamily="34" charset="-120"/>
              </a:rPr>
              <a:t>0</a:t>
            </a:r>
            <a:endParaRPr lang="en-US" sz="1100" dirty="0"/>
          </a:p>
        </p:txBody>
      </p:sp>
      <p:sp>
        <p:nvSpPr>
          <p:cNvPr id="47" name="Shape 45"/>
          <p:cNvSpPr/>
          <p:nvPr/>
        </p:nvSpPr>
        <p:spPr>
          <a:xfrm>
            <a:off x="6492240" y="3017520"/>
            <a:ext cx="2560320" cy="457200"/>
          </a:xfrm>
          <a:prstGeom prst="rect">
            <a:avLst/>
          </a:prstGeom>
          <a:solidFill>
            <a:srgbClr val="FFFFFF"/>
          </a:solidFill>
          <a:ln w="6350">
            <a:solidFill>
              <a:srgbClr val="E5E7EB"/>
            </a:solidFill>
            <a:prstDash val="solid"/>
          </a:ln>
        </p:spPr>
      </p:sp>
      <p:sp>
        <p:nvSpPr>
          <p:cNvPr id="48" name="Shape 46"/>
          <p:cNvSpPr/>
          <p:nvPr/>
        </p:nvSpPr>
        <p:spPr>
          <a:xfrm>
            <a:off x="6766560" y="3108960"/>
            <a:ext cx="2011680" cy="274320"/>
          </a:xfrm>
          <a:prstGeom prst="roundRect">
            <a:avLst>
              <a:gd name="adj" fmla="val 20000"/>
            </a:avLst>
          </a:prstGeom>
          <a:solidFill>
            <a:srgbClr val="DCFCE7"/>
          </a:solidFill>
          <a:ln/>
        </p:spPr>
      </p:sp>
      <p:sp>
        <p:nvSpPr>
          <p:cNvPr id="49" name="Text 47"/>
          <p:cNvSpPr/>
          <p:nvPr/>
        </p:nvSpPr>
        <p:spPr>
          <a:xfrm>
            <a:off x="6766560" y="3108960"/>
            <a:ext cx="2011680" cy="274320"/>
          </a:xfrm>
          <a:prstGeom prst="rect">
            <a:avLst/>
          </a:prstGeom>
          <a:noFill/>
          <a:ln/>
        </p:spPr>
        <p:txBody>
          <a:bodyPr wrap="square" rtlCol="0" anchor="ctr"/>
          <a:lstStyle/>
          <a:p>
            <a:pPr algn="ctr" indent="0" marL="0">
              <a:buNone/>
            </a:pPr>
            <a:r>
              <a:rPr lang="en-US" sz="1000" b="1" dirty="0">
                <a:solidFill>
                  <a:srgbClr val="16A34A"/>
                </a:solidFill>
                <a:latin typeface="Arial" pitchFamily="34" charset="0"/>
                <a:ea typeface="Arial" pitchFamily="34" charset="-122"/>
                <a:cs typeface="Arial" pitchFamily="34" charset="-120"/>
              </a:rPr>
              <a:t>Cải thiện</a:t>
            </a:r>
            <a:endParaRPr lang="en-US" sz="1000" dirty="0"/>
          </a:p>
        </p:txBody>
      </p:sp>
      <p:sp>
        <p:nvSpPr>
          <p:cNvPr id="50" name="Shape 48"/>
          <p:cNvSpPr/>
          <p:nvPr/>
        </p:nvSpPr>
        <p:spPr>
          <a:xfrm>
            <a:off x="457200" y="3657600"/>
            <a:ext cx="8229600" cy="457200"/>
          </a:xfrm>
          <a:prstGeom prst="roundRect">
            <a:avLst>
              <a:gd name="adj" fmla="val 16000"/>
            </a:avLst>
          </a:prstGeom>
          <a:solidFill>
            <a:srgbClr val="EFF6FF"/>
          </a:solidFill>
          <a:ln/>
        </p:spPr>
      </p:sp>
      <p:sp>
        <p:nvSpPr>
          <p:cNvPr id="51" name="Text 49"/>
          <p:cNvSpPr/>
          <p:nvPr/>
        </p:nvSpPr>
        <p:spPr>
          <a:xfrm>
            <a:off x="548640" y="3657600"/>
            <a:ext cx="8046720" cy="457200"/>
          </a:xfrm>
          <a:prstGeom prst="rect">
            <a:avLst/>
          </a:prstGeom>
          <a:noFill/>
          <a:ln/>
        </p:spPr>
        <p:txBody>
          <a:bodyPr wrap="square" rtlCol="0" anchor="ctr"/>
          <a:lstStyle/>
          <a:p>
            <a:pPr indent="0" marL="0">
              <a:buNone/>
            </a:pPr>
            <a:r>
              <a:rPr lang="en-US" sz="1000" dirty="0">
                <a:solidFill>
                  <a:srgbClr val="1E3A8A"/>
                </a:solidFill>
                <a:latin typeface="Arial" pitchFamily="34" charset="0"/>
                <a:ea typeface="Arial" pitchFamily="34" charset="-122"/>
                <a:cs typeface="Arial" pitchFamily="34" charset="-120"/>
              </a:rPr>
              <a:t>Bên dưới bảng: Biểu đồ cột (Đạt/Lỗi theo nhà máy) và Biểu đồ đường (xu hướng tỷ lệ đạt 12 tuần).</a:t>
            </a:r>
            <a:endParaRPr lang="en-US" sz="1000" dirty="0"/>
          </a:p>
        </p:txBody>
      </p:sp>
      <p:sp>
        <p:nvSpPr>
          <p:cNvPr id="52" name="Shape 50"/>
          <p:cNvSpPr/>
          <p:nvPr/>
        </p:nvSpPr>
        <p:spPr>
          <a:xfrm>
            <a:off x="457200" y="4297680"/>
            <a:ext cx="3840480" cy="1828800"/>
          </a:xfrm>
          <a:prstGeom prst="roundRect">
            <a:avLst>
              <a:gd name="adj" fmla="val 4000"/>
            </a:avLst>
          </a:prstGeom>
          <a:solidFill>
            <a:srgbClr val="F3F4F6"/>
          </a:solidFill>
          <a:ln/>
        </p:spPr>
      </p:sp>
      <p:sp>
        <p:nvSpPr>
          <p:cNvPr id="53" name="Text 51"/>
          <p:cNvSpPr/>
          <p:nvPr/>
        </p:nvSpPr>
        <p:spPr>
          <a:xfrm>
            <a:off x="457200" y="4297680"/>
            <a:ext cx="3840480" cy="18288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Bar Chart: Pass/Fail by Factory</a:t>
            </a:r>
            <a:endParaRPr lang="en-US" sz="1000" dirty="0"/>
          </a:p>
        </p:txBody>
      </p:sp>
      <p:sp>
        <p:nvSpPr>
          <p:cNvPr id="54" name="Shape 52"/>
          <p:cNvSpPr/>
          <p:nvPr/>
        </p:nvSpPr>
        <p:spPr>
          <a:xfrm>
            <a:off x="4572000" y="4297680"/>
            <a:ext cx="4114800" cy="1828800"/>
          </a:xfrm>
          <a:prstGeom prst="roundRect">
            <a:avLst>
              <a:gd name="adj" fmla="val 4000"/>
            </a:avLst>
          </a:prstGeom>
          <a:solidFill>
            <a:srgbClr val="F3F4F6"/>
          </a:solidFill>
          <a:ln/>
        </p:spPr>
      </p:sp>
      <p:sp>
        <p:nvSpPr>
          <p:cNvPr id="55" name="Text 53"/>
          <p:cNvSpPr/>
          <p:nvPr/>
        </p:nvSpPr>
        <p:spPr>
          <a:xfrm>
            <a:off x="4572000" y="4297680"/>
            <a:ext cx="4114800" cy="18288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Line Chart: 12-Week Pass Rate Trend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Bảng điều khiển - Vấn đề lặp lại &amp; Tỷ lệ đạt</a:t>
            </a:r>
            <a:endParaRPr lang="en-US" sz="2400" dirty="0"/>
          </a:p>
        </p:txBody>
      </p:sp>
      <p:sp>
        <p:nvSpPr>
          <p:cNvPr id="4" name="Text 2"/>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13 / 16</a:t>
            </a:r>
            <a:endParaRPr lang="en-US" sz="800" dirty="0"/>
          </a:p>
        </p:txBody>
      </p:sp>
      <p:sp>
        <p:nvSpPr>
          <p:cNvPr id="5" name="Text 3"/>
          <p:cNvSpPr/>
          <p:nvPr/>
        </p:nvSpPr>
        <p:spPr>
          <a:xfrm>
            <a:off x="457200" y="731520"/>
            <a:ext cx="8229600" cy="320040"/>
          </a:xfrm>
          <a:prstGeom prst="rect">
            <a:avLst/>
          </a:prstGeom>
          <a:noFill/>
          <a:ln/>
        </p:spPr>
        <p:txBody>
          <a:bodyPr wrap="square" rtlCol="0" anchor="ctr"/>
          <a:lstStyle/>
          <a:p>
            <a:pPr indent="0" marL="0">
              <a:buNone/>
            </a:pPr>
            <a:r>
              <a:rPr lang="en-US" sz="1300" b="1" dirty="0">
                <a:solidFill>
                  <a:srgbClr val="DC2626"/>
                </a:solidFill>
                <a:latin typeface="Arial" pitchFamily="34" charset="0"/>
                <a:ea typeface="Arial" pitchFamily="34" charset="-122"/>
                <a:cs typeface="Arial" pitchFamily="34" charset="-120"/>
              </a:rPr>
              <a:t>Phân tích máy có vấn đề lặp lại</a:t>
            </a:r>
            <a:endParaRPr lang="en-US" sz="1300" dirty="0"/>
          </a:p>
        </p:txBody>
      </p:sp>
      <p:sp>
        <p:nvSpPr>
          <p:cNvPr id="6" name="Text 4"/>
          <p:cNvSpPr/>
          <p:nvPr/>
        </p:nvSpPr>
        <p:spPr>
          <a:xfrm>
            <a:off x="457200" y="1051560"/>
            <a:ext cx="8229600" cy="22860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Liệt kê các máy FAIL cả tuần này VÀ tuần trước:</a:t>
            </a:r>
            <a:endParaRPr lang="en-US" sz="900" dirty="0"/>
          </a:p>
        </p:txBody>
      </p:sp>
      <p:sp>
        <p:nvSpPr>
          <p:cNvPr id="7" name="Shape 5"/>
          <p:cNvSpPr/>
          <p:nvPr/>
        </p:nvSpPr>
        <p:spPr>
          <a:xfrm>
            <a:off x="457200" y="1371600"/>
            <a:ext cx="1463040" cy="320040"/>
          </a:xfrm>
          <a:prstGeom prst="rect">
            <a:avLst/>
          </a:prstGeom>
          <a:solidFill>
            <a:srgbClr val="DC2626"/>
          </a:solidFill>
          <a:ln/>
        </p:spPr>
      </p:sp>
      <p:sp>
        <p:nvSpPr>
          <p:cNvPr id="8" name="Text 6"/>
          <p:cNvSpPr/>
          <p:nvPr/>
        </p:nvSpPr>
        <p:spPr>
          <a:xfrm>
            <a:off x="457200" y="1371600"/>
            <a:ext cx="146304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Mã máy</a:t>
            </a:r>
            <a:endParaRPr lang="en-US" sz="900" dirty="0"/>
          </a:p>
        </p:txBody>
      </p:sp>
      <p:sp>
        <p:nvSpPr>
          <p:cNvPr id="9" name="Shape 7"/>
          <p:cNvSpPr/>
          <p:nvPr/>
        </p:nvSpPr>
        <p:spPr>
          <a:xfrm>
            <a:off x="1920240" y="1371600"/>
            <a:ext cx="1371600" cy="320040"/>
          </a:xfrm>
          <a:prstGeom prst="rect">
            <a:avLst/>
          </a:prstGeom>
          <a:solidFill>
            <a:srgbClr val="DC2626"/>
          </a:solidFill>
          <a:ln/>
        </p:spPr>
      </p:sp>
      <p:sp>
        <p:nvSpPr>
          <p:cNvPr id="10" name="Text 8"/>
          <p:cNvSpPr/>
          <p:nvPr/>
        </p:nvSpPr>
        <p:spPr>
          <a:xfrm>
            <a:off x="1920240" y="1371600"/>
            <a:ext cx="137160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Nhà máy</a:t>
            </a:r>
            <a:endParaRPr lang="en-US" sz="900" dirty="0"/>
          </a:p>
        </p:txBody>
      </p:sp>
      <p:sp>
        <p:nvSpPr>
          <p:cNvPr id="11" name="Shape 9"/>
          <p:cNvSpPr/>
          <p:nvPr/>
        </p:nvSpPr>
        <p:spPr>
          <a:xfrm>
            <a:off x="3291840" y="1371600"/>
            <a:ext cx="822960" cy="320040"/>
          </a:xfrm>
          <a:prstGeom prst="rect">
            <a:avLst/>
          </a:prstGeom>
          <a:solidFill>
            <a:srgbClr val="DC2626"/>
          </a:solidFill>
          <a:ln/>
        </p:spPr>
      </p:sp>
      <p:sp>
        <p:nvSpPr>
          <p:cNvPr id="12" name="Text 10"/>
          <p:cNvSpPr/>
          <p:nvPr/>
        </p:nvSpPr>
        <p:spPr>
          <a:xfrm>
            <a:off x="3291840" y="1371600"/>
            <a:ext cx="82296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Line</a:t>
            </a:r>
            <a:endParaRPr lang="en-US" sz="900" dirty="0"/>
          </a:p>
        </p:txBody>
      </p:sp>
      <p:sp>
        <p:nvSpPr>
          <p:cNvPr id="13" name="Shape 11"/>
          <p:cNvSpPr/>
          <p:nvPr/>
        </p:nvSpPr>
        <p:spPr>
          <a:xfrm>
            <a:off x="4114800" y="1371600"/>
            <a:ext cx="2743200" cy="320040"/>
          </a:xfrm>
          <a:prstGeom prst="rect">
            <a:avLst/>
          </a:prstGeom>
          <a:solidFill>
            <a:srgbClr val="DC2626"/>
          </a:solidFill>
          <a:ln/>
        </p:spPr>
      </p:sp>
      <p:sp>
        <p:nvSpPr>
          <p:cNvPr id="14" name="Text 12"/>
          <p:cNvSpPr/>
          <p:nvPr/>
        </p:nvSpPr>
        <p:spPr>
          <a:xfrm>
            <a:off x="4114800" y="1371600"/>
            <a:ext cx="274320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Vấn đề chính</a:t>
            </a:r>
            <a:endParaRPr lang="en-US" sz="900" dirty="0"/>
          </a:p>
        </p:txBody>
      </p:sp>
      <p:sp>
        <p:nvSpPr>
          <p:cNvPr id="15" name="Shape 13"/>
          <p:cNvSpPr/>
          <p:nvPr/>
        </p:nvSpPr>
        <p:spPr>
          <a:xfrm>
            <a:off x="6858000" y="1371600"/>
            <a:ext cx="1463040" cy="320040"/>
          </a:xfrm>
          <a:prstGeom prst="rect">
            <a:avLst/>
          </a:prstGeom>
          <a:solidFill>
            <a:srgbClr val="DC2626"/>
          </a:solidFill>
          <a:ln/>
        </p:spPr>
      </p:sp>
      <p:sp>
        <p:nvSpPr>
          <p:cNvPr id="16" name="Text 14"/>
          <p:cNvSpPr/>
          <p:nvPr/>
        </p:nvSpPr>
        <p:spPr>
          <a:xfrm>
            <a:off x="6858000" y="1371600"/>
            <a:ext cx="146304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Trạng thái</a:t>
            </a:r>
            <a:endParaRPr lang="en-US" sz="900" dirty="0"/>
          </a:p>
        </p:txBody>
      </p:sp>
      <p:sp>
        <p:nvSpPr>
          <p:cNvPr id="17" name="Shape 15"/>
          <p:cNvSpPr/>
          <p:nvPr/>
        </p:nvSpPr>
        <p:spPr>
          <a:xfrm>
            <a:off x="457200" y="1691640"/>
            <a:ext cx="1463040" cy="320040"/>
          </a:xfrm>
          <a:prstGeom prst="rect">
            <a:avLst/>
          </a:prstGeom>
          <a:solidFill>
            <a:srgbClr val="FEE2E2"/>
          </a:solidFill>
          <a:ln w="6350">
            <a:solidFill>
              <a:srgbClr val="E5E7EB"/>
            </a:solidFill>
            <a:prstDash val="solid"/>
          </a:ln>
        </p:spPr>
      </p:sp>
      <p:sp>
        <p:nvSpPr>
          <p:cNvPr id="18" name="Text 16"/>
          <p:cNvSpPr/>
          <p:nvPr/>
        </p:nvSpPr>
        <p:spPr>
          <a:xfrm>
            <a:off x="457200" y="1691640"/>
            <a:ext cx="1463040" cy="320040"/>
          </a:xfrm>
          <a:prstGeom prst="rect">
            <a:avLst/>
          </a:prstGeom>
          <a:noFill/>
          <a:ln/>
        </p:spPr>
        <p:txBody>
          <a:bodyPr wrap="square" rtlCol="0" anchor="ctr"/>
          <a:lstStyle/>
          <a:p>
            <a:pPr algn="ctr" indent="0" marL="0">
              <a:buNone/>
            </a:pPr>
            <a:r>
              <a:rPr lang="en-US" sz="900" dirty="0">
                <a:solidFill>
                  <a:srgbClr val="1F2937"/>
                </a:solidFill>
                <a:latin typeface="Arial" pitchFamily="34" charset="0"/>
                <a:ea typeface="Arial" pitchFamily="34" charset="-122"/>
                <a:cs typeface="Arial" pitchFamily="34" charset="-120"/>
              </a:rPr>
              <a:t>D210103</a:t>
            </a:r>
            <a:endParaRPr lang="en-US" sz="900" dirty="0"/>
          </a:p>
        </p:txBody>
      </p:sp>
      <p:sp>
        <p:nvSpPr>
          <p:cNvPr id="19" name="Shape 17"/>
          <p:cNvSpPr/>
          <p:nvPr/>
        </p:nvSpPr>
        <p:spPr>
          <a:xfrm>
            <a:off x="1920240" y="1691640"/>
            <a:ext cx="1371600" cy="320040"/>
          </a:xfrm>
          <a:prstGeom prst="rect">
            <a:avLst/>
          </a:prstGeom>
          <a:solidFill>
            <a:srgbClr val="FEE2E2"/>
          </a:solidFill>
          <a:ln w="6350">
            <a:solidFill>
              <a:srgbClr val="E5E7EB"/>
            </a:solidFill>
            <a:prstDash val="solid"/>
          </a:ln>
        </p:spPr>
      </p:sp>
      <p:sp>
        <p:nvSpPr>
          <p:cNvPr id="20" name="Text 18"/>
          <p:cNvSpPr/>
          <p:nvPr/>
        </p:nvSpPr>
        <p:spPr>
          <a:xfrm>
            <a:off x="1920240" y="1691640"/>
            <a:ext cx="1371600" cy="320040"/>
          </a:xfrm>
          <a:prstGeom prst="rect">
            <a:avLst/>
          </a:prstGeom>
          <a:noFill/>
          <a:ln/>
        </p:spPr>
        <p:txBody>
          <a:bodyPr wrap="square" rtlCol="0" anchor="ctr"/>
          <a:lstStyle/>
          <a:p>
            <a:pPr algn="ctr" indent="0" marL="0">
              <a:buNone/>
            </a:pPr>
            <a:r>
              <a:rPr lang="en-US" sz="900" dirty="0">
                <a:solidFill>
                  <a:srgbClr val="1F2937"/>
                </a:solidFill>
                <a:latin typeface="Arial" pitchFamily="34" charset="0"/>
                <a:ea typeface="Arial" pitchFamily="34" charset="-122"/>
                <a:cs typeface="Arial" pitchFamily="34" charset="-120"/>
              </a:rPr>
              <a:t>Nhà máy A</a:t>
            </a:r>
            <a:endParaRPr lang="en-US" sz="900" dirty="0"/>
          </a:p>
        </p:txBody>
      </p:sp>
      <p:sp>
        <p:nvSpPr>
          <p:cNvPr id="21" name="Shape 19"/>
          <p:cNvSpPr/>
          <p:nvPr/>
        </p:nvSpPr>
        <p:spPr>
          <a:xfrm>
            <a:off x="3291840" y="1691640"/>
            <a:ext cx="822960" cy="320040"/>
          </a:xfrm>
          <a:prstGeom prst="rect">
            <a:avLst/>
          </a:prstGeom>
          <a:solidFill>
            <a:srgbClr val="FEE2E2"/>
          </a:solidFill>
          <a:ln w="6350">
            <a:solidFill>
              <a:srgbClr val="E5E7EB"/>
            </a:solidFill>
            <a:prstDash val="solid"/>
          </a:ln>
        </p:spPr>
      </p:sp>
      <p:sp>
        <p:nvSpPr>
          <p:cNvPr id="22" name="Text 20"/>
          <p:cNvSpPr/>
          <p:nvPr/>
        </p:nvSpPr>
        <p:spPr>
          <a:xfrm>
            <a:off x="3291840" y="1691640"/>
            <a:ext cx="822960" cy="320040"/>
          </a:xfrm>
          <a:prstGeom prst="rect">
            <a:avLst/>
          </a:prstGeom>
          <a:noFill/>
          <a:ln/>
        </p:spPr>
        <p:txBody>
          <a:bodyPr wrap="square" rtlCol="0" anchor="ctr"/>
          <a:lstStyle/>
          <a:p>
            <a:pPr algn="ctr" indent="0" marL="0">
              <a:buNone/>
            </a:pPr>
            <a:r>
              <a:rPr lang="en-US" sz="900" dirty="0">
                <a:solidFill>
                  <a:srgbClr val="1F2937"/>
                </a:solidFill>
                <a:latin typeface="Arial" pitchFamily="34" charset="0"/>
                <a:ea typeface="Arial" pitchFamily="34" charset="-122"/>
                <a:cs typeface="Arial" pitchFamily="34" charset="-120"/>
              </a:rPr>
              <a:t>A-1</a:t>
            </a:r>
            <a:endParaRPr lang="en-US" sz="900" dirty="0"/>
          </a:p>
        </p:txBody>
      </p:sp>
      <p:sp>
        <p:nvSpPr>
          <p:cNvPr id="23" name="Shape 21"/>
          <p:cNvSpPr/>
          <p:nvPr/>
        </p:nvSpPr>
        <p:spPr>
          <a:xfrm>
            <a:off x="4114800" y="1691640"/>
            <a:ext cx="2743200" cy="320040"/>
          </a:xfrm>
          <a:prstGeom prst="rect">
            <a:avLst/>
          </a:prstGeom>
          <a:solidFill>
            <a:srgbClr val="FEE2E2"/>
          </a:solidFill>
          <a:ln w="6350">
            <a:solidFill>
              <a:srgbClr val="E5E7EB"/>
            </a:solidFill>
            <a:prstDash val="solid"/>
          </a:ln>
        </p:spPr>
      </p:sp>
      <p:sp>
        <p:nvSpPr>
          <p:cNvPr id="24" name="Text 22"/>
          <p:cNvSpPr/>
          <p:nvPr/>
        </p:nvSpPr>
        <p:spPr>
          <a:xfrm>
            <a:off x="4114800" y="1691640"/>
            <a:ext cx="2743200" cy="320040"/>
          </a:xfrm>
          <a:prstGeom prst="rect">
            <a:avLst/>
          </a:prstGeom>
          <a:noFill/>
          <a:ln/>
        </p:spPr>
        <p:txBody>
          <a:bodyPr wrap="square" rtlCol="0" anchor="ctr"/>
          <a:lstStyle/>
          <a:p>
            <a:pPr algn="ctr" indent="0" marL="0">
              <a:buNone/>
            </a:pPr>
            <a:r>
              <a:rPr lang="en-US" sz="900" dirty="0">
                <a:solidFill>
                  <a:srgbClr val="1F2937"/>
                </a:solidFill>
                <a:latin typeface="Arial" pitchFamily="34" charset="0"/>
                <a:ea typeface="Arial" pitchFamily="34" charset="-122"/>
                <a:cs typeface="Arial" pitchFamily="34" charset="-120"/>
              </a:rPr>
              <a:t>Không phát hiện mẫu kim loại</a:t>
            </a:r>
            <a:endParaRPr lang="en-US" sz="900" dirty="0"/>
          </a:p>
        </p:txBody>
      </p:sp>
      <p:sp>
        <p:nvSpPr>
          <p:cNvPr id="25" name="Shape 23"/>
          <p:cNvSpPr/>
          <p:nvPr/>
        </p:nvSpPr>
        <p:spPr>
          <a:xfrm>
            <a:off x="6858000" y="1691640"/>
            <a:ext cx="1463040" cy="320040"/>
          </a:xfrm>
          <a:prstGeom prst="rect">
            <a:avLst/>
          </a:prstGeom>
          <a:solidFill>
            <a:srgbClr val="FEE2E2"/>
          </a:solidFill>
          <a:ln w="6350">
            <a:solidFill>
              <a:srgbClr val="E5E7EB"/>
            </a:solidFill>
            <a:prstDash val="solid"/>
          </a:ln>
        </p:spPr>
      </p:sp>
      <p:sp>
        <p:nvSpPr>
          <p:cNvPr id="26" name="Shape 24"/>
          <p:cNvSpPr/>
          <p:nvPr/>
        </p:nvSpPr>
        <p:spPr>
          <a:xfrm>
            <a:off x="6995160" y="1737360"/>
            <a:ext cx="1188720" cy="228600"/>
          </a:xfrm>
          <a:prstGeom prst="roundRect">
            <a:avLst>
              <a:gd name="adj" fmla="val 16000"/>
            </a:avLst>
          </a:prstGeom>
          <a:solidFill>
            <a:srgbClr val="EF4444"/>
          </a:solidFill>
          <a:ln/>
        </p:spPr>
      </p:sp>
      <p:sp>
        <p:nvSpPr>
          <p:cNvPr id="27" name="Text 25"/>
          <p:cNvSpPr/>
          <p:nvPr/>
        </p:nvSpPr>
        <p:spPr>
          <a:xfrm>
            <a:off x="6995160" y="1737360"/>
            <a:ext cx="118872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LẶP LẠI</a:t>
            </a:r>
            <a:endParaRPr lang="en-US" sz="800" dirty="0"/>
          </a:p>
        </p:txBody>
      </p:sp>
      <p:sp>
        <p:nvSpPr>
          <p:cNvPr id="28" name="Text 26"/>
          <p:cNvSpPr/>
          <p:nvPr/>
        </p:nvSpPr>
        <p:spPr>
          <a:xfrm>
            <a:off x="457200" y="2377440"/>
            <a:ext cx="8229600" cy="320040"/>
          </a:xfrm>
          <a:prstGeom prst="rect">
            <a:avLst/>
          </a:prstGeom>
          <a:noFill/>
          <a:ln/>
        </p:spPr>
        <p:txBody>
          <a:bodyPr wrap="square" rtlCol="0" anchor="ctr"/>
          <a:lstStyle/>
          <a:p>
            <a:pPr indent="0" marL="0">
              <a:buNone/>
            </a:pPr>
            <a:r>
              <a:rPr lang="en-US" sz="1300" b="1" dirty="0">
                <a:solidFill>
                  <a:srgbClr val="1E40AF"/>
                </a:solidFill>
                <a:latin typeface="Arial" pitchFamily="34" charset="0"/>
                <a:ea typeface="Arial" pitchFamily="34" charset="-122"/>
                <a:cs typeface="Arial" pitchFamily="34" charset="-120"/>
              </a:rPr>
              <a:t>So sánh tỷ lệ đạt (2 tuần)</a:t>
            </a:r>
            <a:endParaRPr lang="en-US" sz="1300" dirty="0"/>
          </a:p>
        </p:txBody>
      </p:sp>
      <p:sp>
        <p:nvSpPr>
          <p:cNvPr id="29" name="Text 27"/>
          <p:cNvSpPr/>
          <p:nvPr/>
        </p:nvSpPr>
        <p:spPr>
          <a:xfrm>
            <a:off x="457200" y="2697480"/>
            <a:ext cx="8229600" cy="22860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So sánh tỷ lệ đạt giữa tuần trước và tuần này theo nhà máy:</a:t>
            </a:r>
            <a:endParaRPr lang="en-US" sz="900" dirty="0"/>
          </a:p>
        </p:txBody>
      </p:sp>
      <p:sp>
        <p:nvSpPr>
          <p:cNvPr id="30" name="Shape 28"/>
          <p:cNvSpPr/>
          <p:nvPr/>
        </p:nvSpPr>
        <p:spPr>
          <a:xfrm>
            <a:off x="1188720" y="3017520"/>
            <a:ext cx="2286000" cy="320040"/>
          </a:xfrm>
          <a:prstGeom prst="rect">
            <a:avLst/>
          </a:prstGeom>
          <a:solidFill>
            <a:srgbClr val="1E40AF"/>
          </a:solidFill>
          <a:ln/>
        </p:spPr>
      </p:sp>
      <p:sp>
        <p:nvSpPr>
          <p:cNvPr id="31" name="Text 29"/>
          <p:cNvSpPr/>
          <p:nvPr/>
        </p:nvSpPr>
        <p:spPr>
          <a:xfrm>
            <a:off x="1188720" y="3017520"/>
            <a:ext cx="228600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Nhà máy</a:t>
            </a:r>
            <a:endParaRPr lang="en-US" sz="1000" dirty="0"/>
          </a:p>
        </p:txBody>
      </p:sp>
      <p:sp>
        <p:nvSpPr>
          <p:cNvPr id="32" name="Shape 30"/>
          <p:cNvSpPr/>
          <p:nvPr/>
        </p:nvSpPr>
        <p:spPr>
          <a:xfrm>
            <a:off x="3474720" y="3017520"/>
            <a:ext cx="2286000" cy="320040"/>
          </a:xfrm>
          <a:prstGeom prst="rect">
            <a:avLst/>
          </a:prstGeom>
          <a:solidFill>
            <a:srgbClr val="1E40AF"/>
          </a:solidFill>
          <a:ln/>
        </p:spPr>
      </p:sp>
      <p:sp>
        <p:nvSpPr>
          <p:cNvPr id="33" name="Text 31"/>
          <p:cNvSpPr/>
          <p:nvPr/>
        </p:nvSpPr>
        <p:spPr>
          <a:xfrm>
            <a:off x="3474720" y="3017520"/>
            <a:ext cx="228600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Tuần trước (Wn)</a:t>
            </a:r>
            <a:endParaRPr lang="en-US" sz="1000" dirty="0"/>
          </a:p>
        </p:txBody>
      </p:sp>
      <p:sp>
        <p:nvSpPr>
          <p:cNvPr id="34" name="Shape 32"/>
          <p:cNvSpPr/>
          <p:nvPr/>
        </p:nvSpPr>
        <p:spPr>
          <a:xfrm>
            <a:off x="5760720" y="3017520"/>
            <a:ext cx="2286000" cy="320040"/>
          </a:xfrm>
          <a:prstGeom prst="rect">
            <a:avLst/>
          </a:prstGeom>
          <a:solidFill>
            <a:srgbClr val="1E40AF"/>
          </a:solidFill>
          <a:ln/>
        </p:spPr>
      </p:sp>
      <p:sp>
        <p:nvSpPr>
          <p:cNvPr id="35" name="Text 33"/>
          <p:cNvSpPr/>
          <p:nvPr/>
        </p:nvSpPr>
        <p:spPr>
          <a:xfrm>
            <a:off x="5760720" y="3017520"/>
            <a:ext cx="228600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Tuần này (Wn+1)</a:t>
            </a:r>
            <a:endParaRPr lang="en-US" sz="1000" dirty="0"/>
          </a:p>
        </p:txBody>
      </p:sp>
      <p:sp>
        <p:nvSpPr>
          <p:cNvPr id="36" name="Shape 34"/>
          <p:cNvSpPr/>
          <p:nvPr/>
        </p:nvSpPr>
        <p:spPr>
          <a:xfrm>
            <a:off x="1188720" y="3337560"/>
            <a:ext cx="2286000" cy="320040"/>
          </a:xfrm>
          <a:prstGeom prst="rect">
            <a:avLst/>
          </a:prstGeom>
          <a:solidFill>
            <a:srgbClr val="F3F4F6"/>
          </a:solidFill>
          <a:ln w="6350">
            <a:solidFill>
              <a:srgbClr val="E5E7EB"/>
            </a:solidFill>
            <a:prstDash val="solid"/>
          </a:ln>
        </p:spPr>
      </p:sp>
      <p:sp>
        <p:nvSpPr>
          <p:cNvPr id="37" name="Text 35"/>
          <p:cNvSpPr/>
          <p:nvPr/>
        </p:nvSpPr>
        <p:spPr>
          <a:xfrm>
            <a:off x="1188720" y="333756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Nhà máy A</a:t>
            </a:r>
            <a:endParaRPr lang="en-US" sz="1000" dirty="0"/>
          </a:p>
        </p:txBody>
      </p:sp>
      <p:sp>
        <p:nvSpPr>
          <p:cNvPr id="38" name="Shape 36"/>
          <p:cNvSpPr/>
          <p:nvPr/>
        </p:nvSpPr>
        <p:spPr>
          <a:xfrm>
            <a:off x="3474720" y="3337560"/>
            <a:ext cx="2286000" cy="320040"/>
          </a:xfrm>
          <a:prstGeom prst="rect">
            <a:avLst/>
          </a:prstGeom>
          <a:solidFill>
            <a:srgbClr val="F3F4F6"/>
          </a:solidFill>
          <a:ln w="6350">
            <a:solidFill>
              <a:srgbClr val="E5E7EB"/>
            </a:solidFill>
            <a:prstDash val="solid"/>
          </a:ln>
        </p:spPr>
      </p:sp>
      <p:sp>
        <p:nvSpPr>
          <p:cNvPr id="39" name="Text 37"/>
          <p:cNvSpPr/>
          <p:nvPr/>
        </p:nvSpPr>
        <p:spPr>
          <a:xfrm>
            <a:off x="3474720" y="333756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95%</a:t>
            </a:r>
            <a:endParaRPr lang="en-US" sz="1000" dirty="0"/>
          </a:p>
        </p:txBody>
      </p:sp>
      <p:sp>
        <p:nvSpPr>
          <p:cNvPr id="40" name="Shape 38"/>
          <p:cNvSpPr/>
          <p:nvPr/>
        </p:nvSpPr>
        <p:spPr>
          <a:xfrm>
            <a:off x="5760720" y="3337560"/>
            <a:ext cx="2286000" cy="320040"/>
          </a:xfrm>
          <a:prstGeom prst="rect">
            <a:avLst/>
          </a:prstGeom>
          <a:solidFill>
            <a:srgbClr val="F3F4F6"/>
          </a:solidFill>
          <a:ln w="6350">
            <a:solidFill>
              <a:srgbClr val="E5E7EB"/>
            </a:solidFill>
            <a:prstDash val="solid"/>
          </a:ln>
        </p:spPr>
      </p:sp>
      <p:sp>
        <p:nvSpPr>
          <p:cNvPr id="41" name="Text 39"/>
          <p:cNvSpPr/>
          <p:nvPr/>
        </p:nvSpPr>
        <p:spPr>
          <a:xfrm>
            <a:off x="5760720" y="3337560"/>
            <a:ext cx="2286000" cy="320040"/>
          </a:xfrm>
          <a:prstGeom prst="rect">
            <a:avLst/>
          </a:prstGeom>
          <a:noFill/>
          <a:ln/>
        </p:spPr>
        <p:txBody>
          <a:bodyPr wrap="square" rtlCol="0" anchor="ctr"/>
          <a:lstStyle/>
          <a:p>
            <a:pPr algn="ctr" indent="0" marL="0">
              <a:buNone/>
            </a:pPr>
            <a:r>
              <a:rPr lang="en-US" sz="1000" dirty="0">
                <a:solidFill>
                  <a:srgbClr val="16A34A"/>
                </a:solidFill>
                <a:latin typeface="Arial" pitchFamily="34" charset="0"/>
                <a:ea typeface="Arial" pitchFamily="34" charset="-122"/>
                <a:cs typeface="Arial" pitchFamily="34" charset="-120"/>
              </a:rPr>
              <a:t>97%</a:t>
            </a:r>
            <a:endParaRPr lang="en-US" sz="1000" dirty="0"/>
          </a:p>
        </p:txBody>
      </p:sp>
      <p:sp>
        <p:nvSpPr>
          <p:cNvPr id="42" name="Shape 40"/>
          <p:cNvSpPr/>
          <p:nvPr/>
        </p:nvSpPr>
        <p:spPr>
          <a:xfrm>
            <a:off x="1188720" y="3657600"/>
            <a:ext cx="2286000" cy="320040"/>
          </a:xfrm>
          <a:prstGeom prst="rect">
            <a:avLst/>
          </a:prstGeom>
          <a:solidFill>
            <a:srgbClr val="FFFFFF"/>
          </a:solidFill>
          <a:ln w="6350">
            <a:solidFill>
              <a:srgbClr val="E5E7EB"/>
            </a:solidFill>
            <a:prstDash val="solid"/>
          </a:ln>
        </p:spPr>
      </p:sp>
      <p:sp>
        <p:nvSpPr>
          <p:cNvPr id="43" name="Text 41"/>
          <p:cNvSpPr/>
          <p:nvPr/>
        </p:nvSpPr>
        <p:spPr>
          <a:xfrm>
            <a:off x="1188720" y="365760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Nhà máy B</a:t>
            </a:r>
            <a:endParaRPr lang="en-US" sz="1000" dirty="0"/>
          </a:p>
        </p:txBody>
      </p:sp>
      <p:sp>
        <p:nvSpPr>
          <p:cNvPr id="44" name="Shape 42"/>
          <p:cNvSpPr/>
          <p:nvPr/>
        </p:nvSpPr>
        <p:spPr>
          <a:xfrm>
            <a:off x="3474720" y="3657600"/>
            <a:ext cx="2286000" cy="320040"/>
          </a:xfrm>
          <a:prstGeom prst="rect">
            <a:avLst/>
          </a:prstGeom>
          <a:solidFill>
            <a:srgbClr val="FFFFFF"/>
          </a:solidFill>
          <a:ln w="6350">
            <a:solidFill>
              <a:srgbClr val="E5E7EB"/>
            </a:solidFill>
            <a:prstDash val="solid"/>
          </a:ln>
        </p:spPr>
      </p:sp>
      <p:sp>
        <p:nvSpPr>
          <p:cNvPr id="45" name="Text 43"/>
          <p:cNvSpPr/>
          <p:nvPr/>
        </p:nvSpPr>
        <p:spPr>
          <a:xfrm>
            <a:off x="3474720" y="365760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100%</a:t>
            </a:r>
            <a:endParaRPr lang="en-US" sz="1000" dirty="0"/>
          </a:p>
        </p:txBody>
      </p:sp>
      <p:sp>
        <p:nvSpPr>
          <p:cNvPr id="46" name="Shape 44"/>
          <p:cNvSpPr/>
          <p:nvPr/>
        </p:nvSpPr>
        <p:spPr>
          <a:xfrm>
            <a:off x="5760720" y="3657600"/>
            <a:ext cx="2286000" cy="320040"/>
          </a:xfrm>
          <a:prstGeom prst="rect">
            <a:avLst/>
          </a:prstGeom>
          <a:solidFill>
            <a:srgbClr val="FFFFFF"/>
          </a:solidFill>
          <a:ln w="6350">
            <a:solidFill>
              <a:srgbClr val="E5E7EB"/>
            </a:solidFill>
            <a:prstDash val="solid"/>
          </a:ln>
        </p:spPr>
      </p:sp>
      <p:sp>
        <p:nvSpPr>
          <p:cNvPr id="47" name="Text 45"/>
          <p:cNvSpPr/>
          <p:nvPr/>
        </p:nvSpPr>
        <p:spPr>
          <a:xfrm>
            <a:off x="5760720" y="365760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100%</a:t>
            </a:r>
            <a:endParaRPr lang="en-US" sz="1000" dirty="0"/>
          </a:p>
        </p:txBody>
      </p:sp>
      <p:sp>
        <p:nvSpPr>
          <p:cNvPr id="48" name="Shape 46"/>
          <p:cNvSpPr/>
          <p:nvPr/>
        </p:nvSpPr>
        <p:spPr>
          <a:xfrm>
            <a:off x="1188720" y="3977640"/>
            <a:ext cx="2286000" cy="320040"/>
          </a:xfrm>
          <a:prstGeom prst="rect">
            <a:avLst/>
          </a:prstGeom>
          <a:solidFill>
            <a:srgbClr val="F3F4F6"/>
          </a:solidFill>
          <a:ln w="6350">
            <a:solidFill>
              <a:srgbClr val="E5E7EB"/>
            </a:solidFill>
            <a:prstDash val="solid"/>
          </a:ln>
        </p:spPr>
      </p:sp>
      <p:sp>
        <p:nvSpPr>
          <p:cNvPr id="49" name="Text 47"/>
          <p:cNvSpPr/>
          <p:nvPr/>
        </p:nvSpPr>
        <p:spPr>
          <a:xfrm>
            <a:off x="1188720" y="397764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Nhà máy C</a:t>
            </a:r>
            <a:endParaRPr lang="en-US" sz="1000" dirty="0"/>
          </a:p>
        </p:txBody>
      </p:sp>
      <p:sp>
        <p:nvSpPr>
          <p:cNvPr id="50" name="Shape 48"/>
          <p:cNvSpPr/>
          <p:nvPr/>
        </p:nvSpPr>
        <p:spPr>
          <a:xfrm>
            <a:off x="3474720" y="3977640"/>
            <a:ext cx="2286000" cy="320040"/>
          </a:xfrm>
          <a:prstGeom prst="rect">
            <a:avLst/>
          </a:prstGeom>
          <a:solidFill>
            <a:srgbClr val="F3F4F6"/>
          </a:solidFill>
          <a:ln w="6350">
            <a:solidFill>
              <a:srgbClr val="E5E7EB"/>
            </a:solidFill>
            <a:prstDash val="solid"/>
          </a:ln>
        </p:spPr>
      </p:sp>
      <p:sp>
        <p:nvSpPr>
          <p:cNvPr id="51" name="Text 49"/>
          <p:cNvSpPr/>
          <p:nvPr/>
        </p:nvSpPr>
        <p:spPr>
          <a:xfrm>
            <a:off x="3474720" y="397764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88%</a:t>
            </a:r>
            <a:endParaRPr lang="en-US" sz="1000" dirty="0"/>
          </a:p>
        </p:txBody>
      </p:sp>
      <p:sp>
        <p:nvSpPr>
          <p:cNvPr id="52" name="Shape 50"/>
          <p:cNvSpPr/>
          <p:nvPr/>
        </p:nvSpPr>
        <p:spPr>
          <a:xfrm>
            <a:off x="5760720" y="3977640"/>
            <a:ext cx="2286000" cy="320040"/>
          </a:xfrm>
          <a:prstGeom prst="rect">
            <a:avLst/>
          </a:prstGeom>
          <a:solidFill>
            <a:srgbClr val="F3F4F6"/>
          </a:solidFill>
          <a:ln w="6350">
            <a:solidFill>
              <a:srgbClr val="E5E7EB"/>
            </a:solidFill>
            <a:prstDash val="solid"/>
          </a:ln>
        </p:spPr>
      </p:sp>
      <p:sp>
        <p:nvSpPr>
          <p:cNvPr id="53" name="Text 51"/>
          <p:cNvSpPr/>
          <p:nvPr/>
        </p:nvSpPr>
        <p:spPr>
          <a:xfrm>
            <a:off x="5760720" y="3977640"/>
            <a:ext cx="2286000" cy="320040"/>
          </a:xfrm>
          <a:prstGeom prst="rect">
            <a:avLst/>
          </a:prstGeom>
          <a:noFill/>
          <a:ln/>
        </p:spPr>
        <p:txBody>
          <a:bodyPr wrap="square" rtlCol="0" anchor="ctr"/>
          <a:lstStyle/>
          <a:p>
            <a:pPr algn="ctr" indent="0" marL="0">
              <a:buNone/>
            </a:pPr>
            <a:r>
              <a:rPr lang="en-US" sz="1000" dirty="0">
                <a:solidFill>
                  <a:srgbClr val="DC2626"/>
                </a:solidFill>
                <a:latin typeface="Arial" pitchFamily="34" charset="0"/>
                <a:ea typeface="Arial" pitchFamily="34" charset="-122"/>
                <a:cs typeface="Arial" pitchFamily="34" charset="-120"/>
              </a:rPr>
              <a:t>85%</a:t>
            </a:r>
            <a:endParaRPr lang="en-US" sz="1000" dirty="0"/>
          </a:p>
        </p:txBody>
      </p:sp>
      <p:sp>
        <p:nvSpPr>
          <p:cNvPr id="54" name="Shape 52"/>
          <p:cNvSpPr/>
          <p:nvPr/>
        </p:nvSpPr>
        <p:spPr>
          <a:xfrm>
            <a:off x="1188720" y="4297680"/>
            <a:ext cx="2286000" cy="320040"/>
          </a:xfrm>
          <a:prstGeom prst="rect">
            <a:avLst/>
          </a:prstGeom>
          <a:solidFill>
            <a:srgbClr val="FFFFFF"/>
          </a:solidFill>
          <a:ln w="6350">
            <a:solidFill>
              <a:srgbClr val="E5E7EB"/>
            </a:solidFill>
            <a:prstDash val="solid"/>
          </a:ln>
        </p:spPr>
      </p:sp>
      <p:sp>
        <p:nvSpPr>
          <p:cNvPr id="55" name="Text 53"/>
          <p:cNvSpPr/>
          <p:nvPr/>
        </p:nvSpPr>
        <p:spPr>
          <a:xfrm>
            <a:off x="1188720" y="429768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Nhà máy D</a:t>
            </a:r>
            <a:endParaRPr lang="en-US" sz="1000" dirty="0"/>
          </a:p>
        </p:txBody>
      </p:sp>
      <p:sp>
        <p:nvSpPr>
          <p:cNvPr id="56" name="Shape 54"/>
          <p:cNvSpPr/>
          <p:nvPr/>
        </p:nvSpPr>
        <p:spPr>
          <a:xfrm>
            <a:off x="3474720" y="4297680"/>
            <a:ext cx="2286000" cy="320040"/>
          </a:xfrm>
          <a:prstGeom prst="rect">
            <a:avLst/>
          </a:prstGeom>
          <a:solidFill>
            <a:srgbClr val="FFFFFF"/>
          </a:solidFill>
          <a:ln w="6350">
            <a:solidFill>
              <a:srgbClr val="E5E7EB"/>
            </a:solidFill>
            <a:prstDash val="solid"/>
          </a:ln>
        </p:spPr>
      </p:sp>
      <p:sp>
        <p:nvSpPr>
          <p:cNvPr id="57" name="Text 55"/>
          <p:cNvSpPr/>
          <p:nvPr/>
        </p:nvSpPr>
        <p:spPr>
          <a:xfrm>
            <a:off x="3474720" y="4297680"/>
            <a:ext cx="2286000" cy="320040"/>
          </a:xfrm>
          <a:prstGeom prst="rect">
            <a:avLst/>
          </a:prstGeom>
          <a:noFill/>
          <a:ln/>
        </p:spPr>
        <p:txBody>
          <a:bodyPr wrap="square" rtlCol="0" anchor="ctr"/>
          <a:lstStyle/>
          <a:p>
            <a:pPr algn="ctr" indent="0" marL="0">
              <a:buNone/>
            </a:pPr>
            <a:r>
              <a:rPr lang="en-US" sz="1000" dirty="0">
                <a:solidFill>
                  <a:srgbClr val="1F2937"/>
                </a:solidFill>
                <a:latin typeface="Arial" pitchFamily="34" charset="0"/>
                <a:ea typeface="Arial" pitchFamily="34" charset="-122"/>
                <a:cs typeface="Arial" pitchFamily="34" charset="-120"/>
              </a:rPr>
              <a:t>96%</a:t>
            </a:r>
            <a:endParaRPr lang="en-US" sz="1000" dirty="0"/>
          </a:p>
        </p:txBody>
      </p:sp>
      <p:sp>
        <p:nvSpPr>
          <p:cNvPr id="58" name="Shape 56"/>
          <p:cNvSpPr/>
          <p:nvPr/>
        </p:nvSpPr>
        <p:spPr>
          <a:xfrm>
            <a:off x="5760720" y="4297680"/>
            <a:ext cx="2286000" cy="320040"/>
          </a:xfrm>
          <a:prstGeom prst="rect">
            <a:avLst/>
          </a:prstGeom>
          <a:solidFill>
            <a:srgbClr val="FFFFFF"/>
          </a:solidFill>
          <a:ln w="6350">
            <a:solidFill>
              <a:srgbClr val="E5E7EB"/>
            </a:solidFill>
            <a:prstDash val="solid"/>
          </a:ln>
        </p:spPr>
      </p:sp>
      <p:sp>
        <p:nvSpPr>
          <p:cNvPr id="59" name="Text 57"/>
          <p:cNvSpPr/>
          <p:nvPr/>
        </p:nvSpPr>
        <p:spPr>
          <a:xfrm>
            <a:off x="5760720" y="4297680"/>
            <a:ext cx="2286000" cy="320040"/>
          </a:xfrm>
          <a:prstGeom prst="rect">
            <a:avLst/>
          </a:prstGeom>
          <a:noFill/>
          <a:ln/>
        </p:spPr>
        <p:txBody>
          <a:bodyPr wrap="square" rtlCol="0" anchor="ctr"/>
          <a:lstStyle/>
          <a:p>
            <a:pPr algn="ctr" indent="0" marL="0">
              <a:buNone/>
            </a:pPr>
            <a:r>
              <a:rPr lang="en-US" sz="1000" dirty="0">
                <a:solidFill>
                  <a:srgbClr val="16A34A"/>
                </a:solidFill>
                <a:latin typeface="Arial" pitchFamily="34" charset="0"/>
                <a:ea typeface="Arial" pitchFamily="34" charset="-122"/>
                <a:cs typeface="Arial" pitchFamily="34" charset="-120"/>
              </a:rPr>
              <a:t>100%</a:t>
            </a:r>
            <a:endParaRPr lang="en-US" sz="1000" dirty="0"/>
          </a:p>
        </p:txBody>
      </p:sp>
      <p:sp>
        <p:nvSpPr>
          <p:cNvPr id="60" name="Shape 58"/>
          <p:cNvSpPr/>
          <p:nvPr/>
        </p:nvSpPr>
        <p:spPr>
          <a:xfrm>
            <a:off x="1188720" y="4617720"/>
            <a:ext cx="2286000" cy="320040"/>
          </a:xfrm>
          <a:prstGeom prst="rect">
            <a:avLst/>
          </a:prstGeom>
          <a:solidFill>
            <a:srgbClr val="EFF6FF"/>
          </a:solidFill>
          <a:ln w="6350">
            <a:solidFill>
              <a:srgbClr val="E5E7EB"/>
            </a:solidFill>
            <a:prstDash val="solid"/>
          </a:ln>
        </p:spPr>
      </p:sp>
      <p:sp>
        <p:nvSpPr>
          <p:cNvPr id="61" name="Text 59"/>
          <p:cNvSpPr/>
          <p:nvPr/>
        </p:nvSpPr>
        <p:spPr>
          <a:xfrm>
            <a:off x="1188720" y="4617720"/>
            <a:ext cx="2286000" cy="320040"/>
          </a:xfrm>
          <a:prstGeom prst="rect">
            <a:avLst/>
          </a:prstGeom>
          <a:noFill/>
          <a:ln/>
        </p:spPr>
        <p:txBody>
          <a:bodyPr wrap="square" rtlCol="0" anchor="ctr"/>
          <a:lstStyle/>
          <a:p>
            <a:pPr algn="ctr" indent="0" marL="0">
              <a:buNone/>
            </a:pPr>
            <a:r>
              <a:rPr lang="en-US" sz="1000" b="1" dirty="0">
                <a:solidFill>
                  <a:srgbClr val="1F2937"/>
                </a:solidFill>
                <a:latin typeface="Arial" pitchFamily="34" charset="0"/>
                <a:ea typeface="Arial" pitchFamily="34" charset="-122"/>
                <a:cs typeface="Arial" pitchFamily="34" charset="-120"/>
              </a:rPr>
              <a:t>Tổng</a:t>
            </a:r>
            <a:endParaRPr lang="en-US" sz="1000" dirty="0"/>
          </a:p>
        </p:txBody>
      </p:sp>
      <p:sp>
        <p:nvSpPr>
          <p:cNvPr id="62" name="Shape 60"/>
          <p:cNvSpPr/>
          <p:nvPr/>
        </p:nvSpPr>
        <p:spPr>
          <a:xfrm>
            <a:off x="3474720" y="4617720"/>
            <a:ext cx="2286000" cy="320040"/>
          </a:xfrm>
          <a:prstGeom prst="rect">
            <a:avLst/>
          </a:prstGeom>
          <a:solidFill>
            <a:srgbClr val="EFF6FF"/>
          </a:solidFill>
          <a:ln w="6350">
            <a:solidFill>
              <a:srgbClr val="E5E7EB"/>
            </a:solidFill>
            <a:prstDash val="solid"/>
          </a:ln>
        </p:spPr>
      </p:sp>
      <p:sp>
        <p:nvSpPr>
          <p:cNvPr id="63" name="Text 61"/>
          <p:cNvSpPr/>
          <p:nvPr/>
        </p:nvSpPr>
        <p:spPr>
          <a:xfrm>
            <a:off x="3474720" y="4617720"/>
            <a:ext cx="2286000" cy="320040"/>
          </a:xfrm>
          <a:prstGeom prst="rect">
            <a:avLst/>
          </a:prstGeom>
          <a:noFill/>
          <a:ln/>
        </p:spPr>
        <p:txBody>
          <a:bodyPr wrap="square" rtlCol="0" anchor="ctr"/>
          <a:lstStyle/>
          <a:p>
            <a:pPr algn="ctr" indent="0" marL="0">
              <a:buNone/>
            </a:pPr>
            <a:r>
              <a:rPr lang="en-US" sz="1000" b="1" dirty="0">
                <a:solidFill>
                  <a:srgbClr val="1F2937"/>
                </a:solidFill>
                <a:latin typeface="Arial" pitchFamily="34" charset="0"/>
                <a:ea typeface="Arial" pitchFamily="34" charset="-122"/>
                <a:cs typeface="Arial" pitchFamily="34" charset="-120"/>
              </a:rPr>
              <a:t>94%</a:t>
            </a:r>
            <a:endParaRPr lang="en-US" sz="1000" dirty="0"/>
          </a:p>
        </p:txBody>
      </p:sp>
      <p:sp>
        <p:nvSpPr>
          <p:cNvPr id="64" name="Shape 62"/>
          <p:cNvSpPr/>
          <p:nvPr/>
        </p:nvSpPr>
        <p:spPr>
          <a:xfrm>
            <a:off x="5760720" y="4617720"/>
            <a:ext cx="2286000" cy="320040"/>
          </a:xfrm>
          <a:prstGeom prst="rect">
            <a:avLst/>
          </a:prstGeom>
          <a:solidFill>
            <a:srgbClr val="EFF6FF"/>
          </a:solidFill>
          <a:ln w="6350">
            <a:solidFill>
              <a:srgbClr val="E5E7EB"/>
            </a:solidFill>
            <a:prstDash val="solid"/>
          </a:ln>
        </p:spPr>
      </p:sp>
      <p:sp>
        <p:nvSpPr>
          <p:cNvPr id="65" name="Text 63"/>
          <p:cNvSpPr/>
          <p:nvPr/>
        </p:nvSpPr>
        <p:spPr>
          <a:xfrm>
            <a:off x="5760720" y="4617720"/>
            <a:ext cx="2286000" cy="320040"/>
          </a:xfrm>
          <a:prstGeom prst="rect">
            <a:avLst/>
          </a:prstGeom>
          <a:noFill/>
          <a:ln/>
        </p:spPr>
        <p:txBody>
          <a:bodyPr wrap="square" rtlCol="0" anchor="ctr"/>
          <a:lstStyle/>
          <a:p>
            <a:pPr algn="ctr" indent="0" marL="0">
              <a:buNone/>
            </a:pPr>
            <a:r>
              <a:rPr lang="en-US" sz="1000" b="1" dirty="0">
                <a:solidFill>
                  <a:srgbClr val="1F2937"/>
                </a:solidFill>
                <a:latin typeface="Arial" pitchFamily="34" charset="0"/>
                <a:ea typeface="Arial" pitchFamily="34" charset="-122"/>
                <a:cs typeface="Arial" pitchFamily="34" charset="-120"/>
              </a:rPr>
              <a:t>95%</a:t>
            </a:r>
            <a:endParaRPr lang="en-US" sz="1000" dirty="0"/>
          </a:p>
        </p:txBody>
      </p:sp>
      <p:sp>
        <p:nvSpPr>
          <p:cNvPr id="66" name="Shape 64"/>
          <p:cNvSpPr/>
          <p:nvPr/>
        </p:nvSpPr>
        <p:spPr>
          <a:xfrm>
            <a:off x="457200" y="5029200"/>
            <a:ext cx="8229600" cy="320040"/>
          </a:xfrm>
          <a:prstGeom prst="roundRect">
            <a:avLst>
              <a:gd name="adj" fmla="val 22857"/>
            </a:avLst>
          </a:prstGeom>
          <a:solidFill>
            <a:srgbClr val="FEF9C3"/>
          </a:solidFill>
          <a:ln/>
        </p:spPr>
      </p:sp>
      <p:sp>
        <p:nvSpPr>
          <p:cNvPr id="67" name="Text 65"/>
          <p:cNvSpPr/>
          <p:nvPr/>
        </p:nvSpPr>
        <p:spPr>
          <a:xfrm>
            <a:off x="548640" y="5029200"/>
            <a:ext cx="8046720" cy="320040"/>
          </a:xfrm>
          <a:prstGeom prst="rect">
            <a:avLst/>
          </a:prstGeom>
          <a:noFill/>
          <a:ln/>
        </p:spPr>
        <p:txBody>
          <a:bodyPr wrap="square" rtlCol="0" anchor="ctr"/>
          <a:lstStyle/>
          <a:p>
            <a:pPr indent="0" marL="0">
              <a:buNone/>
            </a:pPr>
            <a:r>
              <a:rPr lang="en-US" sz="900" dirty="0">
                <a:solidFill>
                  <a:srgbClr val="1F2937"/>
                </a:solidFill>
                <a:latin typeface="Arial" pitchFamily="34" charset="0"/>
                <a:ea typeface="Arial" pitchFamily="34" charset="-122"/>
                <a:cs typeface="Arial" pitchFamily="34" charset="-120"/>
              </a:rPr>
              <a:t>Xanh = cải thiện so với tuần trước, Đỏ = giảm so với tuần trước</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Lịch sử kiểm tra</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Xem và tìm kiếm tất cả bản ghi kiểm tra trước đây:</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14 / 16</a:t>
            </a:r>
            <a:endParaRPr lang="en-US" sz="800" dirty="0"/>
          </a:p>
        </p:txBody>
      </p:sp>
      <p:sp>
        <p:nvSpPr>
          <p:cNvPr id="6" name="Text 4"/>
          <p:cNvSpPr/>
          <p:nvPr/>
        </p:nvSpPr>
        <p:spPr>
          <a:xfrm>
            <a:off x="457200" y="1097280"/>
            <a:ext cx="914400" cy="274320"/>
          </a:xfrm>
          <a:prstGeom prst="rect">
            <a:avLst/>
          </a:prstGeom>
          <a:noFill/>
          <a:ln/>
        </p:spPr>
        <p:txBody>
          <a:bodyPr wrap="square" rtlCol="0" anchor="ctr"/>
          <a:lstStyle/>
          <a:p>
            <a:pPr indent="0" marL="0">
              <a:buNone/>
            </a:pPr>
            <a:r>
              <a:rPr lang="en-US" sz="1100" b="1" dirty="0">
                <a:solidFill>
                  <a:srgbClr val="1E40AF"/>
                </a:solidFill>
                <a:latin typeface="Arial" pitchFamily="34" charset="0"/>
                <a:ea typeface="Arial" pitchFamily="34" charset="-122"/>
                <a:cs typeface="Arial" pitchFamily="34" charset="-120"/>
              </a:rPr>
              <a:t>Filters:</a:t>
            </a:r>
            <a:endParaRPr lang="en-US" sz="1100" dirty="0"/>
          </a:p>
        </p:txBody>
      </p:sp>
      <p:sp>
        <p:nvSpPr>
          <p:cNvPr id="7" name="Shape 5"/>
          <p:cNvSpPr/>
          <p:nvPr/>
        </p:nvSpPr>
        <p:spPr>
          <a:xfrm>
            <a:off x="457200" y="1417320"/>
            <a:ext cx="1554480" cy="640080"/>
          </a:xfrm>
          <a:prstGeom prst="roundRect">
            <a:avLst>
              <a:gd name="adj" fmla="val 8571"/>
            </a:avLst>
          </a:prstGeom>
          <a:solidFill>
            <a:srgbClr val="F3F4F6"/>
          </a:solidFill>
          <a:ln/>
        </p:spPr>
      </p:sp>
      <p:sp>
        <p:nvSpPr>
          <p:cNvPr id="8" name="Text 6"/>
          <p:cNvSpPr/>
          <p:nvPr/>
        </p:nvSpPr>
        <p:spPr>
          <a:xfrm>
            <a:off x="457200" y="1417320"/>
            <a:ext cx="1554480" cy="274320"/>
          </a:xfrm>
          <a:prstGeom prst="rect">
            <a:avLst/>
          </a:prstGeom>
          <a:noFill/>
          <a:ln/>
        </p:spPr>
        <p:txBody>
          <a:bodyPr wrap="square"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Nhà máy</a:t>
            </a:r>
            <a:endParaRPr lang="en-US" sz="900" dirty="0"/>
          </a:p>
        </p:txBody>
      </p:sp>
      <p:sp>
        <p:nvSpPr>
          <p:cNvPr id="9" name="Text 7"/>
          <p:cNvSpPr/>
          <p:nvPr/>
        </p:nvSpPr>
        <p:spPr>
          <a:xfrm>
            <a:off x="457200" y="1691640"/>
            <a:ext cx="1554480" cy="32004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Tất cả / A / B / C / D</a:t>
            </a:r>
            <a:endParaRPr lang="en-US" sz="800" dirty="0"/>
          </a:p>
        </p:txBody>
      </p:sp>
      <p:sp>
        <p:nvSpPr>
          <p:cNvPr id="10" name="Shape 8"/>
          <p:cNvSpPr/>
          <p:nvPr/>
        </p:nvSpPr>
        <p:spPr>
          <a:xfrm>
            <a:off x="2148840" y="1417320"/>
            <a:ext cx="1554480" cy="640080"/>
          </a:xfrm>
          <a:prstGeom prst="roundRect">
            <a:avLst>
              <a:gd name="adj" fmla="val 8571"/>
            </a:avLst>
          </a:prstGeom>
          <a:solidFill>
            <a:srgbClr val="F3F4F6"/>
          </a:solidFill>
          <a:ln/>
        </p:spPr>
      </p:sp>
      <p:sp>
        <p:nvSpPr>
          <p:cNvPr id="11" name="Text 9"/>
          <p:cNvSpPr/>
          <p:nvPr/>
        </p:nvSpPr>
        <p:spPr>
          <a:xfrm>
            <a:off x="2148840" y="1417320"/>
            <a:ext cx="1554480" cy="274320"/>
          </a:xfrm>
          <a:prstGeom prst="rect">
            <a:avLst/>
          </a:prstGeom>
          <a:noFill/>
          <a:ln/>
        </p:spPr>
        <p:txBody>
          <a:bodyPr wrap="square"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Kết quả</a:t>
            </a:r>
            <a:endParaRPr lang="en-US" sz="900" dirty="0"/>
          </a:p>
        </p:txBody>
      </p:sp>
      <p:sp>
        <p:nvSpPr>
          <p:cNvPr id="12" name="Text 10"/>
          <p:cNvSpPr/>
          <p:nvPr/>
        </p:nvSpPr>
        <p:spPr>
          <a:xfrm>
            <a:off x="2148840" y="1691640"/>
            <a:ext cx="1554480" cy="32004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Tất cả / PASS / FAIL</a:t>
            </a:r>
            <a:endParaRPr lang="en-US" sz="800" dirty="0"/>
          </a:p>
        </p:txBody>
      </p:sp>
      <p:sp>
        <p:nvSpPr>
          <p:cNvPr id="13" name="Shape 11"/>
          <p:cNvSpPr/>
          <p:nvPr/>
        </p:nvSpPr>
        <p:spPr>
          <a:xfrm>
            <a:off x="3840480" y="1417320"/>
            <a:ext cx="1554480" cy="640080"/>
          </a:xfrm>
          <a:prstGeom prst="roundRect">
            <a:avLst>
              <a:gd name="adj" fmla="val 8571"/>
            </a:avLst>
          </a:prstGeom>
          <a:solidFill>
            <a:srgbClr val="F3F4F6"/>
          </a:solidFill>
          <a:ln/>
        </p:spPr>
      </p:sp>
      <p:sp>
        <p:nvSpPr>
          <p:cNvPr id="14" name="Text 12"/>
          <p:cNvSpPr/>
          <p:nvPr/>
        </p:nvSpPr>
        <p:spPr>
          <a:xfrm>
            <a:off x="3840480" y="1417320"/>
            <a:ext cx="1554480" cy="274320"/>
          </a:xfrm>
          <a:prstGeom prst="rect">
            <a:avLst/>
          </a:prstGeom>
          <a:noFill/>
          <a:ln/>
        </p:spPr>
        <p:txBody>
          <a:bodyPr wrap="square"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Từ ngày</a:t>
            </a:r>
            <a:endParaRPr lang="en-US" sz="900" dirty="0"/>
          </a:p>
        </p:txBody>
      </p:sp>
      <p:sp>
        <p:nvSpPr>
          <p:cNvPr id="15" name="Text 13"/>
          <p:cNvSpPr/>
          <p:nvPr/>
        </p:nvSpPr>
        <p:spPr>
          <a:xfrm>
            <a:off x="3840480" y="1691640"/>
            <a:ext cx="1554480" cy="32004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Bộ lọc ngày bắt đầu</a:t>
            </a:r>
            <a:endParaRPr lang="en-US" sz="800" dirty="0"/>
          </a:p>
        </p:txBody>
      </p:sp>
      <p:sp>
        <p:nvSpPr>
          <p:cNvPr id="16" name="Shape 14"/>
          <p:cNvSpPr/>
          <p:nvPr/>
        </p:nvSpPr>
        <p:spPr>
          <a:xfrm>
            <a:off x="5532120" y="1417320"/>
            <a:ext cx="1554480" cy="640080"/>
          </a:xfrm>
          <a:prstGeom prst="roundRect">
            <a:avLst>
              <a:gd name="adj" fmla="val 8571"/>
            </a:avLst>
          </a:prstGeom>
          <a:solidFill>
            <a:srgbClr val="F3F4F6"/>
          </a:solidFill>
          <a:ln/>
        </p:spPr>
      </p:sp>
      <p:sp>
        <p:nvSpPr>
          <p:cNvPr id="17" name="Text 15"/>
          <p:cNvSpPr/>
          <p:nvPr/>
        </p:nvSpPr>
        <p:spPr>
          <a:xfrm>
            <a:off x="5532120" y="1417320"/>
            <a:ext cx="1554480" cy="274320"/>
          </a:xfrm>
          <a:prstGeom prst="rect">
            <a:avLst/>
          </a:prstGeom>
          <a:noFill/>
          <a:ln/>
        </p:spPr>
        <p:txBody>
          <a:bodyPr wrap="square"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Đến ngày</a:t>
            </a:r>
            <a:endParaRPr lang="en-US" sz="900" dirty="0"/>
          </a:p>
        </p:txBody>
      </p:sp>
      <p:sp>
        <p:nvSpPr>
          <p:cNvPr id="18" name="Text 16"/>
          <p:cNvSpPr/>
          <p:nvPr/>
        </p:nvSpPr>
        <p:spPr>
          <a:xfrm>
            <a:off x="5532120" y="1691640"/>
            <a:ext cx="1554480" cy="32004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Bộ lọc ngày kết thúc</a:t>
            </a:r>
            <a:endParaRPr lang="en-US" sz="800" dirty="0"/>
          </a:p>
        </p:txBody>
      </p:sp>
      <p:sp>
        <p:nvSpPr>
          <p:cNvPr id="19" name="Shape 17"/>
          <p:cNvSpPr/>
          <p:nvPr/>
        </p:nvSpPr>
        <p:spPr>
          <a:xfrm>
            <a:off x="7223760" y="1417320"/>
            <a:ext cx="1554480" cy="640080"/>
          </a:xfrm>
          <a:prstGeom prst="roundRect">
            <a:avLst>
              <a:gd name="adj" fmla="val 8571"/>
            </a:avLst>
          </a:prstGeom>
          <a:solidFill>
            <a:srgbClr val="F3F4F6"/>
          </a:solidFill>
          <a:ln/>
        </p:spPr>
      </p:sp>
      <p:sp>
        <p:nvSpPr>
          <p:cNvPr id="20" name="Text 18"/>
          <p:cNvSpPr/>
          <p:nvPr/>
        </p:nvSpPr>
        <p:spPr>
          <a:xfrm>
            <a:off x="7223760" y="1417320"/>
            <a:ext cx="1554480" cy="274320"/>
          </a:xfrm>
          <a:prstGeom prst="rect">
            <a:avLst/>
          </a:prstGeom>
          <a:noFill/>
          <a:ln/>
        </p:spPr>
        <p:txBody>
          <a:bodyPr wrap="square"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Xóa</a:t>
            </a:r>
            <a:endParaRPr lang="en-US" sz="900" dirty="0"/>
          </a:p>
        </p:txBody>
      </p:sp>
      <p:sp>
        <p:nvSpPr>
          <p:cNvPr id="21" name="Text 19"/>
          <p:cNvSpPr/>
          <p:nvPr/>
        </p:nvSpPr>
        <p:spPr>
          <a:xfrm>
            <a:off x="7223760" y="1691640"/>
            <a:ext cx="1554480" cy="32004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Đặt lại tất cả bộ lọc</a:t>
            </a:r>
            <a:endParaRPr lang="en-US" sz="800" dirty="0"/>
          </a:p>
        </p:txBody>
      </p:sp>
      <p:sp>
        <p:nvSpPr>
          <p:cNvPr id="22" name="Shape 20"/>
          <p:cNvSpPr/>
          <p:nvPr/>
        </p:nvSpPr>
        <p:spPr>
          <a:xfrm>
            <a:off x="320040" y="2286000"/>
            <a:ext cx="914400" cy="320040"/>
          </a:xfrm>
          <a:prstGeom prst="rect">
            <a:avLst/>
          </a:prstGeom>
          <a:solidFill>
            <a:srgbClr val="1E40AF"/>
          </a:solidFill>
          <a:ln/>
        </p:spPr>
      </p:sp>
      <p:sp>
        <p:nvSpPr>
          <p:cNvPr id="23" name="Text 21"/>
          <p:cNvSpPr/>
          <p:nvPr/>
        </p:nvSpPr>
        <p:spPr>
          <a:xfrm>
            <a:off x="320040" y="2286000"/>
            <a:ext cx="91440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Ngày</a:t>
            </a:r>
            <a:endParaRPr lang="en-US" sz="800" dirty="0"/>
          </a:p>
        </p:txBody>
      </p:sp>
      <p:sp>
        <p:nvSpPr>
          <p:cNvPr id="24" name="Shape 22"/>
          <p:cNvSpPr/>
          <p:nvPr/>
        </p:nvSpPr>
        <p:spPr>
          <a:xfrm>
            <a:off x="1234440" y="2286000"/>
            <a:ext cx="822960" cy="320040"/>
          </a:xfrm>
          <a:prstGeom prst="rect">
            <a:avLst/>
          </a:prstGeom>
          <a:solidFill>
            <a:srgbClr val="1E40AF"/>
          </a:solidFill>
          <a:ln/>
        </p:spPr>
      </p:sp>
      <p:sp>
        <p:nvSpPr>
          <p:cNvPr id="25" name="Text 23"/>
          <p:cNvSpPr/>
          <p:nvPr/>
        </p:nvSpPr>
        <p:spPr>
          <a:xfrm>
            <a:off x="1234440" y="2286000"/>
            <a:ext cx="82296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Nhà máy</a:t>
            </a:r>
            <a:endParaRPr lang="en-US" sz="800" dirty="0"/>
          </a:p>
        </p:txBody>
      </p:sp>
      <p:sp>
        <p:nvSpPr>
          <p:cNvPr id="26" name="Shape 24"/>
          <p:cNvSpPr/>
          <p:nvPr/>
        </p:nvSpPr>
        <p:spPr>
          <a:xfrm>
            <a:off x="2057400" y="2286000"/>
            <a:ext cx="640080" cy="320040"/>
          </a:xfrm>
          <a:prstGeom prst="rect">
            <a:avLst/>
          </a:prstGeom>
          <a:solidFill>
            <a:srgbClr val="1E40AF"/>
          </a:solidFill>
          <a:ln/>
        </p:spPr>
      </p:sp>
      <p:sp>
        <p:nvSpPr>
          <p:cNvPr id="27" name="Text 25"/>
          <p:cNvSpPr/>
          <p:nvPr/>
        </p:nvSpPr>
        <p:spPr>
          <a:xfrm>
            <a:off x="2057400" y="2286000"/>
            <a:ext cx="64008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Line</a:t>
            </a:r>
            <a:endParaRPr lang="en-US" sz="800" dirty="0"/>
          </a:p>
        </p:txBody>
      </p:sp>
      <p:sp>
        <p:nvSpPr>
          <p:cNvPr id="28" name="Shape 26"/>
          <p:cNvSpPr/>
          <p:nvPr/>
        </p:nvSpPr>
        <p:spPr>
          <a:xfrm>
            <a:off x="2697480" y="2286000"/>
            <a:ext cx="1005840" cy="320040"/>
          </a:xfrm>
          <a:prstGeom prst="rect">
            <a:avLst/>
          </a:prstGeom>
          <a:solidFill>
            <a:srgbClr val="1E40AF"/>
          </a:solidFill>
          <a:ln/>
        </p:spPr>
      </p:sp>
      <p:sp>
        <p:nvSpPr>
          <p:cNvPr id="29" name="Text 27"/>
          <p:cNvSpPr/>
          <p:nvPr/>
        </p:nvSpPr>
        <p:spPr>
          <a:xfrm>
            <a:off x="2697480" y="2286000"/>
            <a:ext cx="100584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Mã máy</a:t>
            </a:r>
            <a:endParaRPr lang="en-US" sz="800" dirty="0"/>
          </a:p>
        </p:txBody>
      </p:sp>
      <p:sp>
        <p:nvSpPr>
          <p:cNvPr id="30" name="Shape 28"/>
          <p:cNvSpPr/>
          <p:nvPr/>
        </p:nvSpPr>
        <p:spPr>
          <a:xfrm>
            <a:off x="3703320" y="2286000"/>
            <a:ext cx="731520" cy="320040"/>
          </a:xfrm>
          <a:prstGeom prst="rect">
            <a:avLst/>
          </a:prstGeom>
          <a:solidFill>
            <a:srgbClr val="1E40AF"/>
          </a:solidFill>
          <a:ln/>
        </p:spPr>
      </p:sp>
      <p:sp>
        <p:nvSpPr>
          <p:cNvPr id="31" name="Text 29"/>
          <p:cNvSpPr/>
          <p:nvPr/>
        </p:nvSpPr>
        <p:spPr>
          <a:xfrm>
            <a:off x="3703320" y="2286000"/>
            <a:ext cx="73152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Kết quả</a:t>
            </a:r>
            <a:endParaRPr lang="en-US" sz="800" dirty="0"/>
          </a:p>
        </p:txBody>
      </p:sp>
      <p:sp>
        <p:nvSpPr>
          <p:cNvPr id="32" name="Shape 30"/>
          <p:cNvSpPr/>
          <p:nvPr/>
        </p:nvSpPr>
        <p:spPr>
          <a:xfrm>
            <a:off x="4434840" y="2286000"/>
            <a:ext cx="640080" cy="320040"/>
          </a:xfrm>
          <a:prstGeom prst="rect">
            <a:avLst/>
          </a:prstGeom>
          <a:solidFill>
            <a:srgbClr val="1E40AF"/>
          </a:solidFill>
          <a:ln/>
        </p:spPr>
      </p:sp>
      <p:sp>
        <p:nvSpPr>
          <p:cNvPr id="33" name="Text 31"/>
          <p:cNvSpPr/>
          <p:nvPr/>
        </p:nvSpPr>
        <p:spPr>
          <a:xfrm>
            <a:off x="4434840" y="2286000"/>
            <a:ext cx="64008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Fe</a:t>
            </a:r>
            <a:endParaRPr lang="en-US" sz="800" dirty="0"/>
          </a:p>
        </p:txBody>
      </p:sp>
      <p:sp>
        <p:nvSpPr>
          <p:cNvPr id="34" name="Shape 32"/>
          <p:cNvSpPr/>
          <p:nvPr/>
        </p:nvSpPr>
        <p:spPr>
          <a:xfrm>
            <a:off x="5074920" y="2286000"/>
            <a:ext cx="640080" cy="320040"/>
          </a:xfrm>
          <a:prstGeom prst="rect">
            <a:avLst/>
          </a:prstGeom>
          <a:solidFill>
            <a:srgbClr val="1E40AF"/>
          </a:solidFill>
          <a:ln/>
        </p:spPr>
      </p:sp>
      <p:sp>
        <p:nvSpPr>
          <p:cNvPr id="35" name="Text 33"/>
          <p:cNvSpPr/>
          <p:nvPr/>
        </p:nvSpPr>
        <p:spPr>
          <a:xfrm>
            <a:off x="5074920" y="2286000"/>
            <a:ext cx="64008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SUS</a:t>
            </a:r>
            <a:endParaRPr lang="en-US" sz="800" dirty="0"/>
          </a:p>
        </p:txBody>
      </p:sp>
      <p:sp>
        <p:nvSpPr>
          <p:cNvPr id="36" name="Shape 34"/>
          <p:cNvSpPr/>
          <p:nvPr/>
        </p:nvSpPr>
        <p:spPr>
          <a:xfrm>
            <a:off x="5715000" y="2286000"/>
            <a:ext cx="731520" cy="320040"/>
          </a:xfrm>
          <a:prstGeom prst="rect">
            <a:avLst/>
          </a:prstGeom>
          <a:solidFill>
            <a:srgbClr val="1E40AF"/>
          </a:solidFill>
          <a:ln/>
        </p:spPr>
      </p:sp>
      <p:sp>
        <p:nvSpPr>
          <p:cNvPr id="37" name="Text 35"/>
          <p:cNvSpPr/>
          <p:nvPr/>
        </p:nvSpPr>
        <p:spPr>
          <a:xfrm>
            <a:off x="5715000" y="2286000"/>
            <a:ext cx="73152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Non-Fe</a:t>
            </a:r>
            <a:endParaRPr lang="en-US" sz="800" dirty="0"/>
          </a:p>
        </p:txBody>
      </p:sp>
      <p:sp>
        <p:nvSpPr>
          <p:cNvPr id="38" name="Shape 36"/>
          <p:cNvSpPr/>
          <p:nvPr/>
        </p:nvSpPr>
        <p:spPr>
          <a:xfrm>
            <a:off x="6446520" y="2286000"/>
            <a:ext cx="1005840" cy="320040"/>
          </a:xfrm>
          <a:prstGeom prst="rect">
            <a:avLst/>
          </a:prstGeom>
          <a:solidFill>
            <a:srgbClr val="1E40AF"/>
          </a:solidFill>
          <a:ln/>
        </p:spPr>
      </p:sp>
      <p:sp>
        <p:nvSpPr>
          <p:cNvPr id="39" name="Text 37"/>
          <p:cNvSpPr/>
          <p:nvPr/>
        </p:nvSpPr>
        <p:spPr>
          <a:xfrm>
            <a:off x="6446520" y="2286000"/>
            <a:ext cx="1005840" cy="32004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Người KT</a:t>
            </a:r>
            <a:endParaRPr lang="en-US" sz="800" dirty="0"/>
          </a:p>
        </p:txBody>
      </p:sp>
      <p:sp>
        <p:nvSpPr>
          <p:cNvPr id="40" name="Shape 38"/>
          <p:cNvSpPr/>
          <p:nvPr/>
        </p:nvSpPr>
        <p:spPr>
          <a:xfrm>
            <a:off x="320040" y="2606040"/>
            <a:ext cx="914400" cy="320040"/>
          </a:xfrm>
          <a:prstGeom prst="rect">
            <a:avLst/>
          </a:prstGeom>
          <a:solidFill>
            <a:srgbClr val="FFFFFF"/>
          </a:solidFill>
          <a:ln w="3810">
            <a:solidFill>
              <a:srgbClr val="E5E7EB"/>
            </a:solidFill>
            <a:prstDash val="solid"/>
          </a:ln>
        </p:spPr>
      </p:sp>
      <p:sp>
        <p:nvSpPr>
          <p:cNvPr id="41" name="Text 39"/>
          <p:cNvSpPr/>
          <p:nvPr/>
        </p:nvSpPr>
        <p:spPr>
          <a:xfrm>
            <a:off x="320040" y="2606040"/>
            <a:ext cx="91440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2026-03-10</a:t>
            </a:r>
            <a:endParaRPr lang="en-US" sz="800" dirty="0"/>
          </a:p>
        </p:txBody>
      </p:sp>
      <p:sp>
        <p:nvSpPr>
          <p:cNvPr id="42" name="Shape 40"/>
          <p:cNvSpPr/>
          <p:nvPr/>
        </p:nvSpPr>
        <p:spPr>
          <a:xfrm>
            <a:off x="1234440" y="2606040"/>
            <a:ext cx="822960" cy="320040"/>
          </a:xfrm>
          <a:prstGeom prst="rect">
            <a:avLst/>
          </a:prstGeom>
          <a:solidFill>
            <a:srgbClr val="FFFFFF"/>
          </a:solidFill>
          <a:ln w="3810">
            <a:solidFill>
              <a:srgbClr val="E5E7EB"/>
            </a:solidFill>
            <a:prstDash val="solid"/>
          </a:ln>
        </p:spPr>
      </p:sp>
      <p:sp>
        <p:nvSpPr>
          <p:cNvPr id="43" name="Text 41"/>
          <p:cNvSpPr/>
          <p:nvPr/>
        </p:nvSpPr>
        <p:spPr>
          <a:xfrm>
            <a:off x="1234440" y="2606040"/>
            <a:ext cx="82296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A</a:t>
            </a:r>
            <a:endParaRPr lang="en-US" sz="800" dirty="0"/>
          </a:p>
        </p:txBody>
      </p:sp>
      <p:sp>
        <p:nvSpPr>
          <p:cNvPr id="44" name="Shape 42"/>
          <p:cNvSpPr/>
          <p:nvPr/>
        </p:nvSpPr>
        <p:spPr>
          <a:xfrm>
            <a:off x="2057400" y="2606040"/>
            <a:ext cx="640080" cy="320040"/>
          </a:xfrm>
          <a:prstGeom prst="rect">
            <a:avLst/>
          </a:prstGeom>
          <a:solidFill>
            <a:srgbClr val="FFFFFF"/>
          </a:solidFill>
          <a:ln w="3810">
            <a:solidFill>
              <a:srgbClr val="E5E7EB"/>
            </a:solidFill>
            <a:prstDash val="solid"/>
          </a:ln>
        </p:spPr>
      </p:sp>
      <p:sp>
        <p:nvSpPr>
          <p:cNvPr id="45" name="Text 43"/>
          <p:cNvSpPr/>
          <p:nvPr/>
        </p:nvSpPr>
        <p:spPr>
          <a:xfrm>
            <a:off x="2057400" y="260604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A-1</a:t>
            </a:r>
            <a:endParaRPr lang="en-US" sz="800" dirty="0"/>
          </a:p>
        </p:txBody>
      </p:sp>
      <p:sp>
        <p:nvSpPr>
          <p:cNvPr id="46" name="Shape 44"/>
          <p:cNvSpPr/>
          <p:nvPr/>
        </p:nvSpPr>
        <p:spPr>
          <a:xfrm>
            <a:off x="2697480" y="2606040"/>
            <a:ext cx="1005840" cy="320040"/>
          </a:xfrm>
          <a:prstGeom prst="rect">
            <a:avLst/>
          </a:prstGeom>
          <a:solidFill>
            <a:srgbClr val="FFFFFF"/>
          </a:solidFill>
          <a:ln w="3810">
            <a:solidFill>
              <a:srgbClr val="E5E7EB"/>
            </a:solidFill>
            <a:prstDash val="solid"/>
          </a:ln>
        </p:spPr>
      </p:sp>
      <p:sp>
        <p:nvSpPr>
          <p:cNvPr id="47" name="Text 45"/>
          <p:cNvSpPr/>
          <p:nvPr/>
        </p:nvSpPr>
        <p:spPr>
          <a:xfrm>
            <a:off x="2697480" y="2606040"/>
            <a:ext cx="100584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D210103</a:t>
            </a:r>
            <a:endParaRPr lang="en-US" sz="800" dirty="0"/>
          </a:p>
        </p:txBody>
      </p:sp>
      <p:sp>
        <p:nvSpPr>
          <p:cNvPr id="48" name="Shape 46"/>
          <p:cNvSpPr/>
          <p:nvPr/>
        </p:nvSpPr>
        <p:spPr>
          <a:xfrm>
            <a:off x="3703320" y="2606040"/>
            <a:ext cx="731520" cy="320040"/>
          </a:xfrm>
          <a:prstGeom prst="rect">
            <a:avLst/>
          </a:prstGeom>
          <a:solidFill>
            <a:srgbClr val="FFFFFF"/>
          </a:solidFill>
          <a:ln w="3810">
            <a:solidFill>
              <a:srgbClr val="E5E7EB"/>
            </a:solidFill>
            <a:prstDash val="solid"/>
          </a:ln>
        </p:spPr>
      </p:sp>
      <p:sp>
        <p:nvSpPr>
          <p:cNvPr id="49" name="Text 47"/>
          <p:cNvSpPr/>
          <p:nvPr/>
        </p:nvSpPr>
        <p:spPr>
          <a:xfrm>
            <a:off x="3703320" y="2606040"/>
            <a:ext cx="731520" cy="320040"/>
          </a:xfrm>
          <a:prstGeom prst="rect">
            <a:avLst/>
          </a:prstGeom>
          <a:noFill/>
          <a:ln/>
        </p:spPr>
        <p:txBody>
          <a:bodyPr wrap="square" rtlCol="0" anchor="ctr"/>
          <a:lstStyle/>
          <a:p>
            <a:pPr algn="ctr" indent="0" marL="0">
              <a:buNone/>
            </a:pPr>
            <a:r>
              <a:rPr lang="en-US" sz="800" b="1" dirty="0">
                <a:solidFill>
                  <a:srgbClr val="16A34A"/>
                </a:solidFill>
                <a:latin typeface="Arial" pitchFamily="34" charset="0"/>
                <a:ea typeface="Arial" pitchFamily="34" charset="-122"/>
                <a:cs typeface="Arial" pitchFamily="34" charset="-120"/>
              </a:rPr>
              <a:t>PASS</a:t>
            </a:r>
            <a:endParaRPr lang="en-US" sz="800" dirty="0"/>
          </a:p>
        </p:txBody>
      </p:sp>
      <p:sp>
        <p:nvSpPr>
          <p:cNvPr id="50" name="Shape 48"/>
          <p:cNvSpPr/>
          <p:nvPr/>
        </p:nvSpPr>
        <p:spPr>
          <a:xfrm>
            <a:off x="4434840" y="2606040"/>
            <a:ext cx="640080" cy="320040"/>
          </a:xfrm>
          <a:prstGeom prst="rect">
            <a:avLst/>
          </a:prstGeom>
          <a:solidFill>
            <a:srgbClr val="FFFFFF"/>
          </a:solidFill>
          <a:ln w="3810">
            <a:solidFill>
              <a:srgbClr val="E5E7EB"/>
            </a:solidFill>
            <a:prstDash val="solid"/>
          </a:ln>
        </p:spPr>
      </p:sp>
      <p:sp>
        <p:nvSpPr>
          <p:cNvPr id="51" name="Text 49"/>
          <p:cNvSpPr/>
          <p:nvPr/>
        </p:nvSpPr>
        <p:spPr>
          <a:xfrm>
            <a:off x="4434840" y="260604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1.2</a:t>
            </a:r>
            <a:endParaRPr lang="en-US" sz="800" dirty="0"/>
          </a:p>
        </p:txBody>
      </p:sp>
      <p:sp>
        <p:nvSpPr>
          <p:cNvPr id="52" name="Shape 50"/>
          <p:cNvSpPr/>
          <p:nvPr/>
        </p:nvSpPr>
        <p:spPr>
          <a:xfrm>
            <a:off x="5074920" y="2606040"/>
            <a:ext cx="640080" cy="320040"/>
          </a:xfrm>
          <a:prstGeom prst="rect">
            <a:avLst/>
          </a:prstGeom>
          <a:solidFill>
            <a:srgbClr val="FFFFFF"/>
          </a:solidFill>
          <a:ln w="3810">
            <a:solidFill>
              <a:srgbClr val="E5E7EB"/>
            </a:solidFill>
            <a:prstDash val="solid"/>
          </a:ln>
        </p:spPr>
      </p:sp>
      <p:sp>
        <p:nvSpPr>
          <p:cNvPr id="53" name="Text 51"/>
          <p:cNvSpPr/>
          <p:nvPr/>
        </p:nvSpPr>
        <p:spPr>
          <a:xfrm>
            <a:off x="5074920" y="260604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1.5</a:t>
            </a:r>
            <a:endParaRPr lang="en-US" sz="800" dirty="0"/>
          </a:p>
        </p:txBody>
      </p:sp>
      <p:sp>
        <p:nvSpPr>
          <p:cNvPr id="54" name="Shape 52"/>
          <p:cNvSpPr/>
          <p:nvPr/>
        </p:nvSpPr>
        <p:spPr>
          <a:xfrm>
            <a:off x="5715000" y="2606040"/>
            <a:ext cx="731520" cy="320040"/>
          </a:xfrm>
          <a:prstGeom prst="rect">
            <a:avLst/>
          </a:prstGeom>
          <a:solidFill>
            <a:srgbClr val="FFFFFF"/>
          </a:solidFill>
          <a:ln w="3810">
            <a:solidFill>
              <a:srgbClr val="E5E7EB"/>
            </a:solidFill>
            <a:prstDash val="solid"/>
          </a:ln>
        </p:spPr>
      </p:sp>
      <p:sp>
        <p:nvSpPr>
          <p:cNvPr id="55" name="Text 53"/>
          <p:cNvSpPr/>
          <p:nvPr/>
        </p:nvSpPr>
        <p:spPr>
          <a:xfrm>
            <a:off x="5715000" y="2606040"/>
            <a:ext cx="73152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2.0</a:t>
            </a:r>
            <a:endParaRPr lang="en-US" sz="800" dirty="0"/>
          </a:p>
        </p:txBody>
      </p:sp>
      <p:sp>
        <p:nvSpPr>
          <p:cNvPr id="56" name="Shape 54"/>
          <p:cNvSpPr/>
          <p:nvPr/>
        </p:nvSpPr>
        <p:spPr>
          <a:xfrm>
            <a:off x="6446520" y="2606040"/>
            <a:ext cx="1005840" cy="320040"/>
          </a:xfrm>
          <a:prstGeom prst="rect">
            <a:avLst/>
          </a:prstGeom>
          <a:solidFill>
            <a:srgbClr val="FFFFFF"/>
          </a:solidFill>
          <a:ln w="3810">
            <a:solidFill>
              <a:srgbClr val="E5E7EB"/>
            </a:solidFill>
            <a:prstDash val="solid"/>
          </a:ln>
        </p:spPr>
      </p:sp>
      <p:sp>
        <p:nvSpPr>
          <p:cNvPr id="57" name="Text 55"/>
          <p:cNvSpPr/>
          <p:nvPr/>
        </p:nvSpPr>
        <p:spPr>
          <a:xfrm>
            <a:off x="6446520" y="2606040"/>
            <a:ext cx="100584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Nguyen</a:t>
            </a:r>
            <a:endParaRPr lang="en-US" sz="800" dirty="0"/>
          </a:p>
        </p:txBody>
      </p:sp>
      <p:sp>
        <p:nvSpPr>
          <p:cNvPr id="58" name="Shape 56"/>
          <p:cNvSpPr/>
          <p:nvPr/>
        </p:nvSpPr>
        <p:spPr>
          <a:xfrm>
            <a:off x="320040" y="2926080"/>
            <a:ext cx="914400" cy="320040"/>
          </a:xfrm>
          <a:prstGeom prst="rect">
            <a:avLst/>
          </a:prstGeom>
          <a:solidFill>
            <a:srgbClr val="F3F4F6"/>
          </a:solidFill>
          <a:ln w="3810">
            <a:solidFill>
              <a:srgbClr val="E5E7EB"/>
            </a:solidFill>
            <a:prstDash val="solid"/>
          </a:ln>
        </p:spPr>
      </p:sp>
      <p:sp>
        <p:nvSpPr>
          <p:cNvPr id="59" name="Text 57"/>
          <p:cNvSpPr/>
          <p:nvPr/>
        </p:nvSpPr>
        <p:spPr>
          <a:xfrm>
            <a:off x="320040" y="2926080"/>
            <a:ext cx="91440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2026-03-10</a:t>
            </a:r>
            <a:endParaRPr lang="en-US" sz="800" dirty="0"/>
          </a:p>
        </p:txBody>
      </p:sp>
      <p:sp>
        <p:nvSpPr>
          <p:cNvPr id="60" name="Shape 58"/>
          <p:cNvSpPr/>
          <p:nvPr/>
        </p:nvSpPr>
        <p:spPr>
          <a:xfrm>
            <a:off x="1234440" y="2926080"/>
            <a:ext cx="822960" cy="320040"/>
          </a:xfrm>
          <a:prstGeom prst="rect">
            <a:avLst/>
          </a:prstGeom>
          <a:solidFill>
            <a:srgbClr val="F3F4F6"/>
          </a:solidFill>
          <a:ln w="3810">
            <a:solidFill>
              <a:srgbClr val="E5E7EB"/>
            </a:solidFill>
            <a:prstDash val="solid"/>
          </a:ln>
        </p:spPr>
      </p:sp>
      <p:sp>
        <p:nvSpPr>
          <p:cNvPr id="61" name="Text 59"/>
          <p:cNvSpPr/>
          <p:nvPr/>
        </p:nvSpPr>
        <p:spPr>
          <a:xfrm>
            <a:off x="1234440" y="2926080"/>
            <a:ext cx="82296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A</a:t>
            </a:r>
            <a:endParaRPr lang="en-US" sz="800" dirty="0"/>
          </a:p>
        </p:txBody>
      </p:sp>
      <p:sp>
        <p:nvSpPr>
          <p:cNvPr id="62" name="Shape 60"/>
          <p:cNvSpPr/>
          <p:nvPr/>
        </p:nvSpPr>
        <p:spPr>
          <a:xfrm>
            <a:off x="2057400" y="2926080"/>
            <a:ext cx="640080" cy="320040"/>
          </a:xfrm>
          <a:prstGeom prst="rect">
            <a:avLst/>
          </a:prstGeom>
          <a:solidFill>
            <a:srgbClr val="F3F4F6"/>
          </a:solidFill>
          <a:ln w="3810">
            <a:solidFill>
              <a:srgbClr val="E5E7EB"/>
            </a:solidFill>
            <a:prstDash val="solid"/>
          </a:ln>
        </p:spPr>
      </p:sp>
      <p:sp>
        <p:nvSpPr>
          <p:cNvPr id="63" name="Text 61"/>
          <p:cNvSpPr/>
          <p:nvPr/>
        </p:nvSpPr>
        <p:spPr>
          <a:xfrm>
            <a:off x="2057400" y="292608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A-2</a:t>
            </a:r>
            <a:endParaRPr lang="en-US" sz="800" dirty="0"/>
          </a:p>
        </p:txBody>
      </p:sp>
      <p:sp>
        <p:nvSpPr>
          <p:cNvPr id="64" name="Shape 62"/>
          <p:cNvSpPr/>
          <p:nvPr/>
        </p:nvSpPr>
        <p:spPr>
          <a:xfrm>
            <a:off x="2697480" y="2926080"/>
            <a:ext cx="1005840" cy="320040"/>
          </a:xfrm>
          <a:prstGeom prst="rect">
            <a:avLst/>
          </a:prstGeom>
          <a:solidFill>
            <a:srgbClr val="F3F4F6"/>
          </a:solidFill>
          <a:ln w="3810">
            <a:solidFill>
              <a:srgbClr val="E5E7EB"/>
            </a:solidFill>
            <a:prstDash val="solid"/>
          </a:ln>
        </p:spPr>
      </p:sp>
      <p:sp>
        <p:nvSpPr>
          <p:cNvPr id="65" name="Text 63"/>
          <p:cNvSpPr/>
          <p:nvPr/>
        </p:nvSpPr>
        <p:spPr>
          <a:xfrm>
            <a:off x="2697480" y="2926080"/>
            <a:ext cx="100584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D210104</a:t>
            </a:r>
            <a:endParaRPr lang="en-US" sz="800" dirty="0"/>
          </a:p>
        </p:txBody>
      </p:sp>
      <p:sp>
        <p:nvSpPr>
          <p:cNvPr id="66" name="Shape 64"/>
          <p:cNvSpPr/>
          <p:nvPr/>
        </p:nvSpPr>
        <p:spPr>
          <a:xfrm>
            <a:off x="3703320" y="2926080"/>
            <a:ext cx="731520" cy="320040"/>
          </a:xfrm>
          <a:prstGeom prst="rect">
            <a:avLst/>
          </a:prstGeom>
          <a:solidFill>
            <a:srgbClr val="F3F4F6"/>
          </a:solidFill>
          <a:ln w="3810">
            <a:solidFill>
              <a:srgbClr val="E5E7EB"/>
            </a:solidFill>
            <a:prstDash val="solid"/>
          </a:ln>
        </p:spPr>
      </p:sp>
      <p:sp>
        <p:nvSpPr>
          <p:cNvPr id="67" name="Text 65"/>
          <p:cNvSpPr/>
          <p:nvPr/>
        </p:nvSpPr>
        <p:spPr>
          <a:xfrm>
            <a:off x="3703320" y="2926080"/>
            <a:ext cx="731520" cy="320040"/>
          </a:xfrm>
          <a:prstGeom prst="rect">
            <a:avLst/>
          </a:prstGeom>
          <a:noFill/>
          <a:ln/>
        </p:spPr>
        <p:txBody>
          <a:bodyPr wrap="square" rtlCol="0" anchor="ctr"/>
          <a:lstStyle/>
          <a:p>
            <a:pPr algn="ctr" indent="0" marL="0">
              <a:buNone/>
            </a:pPr>
            <a:r>
              <a:rPr lang="en-US" sz="800" b="1" dirty="0">
                <a:solidFill>
                  <a:srgbClr val="DC2626"/>
                </a:solidFill>
                <a:latin typeface="Arial" pitchFamily="34" charset="0"/>
                <a:ea typeface="Arial" pitchFamily="34" charset="-122"/>
                <a:cs typeface="Arial" pitchFamily="34" charset="-120"/>
              </a:rPr>
              <a:t>FAIL</a:t>
            </a:r>
            <a:endParaRPr lang="en-US" sz="800" dirty="0"/>
          </a:p>
        </p:txBody>
      </p:sp>
      <p:sp>
        <p:nvSpPr>
          <p:cNvPr id="68" name="Shape 66"/>
          <p:cNvSpPr/>
          <p:nvPr/>
        </p:nvSpPr>
        <p:spPr>
          <a:xfrm>
            <a:off x="4434840" y="2926080"/>
            <a:ext cx="640080" cy="320040"/>
          </a:xfrm>
          <a:prstGeom prst="rect">
            <a:avLst/>
          </a:prstGeom>
          <a:solidFill>
            <a:srgbClr val="F3F4F6"/>
          </a:solidFill>
          <a:ln w="3810">
            <a:solidFill>
              <a:srgbClr val="E5E7EB"/>
            </a:solidFill>
            <a:prstDash val="solid"/>
          </a:ln>
        </p:spPr>
      </p:sp>
      <p:sp>
        <p:nvSpPr>
          <p:cNvPr id="69" name="Text 67"/>
          <p:cNvSpPr/>
          <p:nvPr/>
        </p:nvSpPr>
        <p:spPr>
          <a:xfrm>
            <a:off x="4434840" y="292608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1.3</a:t>
            </a:r>
            <a:endParaRPr lang="en-US" sz="800" dirty="0"/>
          </a:p>
        </p:txBody>
      </p:sp>
      <p:sp>
        <p:nvSpPr>
          <p:cNvPr id="70" name="Shape 68"/>
          <p:cNvSpPr/>
          <p:nvPr/>
        </p:nvSpPr>
        <p:spPr>
          <a:xfrm>
            <a:off x="5074920" y="2926080"/>
            <a:ext cx="640080" cy="320040"/>
          </a:xfrm>
          <a:prstGeom prst="rect">
            <a:avLst/>
          </a:prstGeom>
          <a:solidFill>
            <a:srgbClr val="F3F4F6"/>
          </a:solidFill>
          <a:ln w="3810">
            <a:solidFill>
              <a:srgbClr val="E5E7EB"/>
            </a:solidFill>
            <a:prstDash val="solid"/>
          </a:ln>
        </p:spPr>
      </p:sp>
      <p:sp>
        <p:nvSpPr>
          <p:cNvPr id="71" name="Text 69"/>
          <p:cNvSpPr/>
          <p:nvPr/>
        </p:nvSpPr>
        <p:spPr>
          <a:xfrm>
            <a:off x="5074920" y="292608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1.4</a:t>
            </a:r>
            <a:endParaRPr lang="en-US" sz="800" dirty="0"/>
          </a:p>
        </p:txBody>
      </p:sp>
      <p:sp>
        <p:nvSpPr>
          <p:cNvPr id="72" name="Shape 70"/>
          <p:cNvSpPr/>
          <p:nvPr/>
        </p:nvSpPr>
        <p:spPr>
          <a:xfrm>
            <a:off x="5715000" y="2926080"/>
            <a:ext cx="731520" cy="320040"/>
          </a:xfrm>
          <a:prstGeom prst="rect">
            <a:avLst/>
          </a:prstGeom>
          <a:solidFill>
            <a:srgbClr val="F3F4F6"/>
          </a:solidFill>
          <a:ln w="3810">
            <a:solidFill>
              <a:srgbClr val="E5E7EB"/>
            </a:solidFill>
            <a:prstDash val="solid"/>
          </a:ln>
        </p:spPr>
      </p:sp>
      <p:sp>
        <p:nvSpPr>
          <p:cNvPr id="73" name="Text 71"/>
          <p:cNvSpPr/>
          <p:nvPr/>
        </p:nvSpPr>
        <p:spPr>
          <a:xfrm>
            <a:off x="5715000" y="2926080"/>
            <a:ext cx="73152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2.1</a:t>
            </a:r>
            <a:endParaRPr lang="en-US" sz="800" dirty="0"/>
          </a:p>
        </p:txBody>
      </p:sp>
      <p:sp>
        <p:nvSpPr>
          <p:cNvPr id="74" name="Shape 72"/>
          <p:cNvSpPr/>
          <p:nvPr/>
        </p:nvSpPr>
        <p:spPr>
          <a:xfrm>
            <a:off x="6446520" y="2926080"/>
            <a:ext cx="1005840" cy="320040"/>
          </a:xfrm>
          <a:prstGeom prst="rect">
            <a:avLst/>
          </a:prstGeom>
          <a:solidFill>
            <a:srgbClr val="F3F4F6"/>
          </a:solidFill>
          <a:ln w="3810">
            <a:solidFill>
              <a:srgbClr val="E5E7EB"/>
            </a:solidFill>
            <a:prstDash val="solid"/>
          </a:ln>
        </p:spPr>
      </p:sp>
      <p:sp>
        <p:nvSpPr>
          <p:cNvPr id="75" name="Text 73"/>
          <p:cNvSpPr/>
          <p:nvPr/>
        </p:nvSpPr>
        <p:spPr>
          <a:xfrm>
            <a:off x="6446520" y="2926080"/>
            <a:ext cx="100584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Nguyen</a:t>
            </a:r>
            <a:endParaRPr lang="en-US" sz="800" dirty="0"/>
          </a:p>
        </p:txBody>
      </p:sp>
      <p:sp>
        <p:nvSpPr>
          <p:cNvPr id="76" name="Shape 74"/>
          <p:cNvSpPr/>
          <p:nvPr/>
        </p:nvSpPr>
        <p:spPr>
          <a:xfrm>
            <a:off x="320040" y="3246120"/>
            <a:ext cx="914400" cy="320040"/>
          </a:xfrm>
          <a:prstGeom prst="rect">
            <a:avLst/>
          </a:prstGeom>
          <a:solidFill>
            <a:srgbClr val="FFFFFF"/>
          </a:solidFill>
          <a:ln w="3810">
            <a:solidFill>
              <a:srgbClr val="E5E7EB"/>
            </a:solidFill>
            <a:prstDash val="solid"/>
          </a:ln>
        </p:spPr>
      </p:sp>
      <p:sp>
        <p:nvSpPr>
          <p:cNvPr id="77" name="Text 75"/>
          <p:cNvSpPr/>
          <p:nvPr/>
        </p:nvSpPr>
        <p:spPr>
          <a:xfrm>
            <a:off x="320040" y="3246120"/>
            <a:ext cx="91440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2026-03-10</a:t>
            </a:r>
            <a:endParaRPr lang="en-US" sz="800" dirty="0"/>
          </a:p>
        </p:txBody>
      </p:sp>
      <p:sp>
        <p:nvSpPr>
          <p:cNvPr id="78" name="Shape 76"/>
          <p:cNvSpPr/>
          <p:nvPr/>
        </p:nvSpPr>
        <p:spPr>
          <a:xfrm>
            <a:off x="1234440" y="3246120"/>
            <a:ext cx="822960" cy="320040"/>
          </a:xfrm>
          <a:prstGeom prst="rect">
            <a:avLst/>
          </a:prstGeom>
          <a:solidFill>
            <a:srgbClr val="FFFFFF"/>
          </a:solidFill>
          <a:ln w="3810">
            <a:solidFill>
              <a:srgbClr val="E5E7EB"/>
            </a:solidFill>
            <a:prstDash val="solid"/>
          </a:ln>
        </p:spPr>
      </p:sp>
      <p:sp>
        <p:nvSpPr>
          <p:cNvPr id="79" name="Text 77"/>
          <p:cNvSpPr/>
          <p:nvPr/>
        </p:nvSpPr>
        <p:spPr>
          <a:xfrm>
            <a:off x="1234440" y="3246120"/>
            <a:ext cx="82296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B</a:t>
            </a:r>
            <a:endParaRPr lang="en-US" sz="800" dirty="0"/>
          </a:p>
        </p:txBody>
      </p:sp>
      <p:sp>
        <p:nvSpPr>
          <p:cNvPr id="80" name="Shape 78"/>
          <p:cNvSpPr/>
          <p:nvPr/>
        </p:nvSpPr>
        <p:spPr>
          <a:xfrm>
            <a:off x="2057400" y="3246120"/>
            <a:ext cx="640080" cy="320040"/>
          </a:xfrm>
          <a:prstGeom prst="rect">
            <a:avLst/>
          </a:prstGeom>
          <a:solidFill>
            <a:srgbClr val="FFFFFF"/>
          </a:solidFill>
          <a:ln w="3810">
            <a:solidFill>
              <a:srgbClr val="E5E7EB"/>
            </a:solidFill>
            <a:prstDash val="solid"/>
          </a:ln>
        </p:spPr>
      </p:sp>
      <p:sp>
        <p:nvSpPr>
          <p:cNvPr id="81" name="Text 79"/>
          <p:cNvSpPr/>
          <p:nvPr/>
        </p:nvSpPr>
        <p:spPr>
          <a:xfrm>
            <a:off x="2057400" y="324612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B-1</a:t>
            </a:r>
            <a:endParaRPr lang="en-US" sz="800" dirty="0"/>
          </a:p>
        </p:txBody>
      </p:sp>
      <p:sp>
        <p:nvSpPr>
          <p:cNvPr id="82" name="Shape 80"/>
          <p:cNvSpPr/>
          <p:nvPr/>
        </p:nvSpPr>
        <p:spPr>
          <a:xfrm>
            <a:off x="2697480" y="3246120"/>
            <a:ext cx="1005840" cy="320040"/>
          </a:xfrm>
          <a:prstGeom prst="rect">
            <a:avLst/>
          </a:prstGeom>
          <a:solidFill>
            <a:srgbClr val="FFFFFF"/>
          </a:solidFill>
          <a:ln w="3810">
            <a:solidFill>
              <a:srgbClr val="E5E7EB"/>
            </a:solidFill>
            <a:prstDash val="solid"/>
          </a:ln>
        </p:spPr>
      </p:sp>
      <p:sp>
        <p:nvSpPr>
          <p:cNvPr id="83" name="Text 81"/>
          <p:cNvSpPr/>
          <p:nvPr/>
        </p:nvSpPr>
        <p:spPr>
          <a:xfrm>
            <a:off x="2697480" y="3246120"/>
            <a:ext cx="100584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D220201</a:t>
            </a:r>
            <a:endParaRPr lang="en-US" sz="800" dirty="0"/>
          </a:p>
        </p:txBody>
      </p:sp>
      <p:sp>
        <p:nvSpPr>
          <p:cNvPr id="84" name="Shape 82"/>
          <p:cNvSpPr/>
          <p:nvPr/>
        </p:nvSpPr>
        <p:spPr>
          <a:xfrm>
            <a:off x="3703320" y="3246120"/>
            <a:ext cx="731520" cy="320040"/>
          </a:xfrm>
          <a:prstGeom prst="rect">
            <a:avLst/>
          </a:prstGeom>
          <a:solidFill>
            <a:srgbClr val="FFFFFF"/>
          </a:solidFill>
          <a:ln w="3810">
            <a:solidFill>
              <a:srgbClr val="E5E7EB"/>
            </a:solidFill>
            <a:prstDash val="solid"/>
          </a:ln>
        </p:spPr>
      </p:sp>
      <p:sp>
        <p:nvSpPr>
          <p:cNvPr id="85" name="Text 83"/>
          <p:cNvSpPr/>
          <p:nvPr/>
        </p:nvSpPr>
        <p:spPr>
          <a:xfrm>
            <a:off x="3703320" y="3246120"/>
            <a:ext cx="731520" cy="320040"/>
          </a:xfrm>
          <a:prstGeom prst="rect">
            <a:avLst/>
          </a:prstGeom>
          <a:noFill/>
          <a:ln/>
        </p:spPr>
        <p:txBody>
          <a:bodyPr wrap="square" rtlCol="0" anchor="ctr"/>
          <a:lstStyle/>
          <a:p>
            <a:pPr algn="ctr" indent="0" marL="0">
              <a:buNone/>
            </a:pPr>
            <a:r>
              <a:rPr lang="en-US" sz="800" b="1" dirty="0">
                <a:solidFill>
                  <a:srgbClr val="16A34A"/>
                </a:solidFill>
                <a:latin typeface="Arial" pitchFamily="34" charset="0"/>
                <a:ea typeface="Arial" pitchFamily="34" charset="-122"/>
                <a:cs typeface="Arial" pitchFamily="34" charset="-120"/>
              </a:rPr>
              <a:t>PASS</a:t>
            </a:r>
            <a:endParaRPr lang="en-US" sz="800" dirty="0"/>
          </a:p>
        </p:txBody>
      </p:sp>
      <p:sp>
        <p:nvSpPr>
          <p:cNvPr id="86" name="Shape 84"/>
          <p:cNvSpPr/>
          <p:nvPr/>
        </p:nvSpPr>
        <p:spPr>
          <a:xfrm>
            <a:off x="4434840" y="3246120"/>
            <a:ext cx="640080" cy="320040"/>
          </a:xfrm>
          <a:prstGeom prst="rect">
            <a:avLst/>
          </a:prstGeom>
          <a:solidFill>
            <a:srgbClr val="FFFFFF"/>
          </a:solidFill>
          <a:ln w="3810">
            <a:solidFill>
              <a:srgbClr val="E5E7EB"/>
            </a:solidFill>
            <a:prstDash val="solid"/>
          </a:ln>
        </p:spPr>
      </p:sp>
      <p:sp>
        <p:nvSpPr>
          <p:cNvPr id="87" name="Text 85"/>
          <p:cNvSpPr/>
          <p:nvPr/>
        </p:nvSpPr>
        <p:spPr>
          <a:xfrm>
            <a:off x="4434840" y="324612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1.1</a:t>
            </a:r>
            <a:endParaRPr lang="en-US" sz="800" dirty="0"/>
          </a:p>
        </p:txBody>
      </p:sp>
      <p:sp>
        <p:nvSpPr>
          <p:cNvPr id="88" name="Shape 86"/>
          <p:cNvSpPr/>
          <p:nvPr/>
        </p:nvSpPr>
        <p:spPr>
          <a:xfrm>
            <a:off x="5074920" y="3246120"/>
            <a:ext cx="640080" cy="320040"/>
          </a:xfrm>
          <a:prstGeom prst="rect">
            <a:avLst/>
          </a:prstGeom>
          <a:solidFill>
            <a:srgbClr val="FFFFFF"/>
          </a:solidFill>
          <a:ln w="3810">
            <a:solidFill>
              <a:srgbClr val="E5E7EB"/>
            </a:solidFill>
            <a:prstDash val="solid"/>
          </a:ln>
        </p:spPr>
      </p:sp>
      <p:sp>
        <p:nvSpPr>
          <p:cNvPr id="89" name="Text 87"/>
          <p:cNvSpPr/>
          <p:nvPr/>
        </p:nvSpPr>
        <p:spPr>
          <a:xfrm>
            <a:off x="5074920" y="3246120"/>
            <a:ext cx="64008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1.6</a:t>
            </a:r>
            <a:endParaRPr lang="en-US" sz="800" dirty="0"/>
          </a:p>
        </p:txBody>
      </p:sp>
      <p:sp>
        <p:nvSpPr>
          <p:cNvPr id="90" name="Shape 88"/>
          <p:cNvSpPr/>
          <p:nvPr/>
        </p:nvSpPr>
        <p:spPr>
          <a:xfrm>
            <a:off x="5715000" y="3246120"/>
            <a:ext cx="731520" cy="320040"/>
          </a:xfrm>
          <a:prstGeom prst="rect">
            <a:avLst/>
          </a:prstGeom>
          <a:solidFill>
            <a:srgbClr val="FFFFFF"/>
          </a:solidFill>
          <a:ln w="3810">
            <a:solidFill>
              <a:srgbClr val="E5E7EB"/>
            </a:solidFill>
            <a:prstDash val="solid"/>
          </a:ln>
        </p:spPr>
      </p:sp>
      <p:sp>
        <p:nvSpPr>
          <p:cNvPr id="91" name="Text 89"/>
          <p:cNvSpPr/>
          <p:nvPr/>
        </p:nvSpPr>
        <p:spPr>
          <a:xfrm>
            <a:off x="5715000" y="3246120"/>
            <a:ext cx="73152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1.9</a:t>
            </a:r>
            <a:endParaRPr lang="en-US" sz="800" dirty="0"/>
          </a:p>
        </p:txBody>
      </p:sp>
      <p:sp>
        <p:nvSpPr>
          <p:cNvPr id="92" name="Shape 90"/>
          <p:cNvSpPr/>
          <p:nvPr/>
        </p:nvSpPr>
        <p:spPr>
          <a:xfrm>
            <a:off x="6446520" y="3246120"/>
            <a:ext cx="1005840" cy="320040"/>
          </a:xfrm>
          <a:prstGeom prst="rect">
            <a:avLst/>
          </a:prstGeom>
          <a:solidFill>
            <a:srgbClr val="FFFFFF"/>
          </a:solidFill>
          <a:ln w="3810">
            <a:solidFill>
              <a:srgbClr val="E5E7EB"/>
            </a:solidFill>
            <a:prstDash val="solid"/>
          </a:ln>
        </p:spPr>
      </p:sp>
      <p:sp>
        <p:nvSpPr>
          <p:cNvPr id="93" name="Text 91"/>
          <p:cNvSpPr/>
          <p:nvPr/>
        </p:nvSpPr>
        <p:spPr>
          <a:xfrm>
            <a:off x="6446520" y="3246120"/>
            <a:ext cx="1005840" cy="320040"/>
          </a:xfrm>
          <a:prstGeom prst="rect">
            <a:avLst/>
          </a:prstGeom>
          <a:noFill/>
          <a:ln/>
        </p:spPr>
        <p:txBody>
          <a:bodyPr wrap="square" rtlCol="0" anchor="ctr"/>
          <a:lstStyle/>
          <a:p>
            <a:pPr algn="ctr" indent="0" marL="0">
              <a:buNone/>
            </a:pPr>
            <a:r>
              <a:rPr lang="en-US" sz="800" dirty="0">
                <a:solidFill>
                  <a:srgbClr val="1F2937"/>
                </a:solidFill>
                <a:latin typeface="Arial" pitchFamily="34" charset="0"/>
                <a:ea typeface="Arial" pitchFamily="34" charset="-122"/>
                <a:cs typeface="Arial" pitchFamily="34" charset="-120"/>
              </a:rPr>
              <a:t>Tran</a:t>
            </a:r>
            <a:endParaRPr lang="en-US" sz="800" dirty="0"/>
          </a:p>
        </p:txBody>
      </p:sp>
      <p:sp>
        <p:nvSpPr>
          <p:cNvPr id="94" name="Shape 92"/>
          <p:cNvSpPr/>
          <p:nvPr/>
        </p:nvSpPr>
        <p:spPr>
          <a:xfrm>
            <a:off x="457200" y="3657600"/>
            <a:ext cx="8229600" cy="457200"/>
          </a:xfrm>
          <a:prstGeom prst="roundRect">
            <a:avLst>
              <a:gd name="adj" fmla="val 16000"/>
            </a:avLst>
          </a:prstGeom>
          <a:solidFill>
            <a:srgbClr val="EFF6FF"/>
          </a:solidFill>
          <a:ln/>
        </p:spPr>
      </p:sp>
      <p:sp>
        <p:nvSpPr>
          <p:cNvPr id="95" name="Text 93"/>
          <p:cNvSpPr/>
          <p:nvPr/>
        </p:nvSpPr>
        <p:spPr>
          <a:xfrm>
            <a:off x="548640" y="3657600"/>
            <a:ext cx="8046720" cy="457200"/>
          </a:xfrm>
          <a:prstGeom prst="rect">
            <a:avLst/>
          </a:prstGeom>
          <a:noFill/>
          <a:ln/>
        </p:spPr>
        <p:txBody>
          <a:bodyPr wrap="square" rtlCol="0" anchor="ctr"/>
          <a:lstStyle/>
          <a:p>
            <a:pPr indent="0" marL="0">
              <a:buNone/>
            </a:pPr>
            <a:r>
              <a:rPr lang="en-US" sz="1100" dirty="0">
                <a:solidFill>
                  <a:srgbClr val="1E3A8A"/>
                </a:solidFill>
                <a:latin typeface="Arial" pitchFamily="34" charset="0"/>
                <a:ea typeface="Arial" pitchFamily="34" charset="-122"/>
                <a:cs typeface="Arial" pitchFamily="34" charset="-120"/>
              </a:rPr>
              <a:t>Nhấp vào bất kỳ hàng nào để mở chi tiết và theo dõi CA (cho các mục FAIL).</a:t>
            </a:r>
            <a:endParaRPr lang="en-US" sz="1100" dirty="0"/>
          </a:p>
        </p:txBody>
      </p:sp>
      <p:sp>
        <p:nvSpPr>
          <p:cNvPr id="96" name="Text 94"/>
          <p:cNvSpPr/>
          <p:nvPr/>
        </p:nvSpPr>
        <p:spPr>
          <a:xfrm>
            <a:off x="457200" y="4297680"/>
            <a:ext cx="822960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Menu: Equipment &gt; Metal Detector &gt; History</a:t>
            </a:r>
            <a:endParaRPr lang="en-US" sz="1100" dirty="0"/>
          </a:p>
        </p:txBody>
      </p:sp>
      <p:sp>
        <p:nvSpPr>
          <p:cNvPr id="97" name="Shape 95"/>
          <p:cNvSpPr/>
          <p:nvPr/>
        </p:nvSpPr>
        <p:spPr>
          <a:xfrm>
            <a:off x="1828800" y="4663440"/>
            <a:ext cx="5486400" cy="1645920"/>
          </a:xfrm>
          <a:prstGeom prst="roundRect">
            <a:avLst>
              <a:gd name="adj" fmla="val 5556"/>
            </a:avLst>
          </a:prstGeom>
          <a:solidFill>
            <a:srgbClr val="FFFFFF"/>
          </a:solidFill>
          <a:ln w="12700">
            <a:solidFill>
              <a:srgbClr val="E5E7EB"/>
            </a:solidFill>
            <a:prstDash val="solid"/>
          </a:ln>
        </p:spPr>
      </p:sp>
      <p:sp>
        <p:nvSpPr>
          <p:cNvPr id="98" name="Shape 96"/>
          <p:cNvSpPr/>
          <p:nvPr/>
        </p:nvSpPr>
        <p:spPr>
          <a:xfrm>
            <a:off x="1828800" y="4663440"/>
            <a:ext cx="5486400" cy="320040"/>
          </a:xfrm>
          <a:prstGeom prst="rect">
            <a:avLst/>
          </a:prstGeom>
          <a:solidFill>
            <a:srgbClr val="1E40AF"/>
          </a:solidFill>
          <a:ln/>
        </p:spPr>
      </p:sp>
      <p:sp>
        <p:nvSpPr>
          <p:cNvPr id="99" name="Text 97"/>
          <p:cNvSpPr/>
          <p:nvPr/>
        </p:nvSpPr>
        <p:spPr>
          <a:xfrm>
            <a:off x="1828800" y="4663440"/>
            <a:ext cx="548640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Inspection Detail Modal</a:t>
            </a:r>
            <a:endParaRPr lang="en-US" sz="1000" dirty="0"/>
          </a:p>
        </p:txBody>
      </p:sp>
      <p:sp>
        <p:nvSpPr>
          <p:cNvPr id="100" name="Text 98"/>
          <p:cNvSpPr/>
          <p:nvPr/>
        </p:nvSpPr>
        <p:spPr>
          <a:xfrm>
            <a:off x="2011680" y="5029200"/>
            <a:ext cx="5120640" cy="109728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Date: 2026-03-10  |  Factory A  |  Line A-2  |  FAIL</a:t>
            </a:r>
            <a:endParaRPr lang="en-US" sz="900" dirty="0"/>
          </a:p>
          <a:p>
            <a:pPr indent="0" marL="0">
              <a:buNone/>
            </a:pPr>
            <a:r>
              <a:rPr lang="en-US" sz="900" dirty="0">
                <a:solidFill>
                  <a:srgbClr val="1F2937"/>
                </a:solidFill>
                <a:latin typeface="Arial" pitchFamily="34" charset="0"/>
                <a:ea typeface="Arial" pitchFamily="34" charset="-122"/>
                <a:cs typeface="Arial" pitchFamily="34" charset="-120"/>
              </a:rPr>
              <a:t>Fe: 1.3mm  |  SUS: 1.4mm  |  Non-Fe: 2.1mm</a:t>
            </a:r>
            <a:endParaRPr lang="en-US" sz="900" dirty="0"/>
          </a:p>
          <a:p>
            <a:pPr indent="0" marL="0">
              <a:buNone/>
            </a:pPr>
            <a:r>
              <a:rPr lang="en-US" sz="900" dirty="0">
                <a:solidFill>
                  <a:srgbClr val="1F2937"/>
                </a:solidFill>
                <a:latin typeface="Arial" pitchFamily="34" charset="0"/>
                <a:ea typeface="Arial" pitchFamily="34" charset="-122"/>
                <a:cs typeface="Arial" pitchFamily="34" charset="-120"/>
              </a:rPr>
              <a:t>CA Status: Pending  →  [Update Status]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Theo dõi hành động khắc phục (CA)</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Theo dõi và cập nhật trạng thái sửa chữa cho mỗi lần kiểm tra lỗi:</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15 / 16</a:t>
            </a:r>
            <a:endParaRPr lang="en-US" sz="800" dirty="0"/>
          </a:p>
        </p:txBody>
      </p:sp>
      <p:sp>
        <p:nvSpPr>
          <p:cNvPr id="6" name="Shape 4"/>
          <p:cNvSpPr/>
          <p:nvPr/>
        </p:nvSpPr>
        <p:spPr>
          <a:xfrm>
            <a:off x="457200" y="1097280"/>
            <a:ext cx="320040" cy="320040"/>
          </a:xfrm>
          <a:prstGeom prst="ellipse">
            <a:avLst/>
          </a:prstGeom>
          <a:solidFill>
            <a:srgbClr val="1E40AF"/>
          </a:solidFill>
          <a:ln/>
        </p:spPr>
      </p:sp>
      <p:sp>
        <p:nvSpPr>
          <p:cNvPr id="7" name="Text 5"/>
          <p:cNvSpPr/>
          <p:nvPr/>
        </p:nvSpPr>
        <p:spPr>
          <a:xfrm>
            <a:off x="457200" y="109728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868680" y="1078992"/>
            <a:ext cx="45720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Mở Lịch sử</a:t>
            </a:r>
            <a:endParaRPr lang="en-US" sz="1400" dirty="0"/>
          </a:p>
        </p:txBody>
      </p:sp>
      <p:sp>
        <p:nvSpPr>
          <p:cNvPr id="9" name="Text 7"/>
          <p:cNvSpPr/>
          <p:nvPr/>
        </p:nvSpPr>
        <p:spPr>
          <a:xfrm>
            <a:off x="868680" y="1353312"/>
            <a:ext cx="4572000" cy="27432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Vào Equipment &gt; Metal Detector &gt; History</a:t>
            </a:r>
            <a:endParaRPr lang="en-US" sz="1200" dirty="0"/>
          </a:p>
        </p:txBody>
      </p:sp>
      <p:sp>
        <p:nvSpPr>
          <p:cNvPr id="10" name="Shape 8"/>
          <p:cNvSpPr/>
          <p:nvPr/>
        </p:nvSpPr>
        <p:spPr>
          <a:xfrm>
            <a:off x="457200" y="1755648"/>
            <a:ext cx="320040" cy="320040"/>
          </a:xfrm>
          <a:prstGeom prst="ellipse">
            <a:avLst/>
          </a:prstGeom>
          <a:solidFill>
            <a:srgbClr val="1E40AF"/>
          </a:solidFill>
          <a:ln/>
        </p:spPr>
      </p:sp>
      <p:sp>
        <p:nvSpPr>
          <p:cNvPr id="11" name="Text 9"/>
          <p:cNvSpPr/>
          <p:nvPr/>
        </p:nvSpPr>
        <p:spPr>
          <a:xfrm>
            <a:off x="457200" y="1755648"/>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868680" y="1737360"/>
            <a:ext cx="45720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Tìm mục FAIL</a:t>
            </a:r>
            <a:endParaRPr lang="en-US" sz="1400" dirty="0"/>
          </a:p>
        </p:txBody>
      </p:sp>
      <p:sp>
        <p:nvSpPr>
          <p:cNvPr id="13" name="Text 11"/>
          <p:cNvSpPr/>
          <p:nvPr/>
        </p:nvSpPr>
        <p:spPr>
          <a:xfrm>
            <a:off x="868680" y="2011680"/>
            <a:ext cx="4572000" cy="27432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Lọc theo Kết quả = FAIL, nhấp vào một hàng</a:t>
            </a:r>
            <a:endParaRPr lang="en-US" sz="1200" dirty="0"/>
          </a:p>
        </p:txBody>
      </p:sp>
      <p:sp>
        <p:nvSpPr>
          <p:cNvPr id="14" name="Shape 12"/>
          <p:cNvSpPr/>
          <p:nvPr/>
        </p:nvSpPr>
        <p:spPr>
          <a:xfrm>
            <a:off x="457200" y="2414016"/>
            <a:ext cx="320040" cy="320040"/>
          </a:xfrm>
          <a:prstGeom prst="ellipse">
            <a:avLst/>
          </a:prstGeom>
          <a:solidFill>
            <a:srgbClr val="1E40AF"/>
          </a:solidFill>
          <a:ln/>
        </p:spPr>
      </p:sp>
      <p:sp>
        <p:nvSpPr>
          <p:cNvPr id="15" name="Text 13"/>
          <p:cNvSpPr/>
          <p:nvPr/>
        </p:nvSpPr>
        <p:spPr>
          <a:xfrm>
            <a:off x="457200" y="2414016"/>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868680" y="2395728"/>
            <a:ext cx="45720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Xem trạng thái CA</a:t>
            </a:r>
            <a:endParaRPr lang="en-US" sz="1400" dirty="0"/>
          </a:p>
        </p:txBody>
      </p:sp>
      <p:sp>
        <p:nvSpPr>
          <p:cNvPr id="17" name="Text 15"/>
          <p:cNvSpPr/>
          <p:nvPr/>
        </p:nvSpPr>
        <p:spPr>
          <a:xfrm>
            <a:off x="868680" y="2670048"/>
            <a:ext cx="4572000" cy="27432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Trong cửa sổ chi tiết, xem huy hiệu trạng thái CA hiện tại</a:t>
            </a:r>
            <a:endParaRPr lang="en-US" sz="1200" dirty="0"/>
          </a:p>
        </p:txBody>
      </p:sp>
      <p:sp>
        <p:nvSpPr>
          <p:cNvPr id="18" name="Shape 16"/>
          <p:cNvSpPr/>
          <p:nvPr/>
        </p:nvSpPr>
        <p:spPr>
          <a:xfrm>
            <a:off x="457200" y="3072384"/>
            <a:ext cx="320040" cy="320040"/>
          </a:xfrm>
          <a:prstGeom prst="ellipse">
            <a:avLst/>
          </a:prstGeom>
          <a:solidFill>
            <a:srgbClr val="1E40AF"/>
          </a:solidFill>
          <a:ln/>
        </p:spPr>
      </p:sp>
      <p:sp>
        <p:nvSpPr>
          <p:cNvPr id="19" name="Text 17"/>
          <p:cNvSpPr/>
          <p:nvPr/>
        </p:nvSpPr>
        <p:spPr>
          <a:xfrm>
            <a:off x="457200" y="3072384"/>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Text 18"/>
          <p:cNvSpPr/>
          <p:nvPr/>
        </p:nvSpPr>
        <p:spPr>
          <a:xfrm>
            <a:off x="868680" y="3054096"/>
            <a:ext cx="45720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Cập nhật trạng thái</a:t>
            </a:r>
            <a:endParaRPr lang="en-US" sz="1400" dirty="0"/>
          </a:p>
        </p:txBody>
      </p:sp>
      <p:sp>
        <p:nvSpPr>
          <p:cNvPr id="21" name="Text 19"/>
          <p:cNvSpPr/>
          <p:nvPr/>
        </p:nvSpPr>
        <p:spPr>
          <a:xfrm>
            <a:off x="868680" y="3328416"/>
            <a:ext cx="4572000" cy="27432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Chọn trạng thái mới từ danh sách:</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  Chờ xử lý → Đang xử lý → Hoàn thành</a:t>
            </a:r>
            <a:endParaRPr lang="en-US" sz="1200" dirty="0"/>
          </a:p>
        </p:txBody>
      </p:sp>
      <p:sp>
        <p:nvSpPr>
          <p:cNvPr id="22" name="Shape 20"/>
          <p:cNvSpPr/>
          <p:nvPr/>
        </p:nvSpPr>
        <p:spPr>
          <a:xfrm>
            <a:off x="457200" y="3730752"/>
            <a:ext cx="320040" cy="320040"/>
          </a:xfrm>
          <a:prstGeom prst="ellipse">
            <a:avLst/>
          </a:prstGeom>
          <a:solidFill>
            <a:srgbClr val="1E40AF"/>
          </a:solidFill>
          <a:ln/>
        </p:spPr>
      </p:sp>
      <p:sp>
        <p:nvSpPr>
          <p:cNvPr id="23" name="Text 21"/>
          <p:cNvSpPr/>
          <p:nvPr/>
        </p:nvSpPr>
        <p:spPr>
          <a:xfrm>
            <a:off x="457200" y="3730752"/>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4" name="Text 22"/>
          <p:cNvSpPr/>
          <p:nvPr/>
        </p:nvSpPr>
        <p:spPr>
          <a:xfrm>
            <a:off x="868680" y="3712464"/>
            <a:ext cx="45720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Thêm mô tả</a:t>
            </a:r>
            <a:endParaRPr lang="en-US" sz="1400" dirty="0"/>
          </a:p>
        </p:txBody>
      </p:sp>
      <p:sp>
        <p:nvSpPr>
          <p:cNvPr id="25" name="Text 23"/>
          <p:cNvSpPr/>
          <p:nvPr/>
        </p:nvSpPr>
        <p:spPr>
          <a:xfrm>
            <a:off x="868680" y="3986784"/>
            <a:ext cx="4572000" cy="27432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Nhập nội dung đã thực hiện để khắc phục sự cố</a:t>
            </a:r>
            <a:endParaRPr lang="en-US" sz="1200" dirty="0"/>
          </a:p>
        </p:txBody>
      </p:sp>
      <p:sp>
        <p:nvSpPr>
          <p:cNvPr id="26" name="Shape 24"/>
          <p:cNvSpPr/>
          <p:nvPr/>
        </p:nvSpPr>
        <p:spPr>
          <a:xfrm>
            <a:off x="457200" y="4389120"/>
            <a:ext cx="320040" cy="320040"/>
          </a:xfrm>
          <a:prstGeom prst="ellipse">
            <a:avLst/>
          </a:prstGeom>
          <a:solidFill>
            <a:srgbClr val="1E40AF"/>
          </a:solidFill>
          <a:ln/>
        </p:spPr>
      </p:sp>
      <p:sp>
        <p:nvSpPr>
          <p:cNvPr id="27" name="Text 25"/>
          <p:cNvSpPr/>
          <p:nvPr/>
        </p:nvSpPr>
        <p:spPr>
          <a:xfrm>
            <a:off x="457200" y="438912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8" name="Text 26"/>
          <p:cNvSpPr/>
          <p:nvPr/>
        </p:nvSpPr>
        <p:spPr>
          <a:xfrm>
            <a:off x="868680" y="4370832"/>
            <a:ext cx="457200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Lưu</a:t>
            </a:r>
            <a:endParaRPr lang="en-US" sz="1400" dirty="0"/>
          </a:p>
        </p:txBody>
      </p:sp>
      <p:sp>
        <p:nvSpPr>
          <p:cNvPr id="29" name="Text 27"/>
          <p:cNvSpPr/>
          <p:nvPr/>
        </p:nvSpPr>
        <p:spPr>
          <a:xfrm>
            <a:off x="868680" y="4645152"/>
            <a:ext cx="4572000" cy="27432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Nhấp nút "Cập nhật" để lưu thay đổi CA</a:t>
            </a:r>
            <a:endParaRPr lang="en-US" sz="1200" dirty="0"/>
          </a:p>
        </p:txBody>
      </p:sp>
      <p:sp>
        <p:nvSpPr>
          <p:cNvPr id="30" name="Shape 28"/>
          <p:cNvSpPr/>
          <p:nvPr/>
        </p:nvSpPr>
        <p:spPr>
          <a:xfrm>
            <a:off x="5669280" y="1097280"/>
            <a:ext cx="3200400" cy="3200400"/>
          </a:xfrm>
          <a:prstGeom prst="roundRect">
            <a:avLst>
              <a:gd name="adj" fmla="val 2286"/>
            </a:avLst>
          </a:prstGeom>
          <a:solidFill>
            <a:srgbClr val="F3F4F6"/>
          </a:solidFill>
          <a:ln/>
        </p:spPr>
      </p:sp>
      <p:sp>
        <p:nvSpPr>
          <p:cNvPr id="31" name="Text 29"/>
          <p:cNvSpPr/>
          <p:nvPr/>
        </p:nvSpPr>
        <p:spPr>
          <a:xfrm>
            <a:off x="5852160" y="1188720"/>
            <a:ext cx="2834640" cy="274320"/>
          </a:xfrm>
          <a:prstGeom prst="rect">
            <a:avLst/>
          </a:prstGeom>
          <a:noFill/>
          <a:ln/>
        </p:spPr>
        <p:txBody>
          <a:bodyPr wrap="square" rtlCol="0" anchor="ctr"/>
          <a:lstStyle/>
          <a:p>
            <a:pPr indent="0" marL="0">
              <a:buNone/>
            </a:pPr>
            <a:r>
              <a:rPr lang="en-US" sz="1100" b="1" dirty="0">
                <a:solidFill>
                  <a:srgbClr val="1E40AF"/>
                </a:solidFill>
                <a:latin typeface="Arial" pitchFamily="34" charset="0"/>
                <a:ea typeface="Arial" pitchFamily="34" charset="-122"/>
                <a:cs typeface="Arial" pitchFamily="34" charset="-120"/>
              </a:rPr>
              <a:t>CA Status Flow:</a:t>
            </a:r>
            <a:endParaRPr lang="en-US" sz="1100" dirty="0"/>
          </a:p>
        </p:txBody>
      </p:sp>
      <p:sp>
        <p:nvSpPr>
          <p:cNvPr id="32" name="Shape 30"/>
          <p:cNvSpPr/>
          <p:nvPr/>
        </p:nvSpPr>
        <p:spPr>
          <a:xfrm>
            <a:off x="5943600" y="1554480"/>
            <a:ext cx="1828800" cy="256032"/>
          </a:xfrm>
          <a:prstGeom prst="roundRect">
            <a:avLst>
              <a:gd name="adj" fmla="val 14286"/>
            </a:avLst>
          </a:prstGeom>
          <a:solidFill>
            <a:srgbClr val="EAB308"/>
          </a:solidFill>
          <a:ln/>
        </p:spPr>
      </p:sp>
      <p:sp>
        <p:nvSpPr>
          <p:cNvPr id="33" name="Text 31"/>
          <p:cNvSpPr/>
          <p:nvPr/>
        </p:nvSpPr>
        <p:spPr>
          <a:xfrm>
            <a:off x="5943600" y="1554480"/>
            <a:ext cx="1828800" cy="256032"/>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Chờ xử lý</a:t>
            </a:r>
            <a:endParaRPr lang="en-US" sz="900" dirty="0"/>
          </a:p>
        </p:txBody>
      </p:sp>
      <p:sp>
        <p:nvSpPr>
          <p:cNvPr id="34" name="Text 32"/>
          <p:cNvSpPr/>
          <p:nvPr/>
        </p:nvSpPr>
        <p:spPr>
          <a:xfrm>
            <a:off x="5943600" y="1828800"/>
            <a:ext cx="2743200" cy="27432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Mới - chờ hành động bảo trì</a:t>
            </a:r>
            <a:endParaRPr lang="en-US" sz="800" dirty="0"/>
          </a:p>
        </p:txBody>
      </p:sp>
      <p:sp>
        <p:nvSpPr>
          <p:cNvPr id="35" name="Shape 33"/>
          <p:cNvSpPr/>
          <p:nvPr/>
        </p:nvSpPr>
        <p:spPr>
          <a:xfrm>
            <a:off x="5943600" y="2240280"/>
            <a:ext cx="1828800" cy="256032"/>
          </a:xfrm>
          <a:prstGeom prst="roundRect">
            <a:avLst>
              <a:gd name="adj" fmla="val 14286"/>
            </a:avLst>
          </a:prstGeom>
          <a:solidFill>
            <a:srgbClr val="3B82F6"/>
          </a:solidFill>
          <a:ln/>
        </p:spPr>
      </p:sp>
      <p:sp>
        <p:nvSpPr>
          <p:cNvPr id="36" name="Text 34"/>
          <p:cNvSpPr/>
          <p:nvPr/>
        </p:nvSpPr>
        <p:spPr>
          <a:xfrm>
            <a:off x="5943600" y="2240280"/>
            <a:ext cx="1828800" cy="256032"/>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Đang xử lý</a:t>
            </a:r>
            <a:endParaRPr lang="en-US" sz="900" dirty="0"/>
          </a:p>
        </p:txBody>
      </p:sp>
      <p:sp>
        <p:nvSpPr>
          <p:cNvPr id="37" name="Text 35"/>
          <p:cNvSpPr/>
          <p:nvPr/>
        </p:nvSpPr>
        <p:spPr>
          <a:xfrm>
            <a:off x="5943600" y="2514600"/>
            <a:ext cx="2743200" cy="27432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Bảo trì đang tiến hành sửa chữa</a:t>
            </a:r>
            <a:endParaRPr lang="en-US" sz="800" dirty="0"/>
          </a:p>
        </p:txBody>
      </p:sp>
      <p:sp>
        <p:nvSpPr>
          <p:cNvPr id="38" name="Shape 36"/>
          <p:cNvSpPr/>
          <p:nvPr/>
        </p:nvSpPr>
        <p:spPr>
          <a:xfrm>
            <a:off x="5943600" y="2926080"/>
            <a:ext cx="1828800" cy="256032"/>
          </a:xfrm>
          <a:prstGeom prst="roundRect">
            <a:avLst>
              <a:gd name="adj" fmla="val 14286"/>
            </a:avLst>
          </a:prstGeom>
          <a:solidFill>
            <a:srgbClr val="22C55E"/>
          </a:solidFill>
          <a:ln/>
        </p:spPr>
      </p:sp>
      <p:sp>
        <p:nvSpPr>
          <p:cNvPr id="39" name="Text 37"/>
          <p:cNvSpPr/>
          <p:nvPr/>
        </p:nvSpPr>
        <p:spPr>
          <a:xfrm>
            <a:off x="5943600" y="2926080"/>
            <a:ext cx="1828800" cy="256032"/>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Hoàn thành</a:t>
            </a:r>
            <a:endParaRPr lang="en-US" sz="900" dirty="0"/>
          </a:p>
        </p:txBody>
      </p:sp>
      <p:sp>
        <p:nvSpPr>
          <p:cNvPr id="40" name="Text 38"/>
          <p:cNvSpPr/>
          <p:nvPr/>
        </p:nvSpPr>
        <p:spPr>
          <a:xfrm>
            <a:off x="5943600" y="3200400"/>
            <a:ext cx="2743200" cy="27432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Sự cố đã sửa và xác minh</a:t>
            </a:r>
            <a:endParaRPr lang="en-US" sz="800" dirty="0"/>
          </a:p>
        </p:txBody>
      </p:sp>
      <p:sp>
        <p:nvSpPr>
          <p:cNvPr id="41" name="Shape 39"/>
          <p:cNvSpPr/>
          <p:nvPr/>
        </p:nvSpPr>
        <p:spPr>
          <a:xfrm>
            <a:off x="5943600" y="3611880"/>
            <a:ext cx="1828800" cy="256032"/>
          </a:xfrm>
          <a:prstGeom prst="roundRect">
            <a:avLst>
              <a:gd name="adj" fmla="val 14286"/>
            </a:avLst>
          </a:prstGeom>
          <a:solidFill>
            <a:srgbClr val="EF4444"/>
          </a:solidFill>
          <a:ln/>
        </p:spPr>
      </p:sp>
      <p:sp>
        <p:nvSpPr>
          <p:cNvPr id="42" name="Text 40"/>
          <p:cNvSpPr/>
          <p:nvPr/>
        </p:nvSpPr>
        <p:spPr>
          <a:xfrm>
            <a:off x="5943600" y="3611880"/>
            <a:ext cx="1828800" cy="256032"/>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Quá hạn</a:t>
            </a:r>
            <a:endParaRPr lang="en-US" sz="900" dirty="0"/>
          </a:p>
        </p:txBody>
      </p:sp>
      <p:sp>
        <p:nvSpPr>
          <p:cNvPr id="43" name="Text 41"/>
          <p:cNvSpPr/>
          <p:nvPr/>
        </p:nvSpPr>
        <p:spPr>
          <a:xfrm>
            <a:off x="5943600" y="3886200"/>
            <a:ext cx="2743200" cy="27432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Chưa sửa trong thời gian dự kiến</a:t>
            </a:r>
            <a:endParaRPr lang="en-US" sz="800" dirty="0"/>
          </a:p>
        </p:txBody>
      </p:sp>
      <p:sp>
        <p:nvSpPr>
          <p:cNvPr id="44" name="Text 42"/>
          <p:cNvSpPr/>
          <p:nvPr/>
        </p:nvSpPr>
        <p:spPr>
          <a:xfrm>
            <a:off x="5852160" y="4114800"/>
            <a:ext cx="2926080" cy="228600"/>
          </a:xfrm>
          <a:prstGeom prst="rect">
            <a:avLst/>
          </a:prstGeom>
          <a:noFill/>
          <a:ln/>
        </p:spPr>
        <p:txBody>
          <a:bodyPr wrap="square" rtlCol="0" anchor="ctr"/>
          <a:lstStyle/>
          <a:p>
            <a:pPr algn="ctr" indent="0" marL="0">
              <a:buNone/>
            </a:pPr>
            <a:r>
              <a:rPr lang="en-US" sz="900" b="1" dirty="0">
                <a:solidFill>
                  <a:srgbClr val="1E40AF"/>
                </a:solidFill>
                <a:latin typeface="Arial" pitchFamily="34" charset="0"/>
                <a:ea typeface="Arial" pitchFamily="34" charset="-122"/>
                <a:cs typeface="Arial" pitchFamily="34" charset="-120"/>
              </a:rPr>
              <a:t>Pending  →  In Progress  →  Completed</a:t>
            </a:r>
            <a:endParaRPr lang="en-US" sz="900" dirty="0"/>
          </a:p>
        </p:txBody>
      </p:sp>
      <p:sp>
        <p:nvSpPr>
          <p:cNvPr id="45" name="Shape 43"/>
          <p:cNvSpPr/>
          <p:nvPr/>
        </p:nvSpPr>
        <p:spPr>
          <a:xfrm>
            <a:off x="457200" y="5303520"/>
            <a:ext cx="8229600" cy="457200"/>
          </a:xfrm>
          <a:prstGeom prst="roundRect">
            <a:avLst>
              <a:gd name="adj" fmla="val 16000"/>
            </a:avLst>
          </a:prstGeom>
          <a:solidFill>
            <a:srgbClr val="DCFCE7"/>
          </a:solidFill>
          <a:ln/>
        </p:spPr>
      </p:sp>
      <p:sp>
        <p:nvSpPr>
          <p:cNvPr id="46" name="Text 44"/>
          <p:cNvSpPr/>
          <p:nvPr/>
        </p:nvSpPr>
        <p:spPr>
          <a:xfrm>
            <a:off x="548640" y="5303520"/>
            <a:ext cx="8046720" cy="457200"/>
          </a:xfrm>
          <a:prstGeom prst="rect">
            <a:avLst/>
          </a:prstGeom>
          <a:noFill/>
          <a:ln/>
        </p:spPr>
        <p:txBody>
          <a:bodyPr wrap="square" rtlCol="0" anchor="ctr"/>
          <a:lstStyle/>
          <a:p>
            <a:pPr indent="0" marL="0">
              <a:buNone/>
            </a:pPr>
            <a:r>
              <a:rPr lang="en-US" sz="1000" dirty="0">
                <a:solidFill>
                  <a:srgbClr val="16A34A"/>
                </a:solidFill>
                <a:latin typeface="Arial" pitchFamily="34" charset="0"/>
                <a:ea typeface="Arial" pitchFamily="34" charset="-122"/>
                <a:cs typeface="Arial" pitchFamily="34" charset="-120"/>
              </a:rPr>
              <a:t>Hoàn thành CA tự động được phản ánh trong KPI "Tỷ lệ sửa bảo trì" trên Bảng điều khiển.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Tạo báo cáo PDF</a:t>
            </a:r>
            <a:endParaRPr lang="en-US" sz="2400" dirty="0"/>
          </a:p>
        </p:txBody>
      </p:sp>
      <p:sp>
        <p:nvSpPr>
          <p:cNvPr id="4" name="Text 2"/>
          <p:cNvSpPr/>
          <p:nvPr/>
        </p:nvSpPr>
        <p:spPr>
          <a:xfrm>
            <a:off x="457200" y="731520"/>
            <a:ext cx="8229600" cy="32004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Tạo và tải xuống báo cáo PDF cho bất kỳ tuần nào:</a:t>
            </a:r>
            <a:endParaRPr lang="en-US" sz="1300" dirty="0"/>
          </a:p>
        </p:txBody>
      </p:sp>
      <p:sp>
        <p:nvSpPr>
          <p:cNvPr id="5" name="Text 3"/>
          <p:cNvSpPr/>
          <p:nvPr/>
        </p:nvSpPr>
        <p:spPr>
          <a:xfrm>
            <a:off x="8046720" y="6400800"/>
            <a:ext cx="1097280" cy="27432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16 / 16</a:t>
            </a:r>
            <a:endParaRPr lang="en-US" sz="800" dirty="0"/>
          </a:p>
        </p:txBody>
      </p:sp>
      <p:sp>
        <p:nvSpPr>
          <p:cNvPr id="6" name="Shape 4"/>
          <p:cNvSpPr/>
          <p:nvPr/>
        </p:nvSpPr>
        <p:spPr>
          <a:xfrm>
            <a:off x="365760" y="1097280"/>
            <a:ext cx="8412480" cy="777240"/>
          </a:xfrm>
          <a:prstGeom prst="roundRect">
            <a:avLst>
              <a:gd name="adj" fmla="val 7059"/>
            </a:avLst>
          </a:prstGeom>
          <a:solidFill>
            <a:srgbClr val="EFF6FF"/>
          </a:solidFill>
          <a:ln/>
        </p:spPr>
      </p:sp>
      <p:sp>
        <p:nvSpPr>
          <p:cNvPr id="7" name="Shape 5"/>
          <p:cNvSpPr/>
          <p:nvPr/>
        </p:nvSpPr>
        <p:spPr>
          <a:xfrm>
            <a:off x="502920" y="1143000"/>
            <a:ext cx="320040" cy="320040"/>
          </a:xfrm>
          <a:prstGeom prst="ellipse">
            <a:avLst/>
          </a:prstGeom>
          <a:solidFill>
            <a:srgbClr val="1E40AF"/>
          </a:solidFill>
          <a:ln/>
        </p:spPr>
      </p:sp>
      <p:sp>
        <p:nvSpPr>
          <p:cNvPr id="8" name="Text 6"/>
          <p:cNvSpPr/>
          <p:nvPr/>
        </p:nvSpPr>
        <p:spPr>
          <a:xfrm>
            <a:off x="502920" y="114300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914400" y="1124712"/>
            <a:ext cx="758952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Vào trang Báo cáo</a:t>
            </a:r>
            <a:endParaRPr lang="en-US" sz="1400" dirty="0"/>
          </a:p>
        </p:txBody>
      </p:sp>
      <p:sp>
        <p:nvSpPr>
          <p:cNvPr id="10" name="Text 8"/>
          <p:cNvSpPr/>
          <p:nvPr/>
        </p:nvSpPr>
        <p:spPr>
          <a:xfrm>
            <a:off x="914400" y="1399032"/>
            <a:ext cx="7589520" cy="36576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Menu: Equipment &gt; Metal Detector &gt; Report</a:t>
            </a:r>
            <a:endParaRPr lang="en-US" sz="1200" dirty="0"/>
          </a:p>
        </p:txBody>
      </p:sp>
      <p:sp>
        <p:nvSpPr>
          <p:cNvPr id="11" name="Shape 9"/>
          <p:cNvSpPr/>
          <p:nvPr/>
        </p:nvSpPr>
        <p:spPr>
          <a:xfrm>
            <a:off x="365760" y="2011680"/>
            <a:ext cx="8412480" cy="777240"/>
          </a:xfrm>
          <a:prstGeom prst="roundRect">
            <a:avLst>
              <a:gd name="adj" fmla="val 7059"/>
            </a:avLst>
          </a:prstGeom>
          <a:solidFill>
            <a:srgbClr val="F3F4F6"/>
          </a:solidFill>
          <a:ln/>
        </p:spPr>
      </p:sp>
      <p:sp>
        <p:nvSpPr>
          <p:cNvPr id="12" name="Shape 10"/>
          <p:cNvSpPr/>
          <p:nvPr/>
        </p:nvSpPr>
        <p:spPr>
          <a:xfrm>
            <a:off x="502920" y="2057400"/>
            <a:ext cx="320040" cy="320040"/>
          </a:xfrm>
          <a:prstGeom prst="ellipse">
            <a:avLst/>
          </a:prstGeom>
          <a:solidFill>
            <a:srgbClr val="1E40AF"/>
          </a:solidFill>
          <a:ln/>
        </p:spPr>
      </p:sp>
      <p:sp>
        <p:nvSpPr>
          <p:cNvPr id="13" name="Text 11"/>
          <p:cNvSpPr/>
          <p:nvPr/>
        </p:nvSpPr>
        <p:spPr>
          <a:xfrm>
            <a:off x="502920" y="205740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914400" y="2039112"/>
            <a:ext cx="758952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Chọn kỳ</a:t>
            </a:r>
            <a:endParaRPr lang="en-US" sz="1400" dirty="0"/>
          </a:p>
        </p:txBody>
      </p:sp>
      <p:sp>
        <p:nvSpPr>
          <p:cNvPr id="15" name="Text 13"/>
          <p:cNvSpPr/>
          <p:nvPr/>
        </p:nvSpPr>
        <p:spPr>
          <a:xfrm>
            <a:off x="914400" y="2313432"/>
            <a:ext cx="7589520" cy="36576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Chọn Năm và số Tuần (W1-W52)</a:t>
            </a:r>
            <a:endParaRPr lang="en-US" sz="1200" dirty="0"/>
          </a:p>
        </p:txBody>
      </p:sp>
      <p:sp>
        <p:nvSpPr>
          <p:cNvPr id="16" name="Shape 14"/>
          <p:cNvSpPr/>
          <p:nvPr/>
        </p:nvSpPr>
        <p:spPr>
          <a:xfrm>
            <a:off x="365760" y="2926080"/>
            <a:ext cx="8412480" cy="777240"/>
          </a:xfrm>
          <a:prstGeom prst="roundRect">
            <a:avLst>
              <a:gd name="adj" fmla="val 7059"/>
            </a:avLst>
          </a:prstGeom>
          <a:solidFill>
            <a:srgbClr val="EFF6FF"/>
          </a:solidFill>
          <a:ln/>
        </p:spPr>
      </p:sp>
      <p:sp>
        <p:nvSpPr>
          <p:cNvPr id="17" name="Shape 15"/>
          <p:cNvSpPr/>
          <p:nvPr/>
        </p:nvSpPr>
        <p:spPr>
          <a:xfrm>
            <a:off x="502920" y="2971800"/>
            <a:ext cx="320040" cy="320040"/>
          </a:xfrm>
          <a:prstGeom prst="ellipse">
            <a:avLst/>
          </a:prstGeom>
          <a:solidFill>
            <a:srgbClr val="1E40AF"/>
          </a:solidFill>
          <a:ln/>
        </p:spPr>
      </p:sp>
      <p:sp>
        <p:nvSpPr>
          <p:cNvPr id="18" name="Text 16"/>
          <p:cNvSpPr/>
          <p:nvPr/>
        </p:nvSpPr>
        <p:spPr>
          <a:xfrm>
            <a:off x="502920" y="297180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914400" y="2953512"/>
            <a:ext cx="758952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Xem trước</a:t>
            </a:r>
            <a:endParaRPr lang="en-US" sz="1400" dirty="0"/>
          </a:p>
        </p:txBody>
      </p:sp>
      <p:sp>
        <p:nvSpPr>
          <p:cNvPr id="20" name="Text 18"/>
          <p:cNvSpPr/>
          <p:nvPr/>
        </p:nvSpPr>
        <p:spPr>
          <a:xfrm>
            <a:off x="914400" y="3227832"/>
            <a:ext cx="7589520" cy="36576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Xem thẻ tóm tắt:</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  Tổng kiểm tra, Tỷ lệ đạt, Số đạt, Số lỗi</a:t>
            </a:r>
            <a:endParaRPr lang="en-US" sz="1200" dirty="0"/>
          </a:p>
        </p:txBody>
      </p:sp>
      <p:sp>
        <p:nvSpPr>
          <p:cNvPr id="21" name="Shape 19"/>
          <p:cNvSpPr/>
          <p:nvPr/>
        </p:nvSpPr>
        <p:spPr>
          <a:xfrm>
            <a:off x="365760" y="3840480"/>
            <a:ext cx="8412480" cy="777240"/>
          </a:xfrm>
          <a:prstGeom prst="roundRect">
            <a:avLst>
              <a:gd name="adj" fmla="val 7059"/>
            </a:avLst>
          </a:prstGeom>
          <a:solidFill>
            <a:srgbClr val="F3F4F6"/>
          </a:solidFill>
          <a:ln/>
        </p:spPr>
      </p:sp>
      <p:sp>
        <p:nvSpPr>
          <p:cNvPr id="22" name="Shape 20"/>
          <p:cNvSpPr/>
          <p:nvPr/>
        </p:nvSpPr>
        <p:spPr>
          <a:xfrm>
            <a:off x="502920" y="3886200"/>
            <a:ext cx="320040" cy="320040"/>
          </a:xfrm>
          <a:prstGeom prst="ellipse">
            <a:avLst/>
          </a:prstGeom>
          <a:solidFill>
            <a:srgbClr val="1E40AF"/>
          </a:solidFill>
          <a:ln/>
        </p:spPr>
      </p:sp>
      <p:sp>
        <p:nvSpPr>
          <p:cNvPr id="23" name="Text 21"/>
          <p:cNvSpPr/>
          <p:nvPr/>
        </p:nvSpPr>
        <p:spPr>
          <a:xfrm>
            <a:off x="502920" y="388620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Text 22"/>
          <p:cNvSpPr/>
          <p:nvPr/>
        </p:nvSpPr>
        <p:spPr>
          <a:xfrm>
            <a:off x="914400" y="3867912"/>
            <a:ext cx="758952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Phân tích nhà máy</a:t>
            </a:r>
            <a:endParaRPr lang="en-US" sz="1400" dirty="0"/>
          </a:p>
        </p:txBody>
      </p:sp>
      <p:sp>
        <p:nvSpPr>
          <p:cNvPr id="25" name="Text 23"/>
          <p:cNvSpPr/>
          <p:nvPr/>
        </p:nvSpPr>
        <p:spPr>
          <a:xfrm>
            <a:off x="914400" y="4142232"/>
            <a:ext cx="7589520" cy="36576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Xem tỷ lệ đạt cho từng nhà máy (A/B/C/D)</a:t>
            </a:r>
            <a:endParaRPr lang="en-US" sz="1200" dirty="0"/>
          </a:p>
        </p:txBody>
      </p:sp>
      <p:sp>
        <p:nvSpPr>
          <p:cNvPr id="26" name="Shape 24"/>
          <p:cNvSpPr/>
          <p:nvPr/>
        </p:nvSpPr>
        <p:spPr>
          <a:xfrm>
            <a:off x="365760" y="4754880"/>
            <a:ext cx="8412480" cy="777240"/>
          </a:xfrm>
          <a:prstGeom prst="roundRect">
            <a:avLst>
              <a:gd name="adj" fmla="val 7059"/>
            </a:avLst>
          </a:prstGeom>
          <a:solidFill>
            <a:srgbClr val="EFF6FF"/>
          </a:solidFill>
          <a:ln/>
        </p:spPr>
      </p:sp>
      <p:sp>
        <p:nvSpPr>
          <p:cNvPr id="27" name="Shape 25"/>
          <p:cNvSpPr/>
          <p:nvPr/>
        </p:nvSpPr>
        <p:spPr>
          <a:xfrm>
            <a:off x="502920" y="4800600"/>
            <a:ext cx="320040" cy="320040"/>
          </a:xfrm>
          <a:prstGeom prst="ellipse">
            <a:avLst/>
          </a:prstGeom>
          <a:solidFill>
            <a:srgbClr val="1E40AF"/>
          </a:solidFill>
          <a:ln/>
        </p:spPr>
      </p:sp>
      <p:sp>
        <p:nvSpPr>
          <p:cNvPr id="28" name="Text 26"/>
          <p:cNvSpPr/>
          <p:nvPr/>
        </p:nvSpPr>
        <p:spPr>
          <a:xfrm>
            <a:off x="502920" y="4800600"/>
            <a:ext cx="32004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9" name="Text 27"/>
          <p:cNvSpPr/>
          <p:nvPr/>
        </p:nvSpPr>
        <p:spPr>
          <a:xfrm>
            <a:off x="914400" y="4782312"/>
            <a:ext cx="7589520" cy="27432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Tạo PDF</a:t>
            </a:r>
            <a:endParaRPr lang="en-US" sz="1400" dirty="0"/>
          </a:p>
        </p:txBody>
      </p:sp>
      <p:sp>
        <p:nvSpPr>
          <p:cNvPr id="30" name="Text 28"/>
          <p:cNvSpPr/>
          <p:nvPr/>
        </p:nvSpPr>
        <p:spPr>
          <a:xfrm>
            <a:off x="914400" y="5056632"/>
            <a:ext cx="7589520" cy="365760"/>
          </a:xfrm>
          <a:prstGeom prst="rect">
            <a:avLst/>
          </a:prstGeom>
          <a:noFill/>
          <a:ln/>
        </p:spPr>
        <p:txBody>
          <a:bodyPr wrap="square" rtlCol="0" anchor="t"/>
          <a:lstStyle/>
          <a:p>
            <a:pPr indent="0" marL="0">
              <a:buNone/>
            </a:pPr>
            <a:r>
              <a:rPr lang="en-US" sz="1200" dirty="0">
                <a:solidFill>
                  <a:srgbClr val="1F2937"/>
                </a:solidFill>
                <a:latin typeface="Arial" pitchFamily="34" charset="0"/>
                <a:ea typeface="Arial" pitchFamily="34" charset="-122"/>
                <a:cs typeface="Arial" pitchFamily="34" charset="-120"/>
              </a:rPr>
              <a:t>Nhấp nút "Tạo PDF"</a:t>
            </a:r>
            <a:endParaRPr lang="en-US" sz="1200" dirty="0"/>
          </a:p>
          <a:p>
            <a:pPr indent="0" marL="0">
              <a:buNone/>
            </a:pPr>
            <a:r>
              <a:rPr lang="en-US" sz="1200" dirty="0">
                <a:solidFill>
                  <a:srgbClr val="1F2937"/>
                </a:solidFill>
                <a:latin typeface="Arial" pitchFamily="34" charset="0"/>
                <a:ea typeface="Arial" pitchFamily="34" charset="-122"/>
                <a:cs typeface="Arial" pitchFamily="34" charset="-120"/>
              </a:rPr>
              <a:t>File tải xuống: MD_Report_2026_W11.pdf</a:t>
            </a:r>
            <a:endParaRPr lang="en-US" sz="1200" dirty="0"/>
          </a:p>
        </p:txBody>
      </p:sp>
      <p:sp>
        <p:nvSpPr>
          <p:cNvPr id="31" name="Shape 29"/>
          <p:cNvSpPr/>
          <p:nvPr/>
        </p:nvSpPr>
        <p:spPr>
          <a:xfrm>
            <a:off x="457200" y="5760720"/>
            <a:ext cx="4114800" cy="365760"/>
          </a:xfrm>
          <a:prstGeom prst="roundRect">
            <a:avLst>
              <a:gd name="adj" fmla="val 20000"/>
            </a:avLst>
          </a:prstGeom>
          <a:solidFill>
            <a:srgbClr val="F3F4F6"/>
          </a:solidFill>
          <a:ln/>
        </p:spPr>
      </p:sp>
      <p:sp>
        <p:nvSpPr>
          <p:cNvPr id="32" name="Text 30"/>
          <p:cNvSpPr/>
          <p:nvPr/>
        </p:nvSpPr>
        <p:spPr>
          <a:xfrm>
            <a:off x="548640" y="5760720"/>
            <a:ext cx="3931920" cy="365760"/>
          </a:xfrm>
          <a:prstGeom prst="rect">
            <a:avLst/>
          </a:prstGeom>
          <a:noFill/>
          <a:ln/>
        </p:spPr>
        <p:txBody>
          <a:bodyPr wrap="square" rtlCol="0" anchor="ctr"/>
          <a:lstStyle/>
          <a:p>
            <a:pPr indent="0" marL="0">
              <a:buNone/>
            </a:pPr>
            <a:r>
              <a:rPr lang="en-US" sz="1000" dirty="0">
                <a:solidFill>
                  <a:srgbClr val="1F2937"/>
                </a:solidFill>
                <a:latin typeface="Courier New" pitchFamily="34" charset="0"/>
                <a:ea typeface="Courier New" pitchFamily="34" charset="-122"/>
                <a:cs typeface="Courier New" pitchFamily="34" charset="-120"/>
              </a:rPr>
              <a:t>Định dạng tên file: MD_Report_{Năm}_W{Tuần}.pdf</a:t>
            </a:r>
            <a:endParaRPr lang="en-US" sz="1000" dirty="0"/>
          </a:p>
        </p:txBody>
      </p:sp>
      <p:sp>
        <p:nvSpPr>
          <p:cNvPr id="33" name="Shape 31"/>
          <p:cNvSpPr/>
          <p:nvPr/>
        </p:nvSpPr>
        <p:spPr>
          <a:xfrm>
            <a:off x="4754880" y="5760720"/>
            <a:ext cx="3931920" cy="365760"/>
          </a:xfrm>
          <a:prstGeom prst="roundRect">
            <a:avLst>
              <a:gd name="adj" fmla="val 20000"/>
            </a:avLst>
          </a:prstGeom>
          <a:solidFill>
            <a:srgbClr val="FEF9C3"/>
          </a:solidFill>
          <a:ln/>
        </p:spPr>
      </p:sp>
      <p:sp>
        <p:nvSpPr>
          <p:cNvPr id="34" name="Text 32"/>
          <p:cNvSpPr/>
          <p:nvPr/>
        </p:nvSpPr>
        <p:spPr>
          <a:xfrm>
            <a:off x="4846320" y="5760720"/>
            <a:ext cx="3749040" cy="365760"/>
          </a:xfrm>
          <a:prstGeom prst="rect">
            <a:avLst/>
          </a:prstGeom>
          <a:noFill/>
          <a:ln/>
        </p:spPr>
        <p:txBody>
          <a:bodyPr wrap="square" rtlCol="0" anchor="ctr"/>
          <a:lstStyle/>
          <a:p>
            <a:pPr indent="0" marL="0">
              <a:buNone/>
            </a:pPr>
            <a:r>
              <a:rPr lang="en-US" sz="900" dirty="0">
                <a:solidFill>
                  <a:srgbClr val="1F2937"/>
                </a:solidFill>
                <a:latin typeface="Arial" pitchFamily="34" charset="0"/>
                <a:ea typeface="Arial" pitchFamily="34" charset="-122"/>
                <a:cs typeface="Arial" pitchFamily="34" charset="-120"/>
              </a:rPr>
              <a:t>Nếu không có dữ liệu cho tuần đã chọn, thông báo "Không có dữ liệu" hiển thị và nút PDF bị vô hiệu hóa.</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Tóm tắt quy trình hàng ngày</a:t>
            </a:r>
            <a:endParaRPr lang="en-US" sz="2400" dirty="0"/>
          </a:p>
        </p:txBody>
      </p:sp>
      <p:sp>
        <p:nvSpPr>
          <p:cNvPr id="4" name="Shape 2"/>
          <p:cNvSpPr/>
          <p:nvPr/>
        </p:nvSpPr>
        <p:spPr>
          <a:xfrm>
            <a:off x="274320" y="822960"/>
            <a:ext cx="4206240" cy="2743200"/>
          </a:xfrm>
          <a:prstGeom prst="roundRect">
            <a:avLst>
              <a:gd name="adj" fmla="val 3333"/>
            </a:avLst>
          </a:prstGeom>
          <a:solidFill>
            <a:srgbClr val="FFFFFF"/>
          </a:solidFill>
          <a:ln w="12700">
            <a:solidFill>
              <a:srgbClr val="E5E7EB"/>
            </a:solidFill>
            <a:prstDash val="solid"/>
          </a:ln>
        </p:spPr>
      </p:sp>
      <p:sp>
        <p:nvSpPr>
          <p:cNvPr id="5" name="Shape 3"/>
          <p:cNvSpPr/>
          <p:nvPr/>
        </p:nvSpPr>
        <p:spPr>
          <a:xfrm>
            <a:off x="365760" y="914400"/>
            <a:ext cx="1371600" cy="274320"/>
          </a:xfrm>
          <a:prstGeom prst="roundRect">
            <a:avLst>
              <a:gd name="adj" fmla="val 13333"/>
            </a:avLst>
          </a:prstGeom>
          <a:solidFill>
            <a:srgbClr val="1E40AF"/>
          </a:solidFill>
          <a:ln/>
        </p:spPr>
      </p:sp>
      <p:sp>
        <p:nvSpPr>
          <p:cNvPr id="6" name="Text 4"/>
          <p:cNvSpPr/>
          <p:nvPr/>
        </p:nvSpPr>
        <p:spPr>
          <a:xfrm>
            <a:off x="365760" y="914400"/>
            <a:ext cx="1371600" cy="27432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HÀNG NGÀY</a:t>
            </a:r>
            <a:endParaRPr lang="en-US" sz="900" dirty="0"/>
          </a:p>
        </p:txBody>
      </p:sp>
      <p:sp>
        <p:nvSpPr>
          <p:cNvPr id="7" name="Text 5"/>
          <p:cNvSpPr/>
          <p:nvPr/>
        </p:nvSpPr>
        <p:spPr>
          <a:xfrm>
            <a:off x="1828800" y="914400"/>
            <a:ext cx="2468880" cy="274320"/>
          </a:xfrm>
          <a:prstGeom prst="rect">
            <a:avLst/>
          </a:prstGeom>
          <a:noFill/>
          <a:ln/>
        </p:spPr>
        <p:txBody>
          <a:bodyPr wrap="square" rtlCol="0" anchor="ctr"/>
          <a:lstStyle/>
          <a:p>
            <a:pPr indent="0" marL="0">
              <a:buNone/>
            </a:pPr>
            <a:r>
              <a:rPr lang="en-US" sz="1100" b="1" dirty="0">
                <a:solidFill>
                  <a:srgbClr val="1E40AF"/>
                </a:solidFill>
                <a:latin typeface="Arial" pitchFamily="34" charset="0"/>
                <a:ea typeface="Arial" pitchFamily="34" charset="-122"/>
                <a:cs typeface="Arial" pitchFamily="34" charset="-120"/>
              </a:rPr>
              <a:t>Ghi nhận kiểm tra</a:t>
            </a:r>
            <a:endParaRPr lang="en-US" sz="1100" dirty="0"/>
          </a:p>
        </p:txBody>
      </p:sp>
      <p:sp>
        <p:nvSpPr>
          <p:cNvPr id="8" name="Text 6"/>
          <p:cNvSpPr/>
          <p:nvPr/>
        </p:nvSpPr>
        <p:spPr>
          <a:xfrm>
            <a:off x="411480" y="1280160"/>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1. Mở Q-TRAIN trên điện thoại hoặc PC</a:t>
            </a:r>
            <a:endParaRPr lang="en-US" sz="900" dirty="0"/>
          </a:p>
        </p:txBody>
      </p:sp>
      <p:sp>
        <p:nvSpPr>
          <p:cNvPr id="9" name="Text 7"/>
          <p:cNvSpPr/>
          <p:nvPr/>
        </p:nvSpPr>
        <p:spPr>
          <a:xfrm>
            <a:off x="411480" y="1627632"/>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2. Vào Equipment &gt; Metal Detector &gt; Input</a:t>
            </a:r>
            <a:endParaRPr lang="en-US" sz="900" dirty="0"/>
          </a:p>
        </p:txBody>
      </p:sp>
      <p:sp>
        <p:nvSpPr>
          <p:cNvPr id="10" name="Text 8"/>
          <p:cNvSpPr/>
          <p:nvPr/>
        </p:nvSpPr>
        <p:spPr>
          <a:xfrm>
            <a:off x="411480" y="1975104"/>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3. Sử dụng chế độ nhập nhanh</a:t>
            </a:r>
            <a:endParaRPr lang="en-US" sz="900" dirty="0"/>
          </a:p>
        </p:txBody>
      </p:sp>
      <p:sp>
        <p:nvSpPr>
          <p:cNvPr id="11" name="Text 9"/>
          <p:cNvSpPr/>
          <p:nvPr/>
        </p:nvSpPr>
        <p:spPr>
          <a:xfrm>
            <a:off x="411480" y="2322576"/>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4. Nhập từng máy: Line, Mã máy, Độ nhạy, Kết quả</a:t>
            </a:r>
            <a:endParaRPr lang="en-US" sz="900" dirty="0"/>
          </a:p>
        </p:txBody>
      </p:sp>
      <p:sp>
        <p:nvSpPr>
          <p:cNvPr id="12" name="Text 10"/>
          <p:cNvSpPr/>
          <p:nvPr/>
        </p:nvSpPr>
        <p:spPr>
          <a:xfrm>
            <a:off x="411480" y="2670048"/>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5. Nhấp Lưu sau mỗi máy</a:t>
            </a:r>
            <a:endParaRPr lang="en-US" sz="900" dirty="0"/>
          </a:p>
        </p:txBody>
      </p:sp>
      <p:sp>
        <p:nvSpPr>
          <p:cNvPr id="13" name="Text 11"/>
          <p:cNvSpPr/>
          <p:nvPr/>
        </p:nvSpPr>
        <p:spPr>
          <a:xfrm>
            <a:off x="411480" y="3017520"/>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6. Kiểm tra bộ đếm "Hôm nay N mục" để xác nhận hoàn tất</a:t>
            </a:r>
            <a:endParaRPr lang="en-US" sz="900" dirty="0"/>
          </a:p>
        </p:txBody>
      </p:sp>
      <p:sp>
        <p:nvSpPr>
          <p:cNvPr id="14" name="Shape 12"/>
          <p:cNvSpPr/>
          <p:nvPr/>
        </p:nvSpPr>
        <p:spPr>
          <a:xfrm>
            <a:off x="4709160" y="822960"/>
            <a:ext cx="4206240" cy="2743200"/>
          </a:xfrm>
          <a:prstGeom prst="roundRect">
            <a:avLst>
              <a:gd name="adj" fmla="val 3333"/>
            </a:avLst>
          </a:prstGeom>
          <a:solidFill>
            <a:srgbClr val="FFFFFF"/>
          </a:solidFill>
          <a:ln w="12700">
            <a:solidFill>
              <a:srgbClr val="E5E7EB"/>
            </a:solidFill>
            <a:prstDash val="solid"/>
          </a:ln>
        </p:spPr>
      </p:sp>
      <p:sp>
        <p:nvSpPr>
          <p:cNvPr id="15" name="Shape 13"/>
          <p:cNvSpPr/>
          <p:nvPr/>
        </p:nvSpPr>
        <p:spPr>
          <a:xfrm>
            <a:off x="4800600" y="914400"/>
            <a:ext cx="1371600" cy="274320"/>
          </a:xfrm>
          <a:prstGeom prst="roundRect">
            <a:avLst>
              <a:gd name="adj" fmla="val 13333"/>
            </a:avLst>
          </a:prstGeom>
          <a:solidFill>
            <a:srgbClr val="EF4444"/>
          </a:solidFill>
          <a:ln/>
        </p:spPr>
      </p:sp>
      <p:sp>
        <p:nvSpPr>
          <p:cNvPr id="16" name="Text 14"/>
          <p:cNvSpPr/>
          <p:nvPr/>
        </p:nvSpPr>
        <p:spPr>
          <a:xfrm>
            <a:off x="4800600" y="914400"/>
            <a:ext cx="1371600" cy="27432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KHI FAIL</a:t>
            </a:r>
            <a:endParaRPr lang="en-US" sz="900" dirty="0"/>
          </a:p>
        </p:txBody>
      </p:sp>
      <p:sp>
        <p:nvSpPr>
          <p:cNvPr id="17" name="Text 15"/>
          <p:cNvSpPr/>
          <p:nvPr/>
        </p:nvSpPr>
        <p:spPr>
          <a:xfrm>
            <a:off x="6263640" y="914400"/>
            <a:ext cx="2468880" cy="274320"/>
          </a:xfrm>
          <a:prstGeom prst="rect">
            <a:avLst/>
          </a:prstGeom>
          <a:noFill/>
          <a:ln/>
        </p:spPr>
        <p:txBody>
          <a:bodyPr wrap="square" rtlCol="0" anchor="ctr"/>
          <a:lstStyle/>
          <a:p>
            <a:pPr indent="0" marL="0">
              <a:buNone/>
            </a:pPr>
            <a:r>
              <a:rPr lang="en-US" sz="1100" b="1" dirty="0">
                <a:solidFill>
                  <a:srgbClr val="1E40AF"/>
                </a:solidFill>
                <a:latin typeface="Arial" pitchFamily="34" charset="0"/>
                <a:ea typeface="Arial" pitchFamily="34" charset="-122"/>
                <a:cs typeface="Arial" pitchFamily="34" charset="-120"/>
              </a:rPr>
              <a:t>Xử lý lỗi</a:t>
            </a:r>
            <a:endParaRPr lang="en-US" sz="1100" dirty="0"/>
          </a:p>
        </p:txBody>
      </p:sp>
      <p:sp>
        <p:nvSpPr>
          <p:cNvPr id="18" name="Text 16"/>
          <p:cNvSpPr/>
          <p:nvPr/>
        </p:nvSpPr>
        <p:spPr>
          <a:xfrm>
            <a:off x="4846320" y="1280160"/>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1. Chọn kết quả FAIL cho máy đó</a:t>
            </a:r>
            <a:endParaRPr lang="en-US" sz="900" dirty="0"/>
          </a:p>
        </p:txBody>
      </p:sp>
      <p:sp>
        <p:nvSpPr>
          <p:cNvPr id="19" name="Text 17"/>
          <p:cNvSpPr/>
          <p:nvPr/>
        </p:nvSpPr>
        <p:spPr>
          <a:xfrm>
            <a:off x="4846320" y="1627632"/>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2. Chọn Loại lỗi từ danh sách</a:t>
            </a:r>
            <a:endParaRPr lang="en-US" sz="900" dirty="0"/>
          </a:p>
        </p:txBody>
      </p:sp>
      <p:sp>
        <p:nvSpPr>
          <p:cNvPr id="20" name="Text 18"/>
          <p:cNvSpPr/>
          <p:nvPr/>
        </p:nvSpPr>
        <p:spPr>
          <a:xfrm>
            <a:off x="4846320" y="1975104"/>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3. Nhập mô tả chi tiết về sự cố</a:t>
            </a:r>
            <a:endParaRPr lang="en-US" sz="900" dirty="0"/>
          </a:p>
        </p:txBody>
      </p:sp>
      <p:sp>
        <p:nvSpPr>
          <p:cNvPr id="21" name="Text 19"/>
          <p:cNvSpPr/>
          <p:nvPr/>
        </p:nvSpPr>
        <p:spPr>
          <a:xfrm>
            <a:off x="4846320" y="2322576"/>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4. Lưu — CA được tạo tự động</a:t>
            </a:r>
            <a:endParaRPr lang="en-US" sz="900" dirty="0"/>
          </a:p>
        </p:txBody>
      </p:sp>
      <p:sp>
        <p:nvSpPr>
          <p:cNvPr id="22" name="Text 20"/>
          <p:cNvSpPr/>
          <p:nvPr/>
        </p:nvSpPr>
        <p:spPr>
          <a:xfrm>
            <a:off x="4846320" y="2670048"/>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5. Thông báo cho nhóm bảo trì về sự cố</a:t>
            </a:r>
            <a:endParaRPr lang="en-US" sz="900" dirty="0"/>
          </a:p>
        </p:txBody>
      </p:sp>
      <p:sp>
        <p:nvSpPr>
          <p:cNvPr id="23" name="Shape 21"/>
          <p:cNvSpPr/>
          <p:nvPr/>
        </p:nvSpPr>
        <p:spPr>
          <a:xfrm>
            <a:off x="274320" y="3749040"/>
            <a:ext cx="4206240" cy="2743200"/>
          </a:xfrm>
          <a:prstGeom prst="roundRect">
            <a:avLst>
              <a:gd name="adj" fmla="val 3333"/>
            </a:avLst>
          </a:prstGeom>
          <a:solidFill>
            <a:srgbClr val="FFFFFF"/>
          </a:solidFill>
          <a:ln w="12700">
            <a:solidFill>
              <a:srgbClr val="E5E7EB"/>
            </a:solidFill>
            <a:prstDash val="solid"/>
          </a:ln>
        </p:spPr>
      </p:sp>
      <p:sp>
        <p:nvSpPr>
          <p:cNvPr id="24" name="Shape 22"/>
          <p:cNvSpPr/>
          <p:nvPr/>
        </p:nvSpPr>
        <p:spPr>
          <a:xfrm>
            <a:off x="365760" y="3840480"/>
            <a:ext cx="1371600" cy="274320"/>
          </a:xfrm>
          <a:prstGeom prst="roundRect">
            <a:avLst>
              <a:gd name="adj" fmla="val 13333"/>
            </a:avLst>
          </a:prstGeom>
          <a:solidFill>
            <a:srgbClr val="22C55E"/>
          </a:solidFill>
          <a:ln/>
        </p:spPr>
      </p:sp>
      <p:sp>
        <p:nvSpPr>
          <p:cNvPr id="25" name="Text 23"/>
          <p:cNvSpPr/>
          <p:nvPr/>
        </p:nvSpPr>
        <p:spPr>
          <a:xfrm>
            <a:off x="365760" y="3840480"/>
            <a:ext cx="1371600" cy="27432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HÀNG TUẦN</a:t>
            </a:r>
            <a:endParaRPr lang="en-US" sz="900" dirty="0"/>
          </a:p>
        </p:txBody>
      </p:sp>
      <p:sp>
        <p:nvSpPr>
          <p:cNvPr id="26" name="Text 24"/>
          <p:cNvSpPr/>
          <p:nvPr/>
        </p:nvSpPr>
        <p:spPr>
          <a:xfrm>
            <a:off x="1828800" y="3840480"/>
            <a:ext cx="2468880" cy="274320"/>
          </a:xfrm>
          <a:prstGeom prst="rect">
            <a:avLst/>
          </a:prstGeom>
          <a:noFill/>
          <a:ln/>
        </p:spPr>
        <p:txBody>
          <a:bodyPr wrap="square" rtlCol="0" anchor="ctr"/>
          <a:lstStyle/>
          <a:p>
            <a:pPr indent="0" marL="0">
              <a:buNone/>
            </a:pPr>
            <a:r>
              <a:rPr lang="en-US" sz="1100" b="1" dirty="0">
                <a:solidFill>
                  <a:srgbClr val="1E40AF"/>
                </a:solidFill>
                <a:latin typeface="Arial" pitchFamily="34" charset="0"/>
                <a:ea typeface="Arial" pitchFamily="34" charset="-122"/>
                <a:cs typeface="Arial" pitchFamily="34" charset="-120"/>
              </a:rPr>
              <a:t>Xem bảng điều khiển</a:t>
            </a:r>
            <a:endParaRPr lang="en-US" sz="1100" dirty="0"/>
          </a:p>
        </p:txBody>
      </p:sp>
      <p:sp>
        <p:nvSpPr>
          <p:cNvPr id="27" name="Text 25"/>
          <p:cNvSpPr/>
          <p:nvPr/>
        </p:nvSpPr>
        <p:spPr>
          <a:xfrm>
            <a:off x="411480" y="4206240"/>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1. Kiểm tra bảng điều khiển về tóm tắt KPI tuần</a:t>
            </a:r>
            <a:endParaRPr lang="en-US" sz="900" dirty="0"/>
          </a:p>
        </p:txBody>
      </p:sp>
      <p:sp>
        <p:nvSpPr>
          <p:cNvPr id="28" name="Text 26"/>
          <p:cNvSpPr/>
          <p:nvPr/>
        </p:nvSpPr>
        <p:spPr>
          <a:xfrm>
            <a:off x="411480" y="4553712"/>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2. Xem So sánh nhà máy để biết xu hướng</a:t>
            </a:r>
            <a:endParaRPr lang="en-US" sz="900" dirty="0"/>
          </a:p>
        </p:txBody>
      </p:sp>
      <p:sp>
        <p:nvSpPr>
          <p:cNvPr id="29" name="Text 27"/>
          <p:cNvSpPr/>
          <p:nvPr/>
        </p:nvSpPr>
        <p:spPr>
          <a:xfrm>
            <a:off x="411480" y="4901184"/>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3. Kiểm tra danh sách Vấn đề lặp lại</a:t>
            </a:r>
            <a:endParaRPr lang="en-US" sz="900" dirty="0"/>
          </a:p>
        </p:txBody>
      </p:sp>
      <p:sp>
        <p:nvSpPr>
          <p:cNvPr id="30" name="Text 28"/>
          <p:cNvSpPr/>
          <p:nvPr/>
        </p:nvSpPr>
        <p:spPr>
          <a:xfrm>
            <a:off x="411480" y="5248656"/>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4. Tạo báo cáo PDF nếu cần</a:t>
            </a:r>
            <a:endParaRPr lang="en-US" sz="900" dirty="0"/>
          </a:p>
        </p:txBody>
      </p:sp>
      <p:sp>
        <p:nvSpPr>
          <p:cNvPr id="31" name="Shape 29"/>
          <p:cNvSpPr/>
          <p:nvPr/>
        </p:nvSpPr>
        <p:spPr>
          <a:xfrm>
            <a:off x="4709160" y="3749040"/>
            <a:ext cx="4206240" cy="2743200"/>
          </a:xfrm>
          <a:prstGeom prst="roundRect">
            <a:avLst>
              <a:gd name="adj" fmla="val 3333"/>
            </a:avLst>
          </a:prstGeom>
          <a:solidFill>
            <a:srgbClr val="FFFFFF"/>
          </a:solidFill>
          <a:ln w="12700">
            <a:solidFill>
              <a:srgbClr val="E5E7EB"/>
            </a:solidFill>
            <a:prstDash val="solid"/>
          </a:ln>
        </p:spPr>
      </p:sp>
      <p:sp>
        <p:nvSpPr>
          <p:cNvPr id="32" name="Shape 30"/>
          <p:cNvSpPr/>
          <p:nvPr/>
        </p:nvSpPr>
        <p:spPr>
          <a:xfrm>
            <a:off x="4800600" y="3840480"/>
            <a:ext cx="1371600" cy="274320"/>
          </a:xfrm>
          <a:prstGeom prst="roundRect">
            <a:avLst>
              <a:gd name="adj" fmla="val 13333"/>
            </a:avLst>
          </a:prstGeom>
          <a:solidFill>
            <a:srgbClr val="F97316"/>
          </a:solidFill>
          <a:ln/>
        </p:spPr>
      </p:sp>
      <p:sp>
        <p:nvSpPr>
          <p:cNvPr id="33" name="Text 31"/>
          <p:cNvSpPr/>
          <p:nvPr/>
        </p:nvSpPr>
        <p:spPr>
          <a:xfrm>
            <a:off x="4800600" y="3840480"/>
            <a:ext cx="1371600" cy="27432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SAU SỬA</a:t>
            </a:r>
            <a:endParaRPr lang="en-US" sz="900" dirty="0"/>
          </a:p>
        </p:txBody>
      </p:sp>
      <p:sp>
        <p:nvSpPr>
          <p:cNvPr id="34" name="Text 32"/>
          <p:cNvSpPr/>
          <p:nvPr/>
        </p:nvSpPr>
        <p:spPr>
          <a:xfrm>
            <a:off x="6263640" y="3840480"/>
            <a:ext cx="2468880" cy="274320"/>
          </a:xfrm>
          <a:prstGeom prst="rect">
            <a:avLst/>
          </a:prstGeom>
          <a:noFill/>
          <a:ln/>
        </p:spPr>
        <p:txBody>
          <a:bodyPr wrap="square" rtlCol="0" anchor="ctr"/>
          <a:lstStyle/>
          <a:p>
            <a:pPr indent="0" marL="0">
              <a:buNone/>
            </a:pPr>
            <a:r>
              <a:rPr lang="en-US" sz="1100" b="1" dirty="0">
                <a:solidFill>
                  <a:srgbClr val="1E40AF"/>
                </a:solidFill>
                <a:latin typeface="Arial" pitchFamily="34" charset="0"/>
                <a:ea typeface="Arial" pitchFamily="34" charset="-122"/>
                <a:cs typeface="Arial" pitchFamily="34" charset="-120"/>
              </a:rPr>
              <a:t>Cập nhật trạng thái CA</a:t>
            </a:r>
            <a:endParaRPr lang="en-US" sz="1100" dirty="0"/>
          </a:p>
        </p:txBody>
      </p:sp>
      <p:sp>
        <p:nvSpPr>
          <p:cNvPr id="35" name="Text 33"/>
          <p:cNvSpPr/>
          <p:nvPr/>
        </p:nvSpPr>
        <p:spPr>
          <a:xfrm>
            <a:off x="4846320" y="4206240"/>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1. Vào trang Lịch sử</a:t>
            </a:r>
            <a:endParaRPr lang="en-US" sz="900" dirty="0"/>
          </a:p>
        </p:txBody>
      </p:sp>
      <p:sp>
        <p:nvSpPr>
          <p:cNvPr id="36" name="Text 34"/>
          <p:cNvSpPr/>
          <p:nvPr/>
        </p:nvSpPr>
        <p:spPr>
          <a:xfrm>
            <a:off x="4846320" y="4553712"/>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2. Tìm mục FAIL (lọc theo Kết quả = FAIL)</a:t>
            </a:r>
            <a:endParaRPr lang="en-US" sz="900" dirty="0"/>
          </a:p>
        </p:txBody>
      </p:sp>
      <p:sp>
        <p:nvSpPr>
          <p:cNvPr id="37" name="Text 35"/>
          <p:cNvSpPr/>
          <p:nvPr/>
        </p:nvSpPr>
        <p:spPr>
          <a:xfrm>
            <a:off x="4846320" y="4901184"/>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3. Nhấp vào hàng để mở chi tiết</a:t>
            </a:r>
            <a:endParaRPr lang="en-US" sz="900" dirty="0"/>
          </a:p>
        </p:txBody>
      </p:sp>
      <p:sp>
        <p:nvSpPr>
          <p:cNvPr id="38" name="Text 36"/>
          <p:cNvSpPr/>
          <p:nvPr/>
        </p:nvSpPr>
        <p:spPr>
          <a:xfrm>
            <a:off x="4846320" y="5248656"/>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4. Cập nhật trạng thái CA: Chờ → Đang xử lý → Hoàn thành</a:t>
            </a:r>
            <a:endParaRPr lang="en-US" sz="900" dirty="0"/>
          </a:p>
        </p:txBody>
      </p:sp>
      <p:sp>
        <p:nvSpPr>
          <p:cNvPr id="39" name="Text 37"/>
          <p:cNvSpPr/>
          <p:nvPr/>
        </p:nvSpPr>
        <p:spPr>
          <a:xfrm>
            <a:off x="4846320" y="5596128"/>
            <a:ext cx="3931920" cy="320040"/>
          </a:xfrm>
          <a:prstGeom prst="rect">
            <a:avLst/>
          </a:prstGeom>
          <a:noFill/>
          <a:ln/>
        </p:spPr>
        <p:txBody>
          <a:bodyPr wrap="square" rtlCol="0" anchor="t"/>
          <a:lstStyle/>
          <a:p>
            <a:pPr indent="0" marL="0">
              <a:buNone/>
            </a:pPr>
            <a:r>
              <a:rPr lang="en-US" sz="900" dirty="0">
                <a:solidFill>
                  <a:srgbClr val="1F2937"/>
                </a:solidFill>
                <a:latin typeface="Arial" pitchFamily="34" charset="0"/>
                <a:ea typeface="Arial" pitchFamily="34" charset="-122"/>
                <a:cs typeface="Arial" pitchFamily="34" charset="-120"/>
              </a:rPr>
              <a:t>5. Thêm mô tả về hành động sửa chữa đã thực hiện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E40A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8A"/>
                </a:solidFill>
                <a:latin typeface="Arial" pitchFamily="34" charset="0"/>
                <a:ea typeface="Arial" pitchFamily="34" charset="-122"/>
                <a:cs typeface="Arial" pitchFamily="34" charset="-120"/>
              </a:rPr>
              <a:t>Câu hỏi thường gặp (FAQ)</a:t>
            </a:r>
            <a:endParaRPr lang="en-US" sz="2400" dirty="0"/>
          </a:p>
        </p:txBody>
      </p:sp>
      <p:sp>
        <p:nvSpPr>
          <p:cNvPr id="4" name="Text 2"/>
          <p:cNvSpPr/>
          <p:nvPr/>
        </p:nvSpPr>
        <p:spPr>
          <a:xfrm>
            <a:off x="457200" y="777240"/>
            <a:ext cx="8229600" cy="274320"/>
          </a:xfrm>
          <a:prstGeom prst="rect">
            <a:avLst/>
          </a:prstGeom>
          <a:noFill/>
          <a:ln/>
        </p:spPr>
        <p:txBody>
          <a:bodyPr wrap="square" rtlCol="0" anchor="ctr"/>
          <a:lstStyle/>
          <a:p>
            <a:pPr indent="0" marL="0">
              <a:buNone/>
            </a:pPr>
            <a:r>
              <a:rPr lang="en-US" sz="1100" b="1" dirty="0">
                <a:solidFill>
                  <a:srgbClr val="1E3A8A"/>
                </a:solidFill>
                <a:latin typeface="Arial" pitchFamily="34" charset="0"/>
                <a:ea typeface="Arial" pitchFamily="34" charset="-122"/>
                <a:cs typeface="Arial" pitchFamily="34" charset="-120"/>
              </a:rPr>
              <a:t>Q: Mã máy có bắt buộc không?</a:t>
            </a:r>
            <a:endParaRPr lang="en-US" sz="1100" dirty="0"/>
          </a:p>
        </p:txBody>
      </p:sp>
      <p:sp>
        <p:nvSpPr>
          <p:cNvPr id="5" name="Text 3"/>
          <p:cNvSpPr/>
          <p:nvPr/>
        </p:nvSpPr>
        <p:spPr>
          <a:xfrm>
            <a:off x="640080" y="1051560"/>
            <a:ext cx="8046720" cy="59436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A: Không, Mã máy là tùy chọn. Tuy nhiên, rất khuyến khích để theo dõi vấn đề lặp lại. Nếu không có, hệ thống sử dụng tổ hợp Nhà máy + Line.</a:t>
            </a:r>
            <a:endParaRPr lang="en-US" sz="1000" dirty="0"/>
          </a:p>
        </p:txBody>
      </p:sp>
      <p:sp>
        <p:nvSpPr>
          <p:cNvPr id="6" name="Text 4"/>
          <p:cNvSpPr/>
          <p:nvPr/>
        </p:nvSpPr>
        <p:spPr>
          <a:xfrm>
            <a:off x="457200" y="1737360"/>
            <a:ext cx="8229600" cy="274320"/>
          </a:xfrm>
          <a:prstGeom prst="rect">
            <a:avLst/>
          </a:prstGeom>
          <a:noFill/>
          <a:ln/>
        </p:spPr>
        <p:txBody>
          <a:bodyPr wrap="square" rtlCol="0" anchor="ctr"/>
          <a:lstStyle/>
          <a:p>
            <a:pPr indent="0" marL="0">
              <a:buNone/>
            </a:pPr>
            <a:r>
              <a:rPr lang="en-US" sz="1100" b="1" dirty="0">
                <a:solidFill>
                  <a:srgbClr val="1E3A8A"/>
                </a:solidFill>
                <a:latin typeface="Arial" pitchFamily="34" charset="0"/>
                <a:ea typeface="Arial" pitchFamily="34" charset="-122"/>
                <a:cs typeface="Arial" pitchFamily="34" charset="-120"/>
              </a:rPr>
              <a:t>Q: Có thể kiểm tra cùng một máy hai lần không?</a:t>
            </a:r>
            <a:endParaRPr lang="en-US" sz="1100" dirty="0"/>
          </a:p>
        </p:txBody>
      </p:sp>
      <p:sp>
        <p:nvSpPr>
          <p:cNvPr id="7" name="Text 5"/>
          <p:cNvSpPr/>
          <p:nvPr/>
        </p:nvSpPr>
        <p:spPr>
          <a:xfrm>
            <a:off x="640080" y="2011680"/>
            <a:ext cx="8046720" cy="59436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A: Có, bạn có thể tạo nhiều bản ghi kiểm tra cho cùng một máy trong cùng ngày. Mỗi bản ghi được lưu độc lập.</a:t>
            </a:r>
            <a:endParaRPr lang="en-US" sz="1000" dirty="0"/>
          </a:p>
        </p:txBody>
      </p:sp>
      <p:sp>
        <p:nvSpPr>
          <p:cNvPr id="8" name="Text 6"/>
          <p:cNvSpPr/>
          <p:nvPr/>
        </p:nvSpPr>
        <p:spPr>
          <a:xfrm>
            <a:off x="457200" y="2697480"/>
            <a:ext cx="8229600" cy="274320"/>
          </a:xfrm>
          <a:prstGeom prst="rect">
            <a:avLst/>
          </a:prstGeom>
          <a:noFill/>
          <a:ln/>
        </p:spPr>
        <p:txBody>
          <a:bodyPr wrap="square" rtlCol="0" anchor="ctr"/>
          <a:lstStyle/>
          <a:p>
            <a:pPr indent="0" marL="0">
              <a:buNone/>
            </a:pPr>
            <a:r>
              <a:rPr lang="en-US" sz="1100" b="1" dirty="0">
                <a:solidFill>
                  <a:srgbClr val="1E3A8A"/>
                </a:solidFill>
                <a:latin typeface="Arial" pitchFamily="34" charset="0"/>
                <a:ea typeface="Arial" pitchFamily="34" charset="-122"/>
                <a:cs typeface="Arial" pitchFamily="34" charset="-120"/>
              </a:rPr>
              <a:t>Q: Có thể đổi FAIL thành PASS sau khi lưu không?</a:t>
            </a:r>
            <a:endParaRPr lang="en-US" sz="1100" dirty="0"/>
          </a:p>
        </p:txBody>
      </p:sp>
      <p:sp>
        <p:nvSpPr>
          <p:cNvPr id="9" name="Text 7"/>
          <p:cNvSpPr/>
          <p:nvPr/>
        </p:nvSpPr>
        <p:spPr>
          <a:xfrm>
            <a:off x="640080" y="2971800"/>
            <a:ext cx="8046720" cy="59436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A: Kết quả không thể thay đổi sau khi lưu. Nếu bạn nhập sai, hãy tạo bản ghi đúng mới và liên hệ quản trị viên để xử lý bản ghi sai.</a:t>
            </a:r>
            <a:endParaRPr lang="en-US" sz="1000" dirty="0"/>
          </a:p>
        </p:txBody>
      </p:sp>
      <p:sp>
        <p:nvSpPr>
          <p:cNvPr id="10" name="Text 8"/>
          <p:cNvSpPr/>
          <p:nvPr/>
        </p:nvSpPr>
        <p:spPr>
          <a:xfrm>
            <a:off x="457200" y="3657600"/>
            <a:ext cx="8229600" cy="274320"/>
          </a:xfrm>
          <a:prstGeom prst="rect">
            <a:avLst/>
          </a:prstGeom>
          <a:noFill/>
          <a:ln/>
        </p:spPr>
        <p:txBody>
          <a:bodyPr wrap="square" rtlCol="0" anchor="ctr"/>
          <a:lstStyle/>
          <a:p>
            <a:pPr indent="0" marL="0">
              <a:buNone/>
            </a:pPr>
            <a:r>
              <a:rPr lang="en-US" sz="1100" b="1" dirty="0">
                <a:solidFill>
                  <a:srgbClr val="1E3A8A"/>
                </a:solidFill>
                <a:latin typeface="Arial" pitchFamily="34" charset="0"/>
                <a:ea typeface="Arial" pitchFamily="34" charset="-122"/>
                <a:cs typeface="Arial" pitchFamily="34" charset="-120"/>
              </a:rPr>
              <a:t>Q: Vấn đề lặp lại được phát hiện như thế nào?</a:t>
            </a:r>
            <a:endParaRPr lang="en-US" sz="1100" dirty="0"/>
          </a:p>
        </p:txBody>
      </p:sp>
      <p:sp>
        <p:nvSpPr>
          <p:cNvPr id="11" name="Text 9"/>
          <p:cNvSpPr/>
          <p:nvPr/>
        </p:nvSpPr>
        <p:spPr>
          <a:xfrm>
            <a:off x="640080" y="3931920"/>
            <a:ext cx="8046720" cy="59436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A: Hệ thống so sánh bản ghi FAIL theo Mã máy (hoặc Nhà máy+Line) qua hai tuần liên tiếp. Nếu cùng một máy lỗi ở cả hai tuần, nó được đánh dấu "Lặp lại".</a:t>
            </a:r>
            <a:endParaRPr lang="en-US" sz="1000" dirty="0"/>
          </a:p>
        </p:txBody>
      </p:sp>
      <p:sp>
        <p:nvSpPr>
          <p:cNvPr id="12" name="Text 10"/>
          <p:cNvSpPr/>
          <p:nvPr/>
        </p:nvSpPr>
        <p:spPr>
          <a:xfrm>
            <a:off x="457200" y="4617720"/>
            <a:ext cx="8229600" cy="274320"/>
          </a:xfrm>
          <a:prstGeom prst="rect">
            <a:avLst/>
          </a:prstGeom>
          <a:noFill/>
          <a:ln/>
        </p:spPr>
        <p:txBody>
          <a:bodyPr wrap="square" rtlCol="0" anchor="ctr"/>
          <a:lstStyle/>
          <a:p>
            <a:pPr indent="0" marL="0">
              <a:buNone/>
            </a:pPr>
            <a:r>
              <a:rPr lang="en-US" sz="1100" b="1" dirty="0">
                <a:solidFill>
                  <a:srgbClr val="1E3A8A"/>
                </a:solidFill>
                <a:latin typeface="Arial" pitchFamily="34" charset="0"/>
                <a:ea typeface="Arial" pitchFamily="34" charset="-122"/>
                <a:cs typeface="Arial" pitchFamily="34" charset="-120"/>
              </a:rPr>
              <a:t>Q: Nếu tôi nhập dữ liệu sai ngày thì sao?</a:t>
            </a:r>
            <a:endParaRPr lang="en-US" sz="1100" dirty="0"/>
          </a:p>
        </p:txBody>
      </p:sp>
      <p:sp>
        <p:nvSpPr>
          <p:cNvPr id="13" name="Text 11"/>
          <p:cNvSpPr/>
          <p:nvPr/>
        </p:nvSpPr>
        <p:spPr>
          <a:xfrm>
            <a:off x="640080" y="4892040"/>
            <a:ext cx="8046720" cy="59436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A: Bạn có thể thay đổi ngày kiểm tra trong bộ chọn ngày. Hệ thống sẽ tự động gán số tuần ISO chính xác.</a:t>
            </a:r>
            <a:endParaRPr lang="en-US" sz="1000" dirty="0"/>
          </a:p>
        </p:txBody>
      </p:sp>
      <p:sp>
        <p:nvSpPr>
          <p:cNvPr id="14" name="Text 12"/>
          <p:cNvSpPr/>
          <p:nvPr/>
        </p:nvSpPr>
        <p:spPr>
          <a:xfrm>
            <a:off x="457200" y="5577840"/>
            <a:ext cx="8229600" cy="274320"/>
          </a:xfrm>
          <a:prstGeom prst="rect">
            <a:avLst/>
          </a:prstGeom>
          <a:noFill/>
          <a:ln/>
        </p:spPr>
        <p:txBody>
          <a:bodyPr wrap="square" rtlCol="0" anchor="ctr"/>
          <a:lstStyle/>
          <a:p>
            <a:pPr indent="0" marL="0">
              <a:buNone/>
            </a:pPr>
            <a:r>
              <a:rPr lang="en-US" sz="1100" b="1" dirty="0">
                <a:solidFill>
                  <a:srgbClr val="1E3A8A"/>
                </a:solidFill>
                <a:latin typeface="Arial" pitchFamily="34" charset="0"/>
                <a:ea typeface="Arial" pitchFamily="34" charset="-122"/>
                <a:cs typeface="Arial" pitchFamily="34" charset="-120"/>
              </a:rPr>
              <a:t>Q: Tôi có thể dùng trên điện thoại không?</a:t>
            </a:r>
            <a:endParaRPr lang="en-US" sz="1100" dirty="0"/>
          </a:p>
        </p:txBody>
      </p:sp>
      <p:sp>
        <p:nvSpPr>
          <p:cNvPr id="15" name="Text 13"/>
          <p:cNvSpPr/>
          <p:nvPr/>
        </p:nvSpPr>
        <p:spPr>
          <a:xfrm>
            <a:off x="640080" y="5852160"/>
            <a:ext cx="8046720" cy="59436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A: Có! Q-TRAIN là ứng dụng web responsive. Mở URL trong Chrome trên điện thoại và nó hoạt động như một ứng dụng. Bạn có thể thêm vào màn hình chính.</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40AF"/>
        </a:solidFill>
      </p:bgPr>
    </p:bg>
    <p:spTree>
      <p:nvGrpSpPr>
        <p:cNvPr id="1" name=""/>
        <p:cNvGrpSpPr/>
        <p:nvPr/>
      </p:nvGrpSpPr>
      <p:grpSpPr>
        <a:xfrm>
          <a:off x="0" y="0"/>
          <a:ext cx="0" cy="0"/>
          <a:chOff x="0" y="0"/>
          <a:chExt cx="0" cy="0"/>
        </a:xfrm>
      </p:grpSpPr>
      <p:sp>
        <p:nvSpPr>
          <p:cNvPr id="2" name="Text 0"/>
          <p:cNvSpPr/>
          <p:nvPr/>
        </p:nvSpPr>
        <p:spPr>
          <a:xfrm>
            <a:off x="731520" y="457200"/>
            <a:ext cx="768096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Liên hệ &amp; Hỗ trợ</a:t>
            </a:r>
            <a:endParaRPr lang="en-US" sz="2800" dirty="0"/>
          </a:p>
        </p:txBody>
      </p:sp>
      <p:sp>
        <p:nvSpPr>
          <p:cNvPr id="3" name="Shape 1"/>
          <p:cNvSpPr/>
          <p:nvPr/>
        </p:nvSpPr>
        <p:spPr>
          <a:xfrm>
            <a:off x="457200" y="1280160"/>
            <a:ext cx="3931920" cy="2560320"/>
          </a:xfrm>
          <a:prstGeom prst="roundRect">
            <a:avLst>
              <a:gd name="adj" fmla="val 3571"/>
            </a:avLst>
          </a:prstGeom>
          <a:solidFill>
            <a:srgbClr val="1E3A8A"/>
          </a:solidFill>
          <a:ln/>
        </p:spPr>
      </p:sp>
      <p:sp>
        <p:nvSpPr>
          <p:cNvPr id="4" name="Text 2"/>
          <p:cNvSpPr/>
          <p:nvPr/>
        </p:nvSpPr>
        <p:spPr>
          <a:xfrm>
            <a:off x="640080" y="1371600"/>
            <a:ext cx="3566160" cy="320040"/>
          </a:xfrm>
          <a:prstGeom prst="rect">
            <a:avLst/>
          </a:prstGeom>
          <a:noFill/>
          <a:ln/>
        </p:spPr>
        <p:txBody>
          <a:bodyPr wrap="square" rtlCol="0" anchor="ctr"/>
          <a:lstStyle/>
          <a:p>
            <a:pPr indent="0" marL="0">
              <a:buNone/>
            </a:pPr>
            <a:r>
              <a:rPr lang="en-US" sz="1400" b="1" dirty="0">
                <a:solidFill>
                  <a:srgbClr val="DBEAFE"/>
                </a:solidFill>
                <a:latin typeface="Arial" pitchFamily="34" charset="0"/>
                <a:ea typeface="Arial" pitchFamily="34" charset="-122"/>
                <a:cs typeface="Arial" pitchFamily="34" charset="-120"/>
              </a:rPr>
              <a:t>Thông tin hệ thống</a:t>
            </a:r>
            <a:endParaRPr lang="en-US" sz="1400" dirty="0"/>
          </a:p>
        </p:txBody>
      </p:sp>
      <p:sp>
        <p:nvSpPr>
          <p:cNvPr id="5" name="Text 3"/>
          <p:cNvSpPr/>
          <p:nvPr/>
        </p:nvSpPr>
        <p:spPr>
          <a:xfrm>
            <a:off x="640080" y="1828800"/>
            <a:ext cx="1645920" cy="365760"/>
          </a:xfrm>
          <a:prstGeom prst="rect">
            <a:avLst/>
          </a:prstGeom>
          <a:noFill/>
          <a:ln/>
        </p:spPr>
        <p:txBody>
          <a:bodyPr wrap="square" rtlCol="0" anchor="ctr"/>
          <a:lstStyle/>
          <a:p>
            <a:pPr indent="0" marL="0">
              <a:buNone/>
            </a:pPr>
            <a:r>
              <a:rPr lang="en-US" sz="1100" dirty="0">
                <a:solidFill>
                  <a:srgbClr val="60A5FA"/>
                </a:solidFill>
                <a:latin typeface="Arial" pitchFamily="34" charset="0"/>
                <a:ea typeface="Arial" pitchFamily="34" charset="-122"/>
                <a:cs typeface="Arial" pitchFamily="34" charset="-120"/>
              </a:rPr>
              <a:t>URL hệ thống:</a:t>
            </a:r>
            <a:endParaRPr lang="en-US" sz="1100" dirty="0"/>
          </a:p>
        </p:txBody>
      </p:sp>
      <p:sp>
        <p:nvSpPr>
          <p:cNvPr id="6" name="Text 4"/>
          <p:cNvSpPr/>
          <p:nvPr/>
        </p:nvSpPr>
        <p:spPr>
          <a:xfrm>
            <a:off x="2286000" y="1828800"/>
            <a:ext cx="1920240" cy="3657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https://q-train-web.web.app/</a:t>
            </a:r>
            <a:endParaRPr lang="en-US" sz="1100" dirty="0"/>
          </a:p>
        </p:txBody>
      </p:sp>
      <p:sp>
        <p:nvSpPr>
          <p:cNvPr id="7" name="Text 5"/>
          <p:cNvSpPr/>
          <p:nvPr/>
        </p:nvSpPr>
        <p:spPr>
          <a:xfrm>
            <a:off x="640080" y="2286000"/>
            <a:ext cx="1645920" cy="365760"/>
          </a:xfrm>
          <a:prstGeom prst="rect">
            <a:avLst/>
          </a:prstGeom>
          <a:noFill/>
          <a:ln/>
        </p:spPr>
        <p:txBody>
          <a:bodyPr wrap="square" rtlCol="0" anchor="ctr"/>
          <a:lstStyle/>
          <a:p>
            <a:pPr indent="0" marL="0">
              <a:buNone/>
            </a:pPr>
            <a:r>
              <a:rPr lang="en-US" sz="1100" dirty="0">
                <a:solidFill>
                  <a:srgbClr val="60A5FA"/>
                </a:solidFill>
                <a:latin typeface="Arial" pitchFamily="34" charset="0"/>
                <a:ea typeface="Arial" pitchFamily="34" charset="-122"/>
                <a:cs typeface="Arial" pitchFamily="34" charset="-120"/>
              </a:rPr>
              <a:t>Module:</a:t>
            </a:r>
            <a:endParaRPr lang="en-US" sz="1100" dirty="0"/>
          </a:p>
        </p:txBody>
      </p:sp>
      <p:sp>
        <p:nvSpPr>
          <p:cNvPr id="8" name="Text 6"/>
          <p:cNvSpPr/>
          <p:nvPr/>
        </p:nvSpPr>
        <p:spPr>
          <a:xfrm>
            <a:off x="2286000" y="2286000"/>
            <a:ext cx="1920240" cy="3657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Equipment &gt; Metal Detector</a:t>
            </a:r>
            <a:endParaRPr lang="en-US" sz="1100" dirty="0"/>
          </a:p>
        </p:txBody>
      </p:sp>
      <p:sp>
        <p:nvSpPr>
          <p:cNvPr id="9" name="Text 7"/>
          <p:cNvSpPr/>
          <p:nvPr/>
        </p:nvSpPr>
        <p:spPr>
          <a:xfrm>
            <a:off x="640080" y="2743200"/>
            <a:ext cx="1645920" cy="365760"/>
          </a:xfrm>
          <a:prstGeom prst="rect">
            <a:avLst/>
          </a:prstGeom>
          <a:noFill/>
          <a:ln/>
        </p:spPr>
        <p:txBody>
          <a:bodyPr wrap="square" rtlCol="0" anchor="ctr"/>
          <a:lstStyle/>
          <a:p>
            <a:pPr indent="0" marL="0">
              <a:buNone/>
            </a:pPr>
            <a:r>
              <a:rPr lang="en-US" sz="1100" dirty="0">
                <a:solidFill>
                  <a:srgbClr val="60A5FA"/>
                </a:solidFill>
                <a:latin typeface="Arial" pitchFamily="34" charset="0"/>
                <a:ea typeface="Arial" pitchFamily="34" charset="-122"/>
                <a:cs typeface="Arial" pitchFamily="34" charset="-120"/>
              </a:rPr>
              <a:t>Ngôn ngữ:</a:t>
            </a:r>
            <a:endParaRPr lang="en-US" sz="1100" dirty="0"/>
          </a:p>
        </p:txBody>
      </p:sp>
      <p:sp>
        <p:nvSpPr>
          <p:cNvPr id="10" name="Text 8"/>
          <p:cNvSpPr/>
          <p:nvPr/>
        </p:nvSpPr>
        <p:spPr>
          <a:xfrm>
            <a:off x="2286000" y="2743200"/>
            <a:ext cx="1920240" cy="3657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Tiếng Hàn, Tiếng Anh, Tiếng Việt</a:t>
            </a:r>
            <a:endParaRPr lang="en-US" sz="1100" dirty="0"/>
          </a:p>
        </p:txBody>
      </p:sp>
      <p:sp>
        <p:nvSpPr>
          <p:cNvPr id="11" name="Text 9"/>
          <p:cNvSpPr/>
          <p:nvPr/>
        </p:nvSpPr>
        <p:spPr>
          <a:xfrm>
            <a:off x="640080" y="3200400"/>
            <a:ext cx="1645920" cy="365760"/>
          </a:xfrm>
          <a:prstGeom prst="rect">
            <a:avLst/>
          </a:prstGeom>
          <a:noFill/>
          <a:ln/>
        </p:spPr>
        <p:txBody>
          <a:bodyPr wrap="square" rtlCol="0" anchor="ctr"/>
          <a:lstStyle/>
          <a:p>
            <a:pPr indent="0" marL="0">
              <a:buNone/>
            </a:pPr>
            <a:r>
              <a:rPr lang="en-US" sz="1100" dirty="0">
                <a:solidFill>
                  <a:srgbClr val="60A5FA"/>
                </a:solidFill>
                <a:latin typeface="Arial" pitchFamily="34" charset="0"/>
                <a:ea typeface="Arial" pitchFamily="34" charset="-122"/>
                <a:cs typeface="Arial" pitchFamily="34" charset="-120"/>
              </a:rPr>
              <a:t>Truy cập:</a:t>
            </a:r>
            <a:endParaRPr lang="en-US" sz="1100" dirty="0"/>
          </a:p>
        </p:txBody>
      </p:sp>
      <p:sp>
        <p:nvSpPr>
          <p:cNvPr id="12" name="Text 10"/>
          <p:cNvSpPr/>
          <p:nvPr/>
        </p:nvSpPr>
        <p:spPr>
          <a:xfrm>
            <a:off x="2286000" y="3200400"/>
            <a:ext cx="1920240" cy="3657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Cần email công ty (@hsvina.com)</a:t>
            </a:r>
            <a:endParaRPr lang="en-US" sz="1100" dirty="0"/>
          </a:p>
        </p:txBody>
      </p:sp>
      <p:sp>
        <p:nvSpPr>
          <p:cNvPr id="13" name="Shape 11"/>
          <p:cNvSpPr/>
          <p:nvPr/>
        </p:nvSpPr>
        <p:spPr>
          <a:xfrm>
            <a:off x="4754880" y="1280160"/>
            <a:ext cx="3931920" cy="2560320"/>
          </a:xfrm>
          <a:prstGeom prst="roundRect">
            <a:avLst>
              <a:gd name="adj" fmla="val 3571"/>
            </a:avLst>
          </a:prstGeom>
          <a:solidFill>
            <a:srgbClr val="1E3A8A"/>
          </a:solidFill>
          <a:ln/>
        </p:spPr>
      </p:sp>
      <p:sp>
        <p:nvSpPr>
          <p:cNvPr id="14" name="Text 12"/>
          <p:cNvSpPr/>
          <p:nvPr/>
        </p:nvSpPr>
        <p:spPr>
          <a:xfrm>
            <a:off x="4937760" y="1371600"/>
            <a:ext cx="3566160" cy="320040"/>
          </a:xfrm>
          <a:prstGeom prst="rect">
            <a:avLst/>
          </a:prstGeom>
          <a:noFill/>
          <a:ln/>
        </p:spPr>
        <p:txBody>
          <a:bodyPr wrap="square" rtlCol="0" anchor="ctr"/>
          <a:lstStyle/>
          <a:p>
            <a:pPr indent="0" marL="0">
              <a:buNone/>
            </a:pPr>
            <a:r>
              <a:rPr lang="en-US" sz="1400" b="1" dirty="0">
                <a:solidFill>
                  <a:srgbClr val="DBEAFE"/>
                </a:solidFill>
                <a:latin typeface="Arial" pitchFamily="34" charset="0"/>
                <a:ea typeface="Arial" pitchFamily="34" charset="-122"/>
                <a:cs typeface="Arial" pitchFamily="34" charset="-120"/>
              </a:rPr>
              <a:t>Liên hệ hỗ trợ</a:t>
            </a:r>
            <a:endParaRPr lang="en-US" sz="1400" dirty="0"/>
          </a:p>
        </p:txBody>
      </p:sp>
      <p:sp>
        <p:nvSpPr>
          <p:cNvPr id="15" name="Text 13"/>
          <p:cNvSpPr/>
          <p:nvPr/>
        </p:nvSpPr>
        <p:spPr>
          <a:xfrm>
            <a:off x="4937760" y="1828800"/>
            <a:ext cx="1828800" cy="365760"/>
          </a:xfrm>
          <a:prstGeom prst="rect">
            <a:avLst/>
          </a:prstGeom>
          <a:noFill/>
          <a:ln/>
        </p:spPr>
        <p:txBody>
          <a:bodyPr wrap="square" rtlCol="0" anchor="ctr"/>
          <a:lstStyle/>
          <a:p>
            <a:pPr indent="0" marL="0">
              <a:buNone/>
            </a:pPr>
            <a:r>
              <a:rPr lang="en-US" sz="1100" dirty="0">
                <a:solidFill>
                  <a:srgbClr val="60A5FA"/>
                </a:solidFill>
                <a:latin typeface="Arial" pitchFamily="34" charset="0"/>
                <a:ea typeface="Arial" pitchFamily="34" charset="-122"/>
                <a:cs typeface="Arial" pitchFamily="34" charset="-120"/>
              </a:rPr>
              <a:t>Quản trị hệ thống:</a:t>
            </a:r>
            <a:endParaRPr lang="en-US" sz="1100" dirty="0"/>
          </a:p>
        </p:txBody>
      </p:sp>
      <p:sp>
        <p:nvSpPr>
          <p:cNvPr id="16" name="Text 14"/>
          <p:cNvSpPr/>
          <p:nvPr/>
        </p:nvSpPr>
        <p:spPr>
          <a:xfrm>
            <a:off x="6766560" y="1828800"/>
            <a:ext cx="1737360" cy="3657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Bộ phận QIP</a:t>
            </a:r>
            <a:endParaRPr lang="en-US" sz="1100" dirty="0"/>
          </a:p>
        </p:txBody>
      </p:sp>
      <p:sp>
        <p:nvSpPr>
          <p:cNvPr id="17" name="Text 15"/>
          <p:cNvSpPr/>
          <p:nvPr/>
        </p:nvSpPr>
        <p:spPr>
          <a:xfrm>
            <a:off x="4937760" y="2377440"/>
            <a:ext cx="1828800" cy="365760"/>
          </a:xfrm>
          <a:prstGeom prst="rect">
            <a:avLst/>
          </a:prstGeom>
          <a:noFill/>
          <a:ln/>
        </p:spPr>
        <p:txBody>
          <a:bodyPr wrap="square" rtlCol="0" anchor="ctr"/>
          <a:lstStyle/>
          <a:p>
            <a:pPr indent="0" marL="0">
              <a:buNone/>
            </a:pPr>
            <a:r>
              <a:rPr lang="en-US" sz="1100" dirty="0">
                <a:solidFill>
                  <a:srgbClr val="60A5FA"/>
                </a:solidFill>
                <a:latin typeface="Arial" pitchFamily="34" charset="0"/>
                <a:ea typeface="Arial" pitchFamily="34" charset="-122"/>
                <a:cs typeface="Arial" pitchFamily="34" charset="-120"/>
              </a:rPr>
              <a:t>Hỗ trợ kỹ thuật:</a:t>
            </a:r>
            <a:endParaRPr lang="en-US" sz="1100" dirty="0"/>
          </a:p>
        </p:txBody>
      </p:sp>
      <p:sp>
        <p:nvSpPr>
          <p:cNvPr id="18" name="Text 16"/>
          <p:cNvSpPr/>
          <p:nvPr/>
        </p:nvSpPr>
        <p:spPr>
          <a:xfrm>
            <a:off x="6766560" y="2377440"/>
            <a:ext cx="1737360" cy="3657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ksmoon@hsvina.com</a:t>
            </a:r>
            <a:endParaRPr lang="en-US" sz="1100" dirty="0"/>
          </a:p>
        </p:txBody>
      </p:sp>
      <p:sp>
        <p:nvSpPr>
          <p:cNvPr id="19" name="Text 17"/>
          <p:cNvSpPr/>
          <p:nvPr/>
        </p:nvSpPr>
        <p:spPr>
          <a:xfrm>
            <a:off x="4937760" y="2926080"/>
            <a:ext cx="1828800" cy="365760"/>
          </a:xfrm>
          <a:prstGeom prst="rect">
            <a:avLst/>
          </a:prstGeom>
          <a:noFill/>
          <a:ln/>
        </p:spPr>
        <p:txBody>
          <a:bodyPr wrap="square" rtlCol="0" anchor="ctr"/>
          <a:lstStyle/>
          <a:p>
            <a:pPr indent="0" marL="0">
              <a:buNone/>
            </a:pPr>
            <a:r>
              <a:rPr lang="en-US" sz="1100" dirty="0">
                <a:solidFill>
                  <a:srgbClr val="60A5FA"/>
                </a:solidFill>
                <a:latin typeface="Arial" pitchFamily="34" charset="0"/>
                <a:ea typeface="Arial" pitchFamily="34" charset="-122"/>
                <a:cs typeface="Arial" pitchFamily="34" charset="-120"/>
              </a:rPr>
              <a:t>Nhóm QA:</a:t>
            </a:r>
            <a:endParaRPr lang="en-US" sz="1100" dirty="0"/>
          </a:p>
        </p:txBody>
      </p:sp>
      <p:sp>
        <p:nvSpPr>
          <p:cNvPr id="20" name="Text 18"/>
          <p:cNvSpPr/>
          <p:nvPr/>
        </p:nvSpPr>
        <p:spPr>
          <a:xfrm>
            <a:off x="6766560" y="2926080"/>
            <a:ext cx="1737360" cy="3657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hwk_qa@hsvina.com</a:t>
            </a:r>
            <a:endParaRPr lang="en-US" sz="1100" dirty="0"/>
          </a:p>
        </p:txBody>
      </p:sp>
      <p:sp>
        <p:nvSpPr>
          <p:cNvPr id="21" name="Text 19"/>
          <p:cNvSpPr/>
          <p:nvPr/>
        </p:nvSpPr>
        <p:spPr>
          <a:xfrm>
            <a:off x="457200" y="4572000"/>
            <a:ext cx="822960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Cảm ơn bạn đã sử dụng Q-TRAIN!</a:t>
            </a:r>
            <a:endParaRPr lang="en-US" sz="2400" dirty="0"/>
          </a:p>
        </p:txBody>
      </p:sp>
      <p:sp>
        <p:nvSpPr>
          <p:cNvPr id="22" name="Text 20"/>
          <p:cNvSpPr/>
          <p:nvPr/>
        </p:nvSpPr>
        <p:spPr>
          <a:xfrm>
            <a:off x="457200" y="5120640"/>
            <a:ext cx="8229600" cy="365760"/>
          </a:xfrm>
          <a:prstGeom prst="rect">
            <a:avLst/>
          </a:prstGeom>
          <a:noFill/>
          <a:ln/>
        </p:spPr>
        <p:txBody>
          <a:bodyPr wrap="square" rtlCol="0" anchor="ctr"/>
          <a:lstStyle/>
          <a:p>
            <a:pPr algn="ctr" indent="0" marL="0">
              <a:buNone/>
            </a:pPr>
            <a:r>
              <a:rPr lang="en-US" sz="1400" dirty="0">
                <a:solidFill>
                  <a:srgbClr val="60A5FA"/>
                </a:solidFill>
                <a:latin typeface="Arial" pitchFamily="34" charset="0"/>
                <a:ea typeface="Arial" pitchFamily="34" charset="-122"/>
                <a:cs typeface="Arial" pitchFamily="34" charset="-120"/>
              </a:rPr>
              <a:t>Dữ liệu kiểm tra chính xác dẫn đến sản phẩm chất lượng tốt hơn.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HWK Vietnam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Metal Detector Weekly Inspection - User Manual</dc:subject>
  <dc:creator>Q-TRAIN System</dc:creator>
  <cp:lastModifiedBy>Q-TRAIN System</cp:lastModifiedBy>
  <cp:revision>1</cp:revision>
  <dcterms:created xsi:type="dcterms:W3CDTF">2026-03-14T03:19:10Z</dcterms:created>
  <dcterms:modified xsi:type="dcterms:W3CDTF">2026-03-14T03:19:10Z</dcterms:modified>
</cp:coreProperties>
</file>